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6" r:id="rId5"/>
    <p:sldId id="259" r:id="rId6"/>
    <p:sldId id="260" r:id="rId7"/>
    <p:sldId id="261"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and what" id="{9D2B21EC-8548-15C2-2F91-B67EA3E9F932}">
          <p14:sldIdLst>
            <p14:sldId id="256"/>
            <p14:sldId id="257"/>
            <p14:sldId id="258"/>
            <p14:sldId id="266"/>
          </p14:sldIdLst>
        </p14:section>
        <p14:section name="How it works" id="{EC9C4240-00AA-2043-9398-FC54007919D6}">
          <p14:sldIdLst>
            <p14:sldId id="259"/>
            <p14:sldId id="260"/>
            <p14:sldId id="261"/>
          </p14:sldIdLst>
        </p14:section>
        <p14:section name="Security" id="{E8A7E532-D253-719D-BB2D-21056846D3F6}">
          <p14:sldIdLst>
            <p14:sldId id="262"/>
            <p14:sldId id="263"/>
          </p14:sldIdLst>
        </p14:section>
        <p14:section name="Proof and limits" id="{80149092-E3B3-3589-9947-7B98F2CA5581}">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4213D"/>
                </a:solidFill>
                <a:latin typeface="+mn-lt"/>
              </a:defRPr>
            </a:pPr>
            <a:r>
              <a:rPr sz="1300" b="0" i="0" u="none" strike="noStrike">
                <a:solidFill>
                  <a:srgbClr val="14213D"/>
                </a:solidFill>
                <a:latin typeface="+mn-lt"/>
              </a:rPr>
              <a:t>What each route costs on top of the mid-market value (Rs, USD 20,000)</a:t>
            </a:r>
          </a:p>
        </c:rich>
      </c:tx>
      <c:overlay val="0"/>
    </c:title>
    <c:autoTitleDeleted val="0"/>
    <c:plotArea>
      <c:layout/>
      <c:barChart>
        <c:barDir val="bar"/>
        <c:grouping val="stacked"/>
        <c:varyColors val="0"/>
        <c:ser>
          <c:idx val="0"/>
          <c:order val="0"/>
          <c:tx>
            <c:strRef>
              <c:f>Sheet1!$B$1</c:f>
              <c:strCache>
                <c:ptCount val="1"/>
                <c:pt idx="0">
                  <c:v>Hidden markup in the rate</c:v>
                </c:pt>
              </c:strCache>
            </c:strRef>
          </c:tx>
          <c:spPr>
            <a:solidFill>
              <a:srgbClr val="B4561F"/>
            </a:solidFill>
            <a:effectLst/>
          </c:spPr>
          <c:invertIfNegative val="0"/>
          <c:dLbls>
            <c:numFmt formatCode="#,##0" sourceLinked="0"/>
            <c:spPr>
              <a:noFill/>
              <a:ln>
                <a:noFill/>
              </a:ln>
              <a:effectLst/>
            </c:spPr>
            <c:txPr>
              <a:bodyPr/>
              <a:lstStyle/>
              <a:p>
                <a:pPr>
                  <a:defRPr sz="11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Provider B</c:v>
                </c:pt>
                <c:pt idx="1">
                  <c:v>Provider A</c:v>
                </c:pt>
              </c:strCache>
            </c:strRef>
          </c:cat>
          <c:val>
            <c:numRef>
              <c:f>Sheet1!$B$2:$B$3</c:f>
              <c:numCache>
                <c:formatCode>General</c:formatCode>
                <c:ptCount val="2"/>
                <c:pt idx="0">
                  <c:v>4000</c:v>
                </c:pt>
                <c:pt idx="1">
                  <c:v>10000</c:v>
                </c:pt>
              </c:numCache>
            </c:numRef>
          </c:val>
          <c:extLst>
            <c:ext xmlns:c16="http://schemas.microsoft.com/office/drawing/2014/chart" uri="{C3380CC4-5D6E-409C-BE32-E72D297353CC}">
              <c16:uniqueId val="{00000000-D083-4C06-84CC-7745274358E9}"/>
            </c:ext>
          </c:extLst>
        </c:ser>
        <c:ser>
          <c:idx val="1"/>
          <c:order val="1"/>
          <c:tx>
            <c:strRef>
              <c:f>Sheet1!$C$1</c:f>
              <c:strCache>
                <c:ptCount val="1"/>
                <c:pt idx="0">
                  <c:v>Provider fee</c:v>
                </c:pt>
              </c:strCache>
            </c:strRef>
          </c:tx>
          <c:spPr>
            <a:solidFill>
              <a:srgbClr val="8A93A6"/>
            </a:solidFill>
            <a:effectLst/>
          </c:spPr>
          <c:invertIfNegative val="0"/>
          <c:dLbls>
            <c:numFmt formatCode="#,##0" sourceLinked="0"/>
            <c:spPr>
              <a:noFill/>
              <a:ln>
                <a:noFill/>
              </a:ln>
              <a:effectLst/>
            </c:spPr>
            <c:txPr>
              <a:bodyPr/>
              <a:lstStyle/>
              <a:p>
                <a:pPr>
                  <a:defRPr sz="11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Provider B</c:v>
                </c:pt>
                <c:pt idx="1">
                  <c:v>Provider A</c:v>
                </c:pt>
              </c:strCache>
            </c:strRef>
          </c:cat>
          <c:val>
            <c:numRef>
              <c:f>Sheet1!$C$2:$C$3</c:f>
              <c:numCache>
                <c:formatCode>General</c:formatCode>
                <c:ptCount val="2"/>
                <c:pt idx="0">
                  <c:v>3000</c:v>
                </c:pt>
                <c:pt idx="1">
                  <c:v>1500</c:v>
                </c:pt>
              </c:numCache>
            </c:numRef>
          </c:val>
          <c:extLst>
            <c:ext xmlns:c16="http://schemas.microsoft.com/office/drawing/2014/chart" uri="{C3380CC4-5D6E-409C-BE32-E72D297353CC}">
              <c16:uniqueId val="{00000001-D083-4C06-84CC-7745274358E9}"/>
            </c:ext>
          </c:extLst>
        </c:ser>
        <c:ser>
          <c:idx val="2"/>
          <c:order val="2"/>
          <c:tx>
            <c:strRef>
              <c:f>Sheet1!$D$1</c:f>
              <c:strCache>
                <c:ptCount val="1"/>
                <c:pt idx="0">
                  <c:v>TCS at 2%</c:v>
                </c:pt>
              </c:strCache>
            </c:strRef>
          </c:tx>
          <c:spPr>
            <a:solidFill>
              <a:srgbClr val="1F5FA8"/>
            </a:solidFill>
            <a:effectLst/>
          </c:spPr>
          <c:invertIfNegative val="0"/>
          <c:dLbls>
            <c:numFmt formatCode="#,##0" sourceLinked="0"/>
            <c:spPr>
              <a:noFill/>
              <a:ln>
                <a:noFill/>
              </a:ln>
              <a:effectLst/>
            </c:spPr>
            <c:txPr>
              <a:bodyPr/>
              <a:lstStyle/>
              <a:p>
                <a:pPr>
                  <a:defRPr sz="11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Provider B</c:v>
                </c:pt>
                <c:pt idx="1">
                  <c:v>Provider A</c:v>
                </c:pt>
              </c:strCache>
            </c:strRef>
          </c:cat>
          <c:val>
            <c:numRef>
              <c:f>Sheet1!$D$2:$D$3</c:f>
              <c:numCache>
                <c:formatCode>General</c:formatCode>
                <c:ptCount val="2"/>
                <c:pt idx="0">
                  <c:v>16080</c:v>
                </c:pt>
                <c:pt idx="1">
                  <c:v>16200</c:v>
                </c:pt>
              </c:numCache>
            </c:numRef>
          </c:val>
          <c:extLst>
            <c:ext xmlns:c16="http://schemas.microsoft.com/office/drawing/2014/chart" uri="{C3380CC4-5D6E-409C-BE32-E72D297353CC}">
              <c16:uniqueId val="{00000002-D083-4C06-84CC-7745274358E9}"/>
            </c:ext>
          </c:extLst>
        </c:ser>
        <c:dLbls>
          <c:dLblPos val="ctr"/>
          <c:showLegendKey val="0"/>
          <c:showVal val="1"/>
          <c:showCatName val="0"/>
          <c:showSerName val="0"/>
          <c:showPercent val="0"/>
          <c:showBubbleSize val="0"/>
        </c:dLbls>
        <c:gapWidth val="6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A44"/>
                </a:solidFill>
                <a:latin typeface="+mn-lt"/>
              </a:defRPr>
            </a:pPr>
            <a:endParaRPr lang="en-US"/>
          </a:p>
        </c:txPr>
        <c:crossAx val="2094734552"/>
        <c:crosses val="autoZero"/>
        <c:auto val="1"/>
        <c:lblAlgn val="ctr"/>
        <c:lblOffset val="100"/>
        <c:noMultiLvlLbl val="1"/>
      </c:catAx>
      <c:valAx>
        <c:axId val="2094734552"/>
        <c:scaling>
          <c:orientation val="minMax"/>
          <c:max val="30000"/>
          <c:min val="0"/>
        </c:scaling>
        <c:delete val="0"/>
        <c:axPos val="b"/>
        <c:majorGridlines>
          <c:spPr>
            <a:ln w="9525" cap="flat">
              <a:solidFill>
                <a:srgbClr val="E3E7EE"/>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378"/>
                </a:solidFill>
                <a:latin typeface="+mn-lt"/>
              </a:defRPr>
            </a:pPr>
            <a:endParaRPr lang="en-US"/>
          </a:p>
        </c:txPr>
        <c:crossAx val="2094734554"/>
        <c:crosses val="autoZero"/>
        <c:crossBetween val="between"/>
        <c:majorUnit val="5000"/>
      </c:valAx>
      <c:spPr>
        <a:noFill/>
        <a:ln>
          <a:noFill/>
        </a:ln>
        <a:effectLst/>
      </c:spPr>
    </c:plotArea>
    <c:legend>
      <c:legendPos val="b"/>
      <c:overlay val="0"/>
      <c:txPr>
        <a:bodyPr/>
        <a:lstStyle/>
        <a:p>
          <a:pPr>
            <a:defRPr sz="1200">
              <a:solidFill>
                <a:srgbClr val="1F2A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142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TuitionPilot is an AI agent for Indian families who pay university fees abroad. It does three things that matter: it proves the invoice really comes from the university and its real bank account, it explains every rupee of tax and cost, and it can pay only after the parent's own device signs the exact plan. Everything you will see uses synthetic data and a simulated bank. It is not tax advice.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50 seconds. Before paying, a family has to answer four questions on their own: how much of the yearly LRS limit is left, how much TCS tax the bank will add, which bank or provider is really cheapest once the exchange-rate markup is counted, and which papers the bank wants. One mistake costs money. And there is a fraud risk: an e-mail saying the university's bank details have changed is a classic way to steal fees. TuitionPilot is built so that this attack fails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50 seconds. The app tells the payment as a guided six-step story: consent, the invoice with an animated signature check, one question at a time, the best route with a cost chart and what-if sliders, review and sign with a PIN while the parent's device signs the plan, and the receipt. Beside it, a live agent panel shows the next action and why, every decision, and exactly what the AI saw. Code computes and the AI explains: it runs offline by default, and a hosted Claude model can be switched on behind the same 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45 seconds. This is the real app. Topic C is about international students, so the student does the work: they sign in on their own device without a password, upload the invoice, the agent verifies the university's signature and asks only what is missing, and the student taps 'Ask a parent to sign'. The parent sees the request on their own device, opens it, the browser re-checks the plan hash, the parent signs with the PIN, and the sandbox pays once. The student's session is retired the moment the parent opens it, so a student device can never act as the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Orange is outside our server: the university, the parent's and student's browsers, and the trust root. Every private key lives there, never on the server. Blue is the agent pipeline from intake to plan; the dashed box is the only step that uses an AI model, and it sees masked text only. White boxes are guards: the text scanner, the grounding check, the versioned rule pack and the message contract. Navy is the money path: every tool call goes through the policy gate, then the sandbox bank, then a hash-chained audit log and receipt. The whole server is Python standard library and listens only on this computer.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55 seconds. Every rate lives in a versioned rule pack with its value, start date, source and status. On 18 October we checked them against the primary texts: the RBI Master Direction for the USD 250,000 cap, and sections 394 and 397 of the Income-tax Act 2025 for the 10 lakh threshold, 2 percent for self-funded education, no TCS on an education loan, and 5 percent without a PAN. Worked example A2: 15 lakh self-funded, so 5 lakh is taxable and TCS is 10,000 rupees. Two rules still need a bank's confirmation, and every output that uses them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15. Same USD 20,000, two providers. Provider A has the lower fee, so most people pick A. But B is 4,620 rupees cheaper. The chart shows what each route costs on top of the real exchange value: A hides 10,000 rupees inside its exchange rate, B only 4,000. The why breakdown, written by code, adds up exactly: B's better rate saves 6,000, A's fee is 1,500 lower, and TCS is 120 less with B. The mid-market rate of 90.00 is an example value from our tests.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55 seconds. We keep no list of good payees. One trust root certifies each university together with its bank account, and the university signs every invoice. The agent checks every link, so changing the bank account breaks the signature. For payments, the parent's browser makes its own key that cannot be exported. The first parent device enrols with the PIN; every later device also needs a signature from an enrolled parent device. The browser recomputes the plan hash itself and signs that exact plan, so the agent can neither forge an approval nor change the plan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Security is 30 percent of the score, so we layered it. Every action has a permission tier. Reading and computing need no approval, saving needs a click, a sandbox payment needs the PIN plus the parent device's signature over the plan hash, and tier 4 is never allowed. The AI model has no payment tool at all. Around that: masking before the model sees anything, a grounding check on every number it writes, a text scanner for injection and fake-admin tricks, a cap, emergency stop and circuit breaker, a hash-chained audit log, and a family vault where documents are encrypted in the browser so the server only ever holds ciphertext.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45 seconds. Everything here can be rerun with one command each. 248 tests pass. All 27 scenarios pass: ten task-completion, six safe-execution, nine attacks including a forged approval and a revoked university key, and two privacy scenarios. The attack lab stops all 16 attacks. The scripted sandbox run writes a ledger, the log of what the AI saw, and an audit log whose hash chain verifies. A finance audit of 400 random cases matched an independent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45 seconds. Limits, plainly. Six tax rules are now verified against RBI and the Income-tax Act; two still need a bank's confirmation, and GST on the conversion itself is not modelled. The default AI step is offline, our signature code is not hardened, and the demo keys are synthetic. Next: bank confirmation, credit building and more destinations for students, a vetted crypto library or hardware keys, and cookie sessions.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rtlCol="0"/>
          <a:lstStyle>
            <a:lvl1pPr marL="0" indent="0" algn="l">
              <a:buNone/>
              <a:defRPr lang="en-US" sz="3000" b="1" dirty="0">
                <a:solidFill>
                  <a:srgbClr val="14213D"/>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3" name="Text 0"/>
          <p:cNvSpPr/>
          <p:nvPr/>
        </p:nvSpPr>
        <p:spPr>
          <a:xfrm>
            <a:off x="548640" y="6355080"/>
            <a:ext cx="9144000" cy="274320"/>
          </a:xfrm>
          <a:prstGeom prst="rect">
            <a:avLst/>
          </a:prstGeom>
          <a:noFill/>
          <a:ln/>
        </p:spPr>
        <p:txBody>
          <a:bodyPr wrap="square" lIns="0" tIns="0" rIns="0" bIns="0" rtlCol="0" anchor="ctr"/>
          <a:lstStyle/>
          <a:p>
            <a:pPr marL="0" indent="0">
              <a:buNone/>
            </a:pPr>
            <a:r>
              <a:rPr lang="en-US" sz="1000" dirty="0">
                <a:solidFill>
                  <a:srgbClr val="5A6378"/>
                </a:solidFill>
                <a:latin typeface="Calibri" pitchFamily="34" charset="0"/>
                <a:ea typeface="Calibri" pitchFamily="34" charset="-122"/>
                <a:cs typeface="Calibri" pitchFamily="34" charset="-120"/>
              </a:rPr>
              <a:t>TuitionPilot · 2026 Shenzhen FinTechathon · Synthetic data · Not tax advice</a:t>
            </a:r>
            <a:endParaRPr lang="en-US" sz="10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37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37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10698480" cy="365760"/>
          </a:xfrm>
          <a:prstGeom prst="rect">
            <a:avLst/>
          </a:prstGeom>
          <a:noFill/>
          <a:ln/>
        </p:spPr>
        <p:txBody>
          <a:bodyPr wrap="square" lIns="0" tIns="0" rIns="0" bIns="0" rtlCol="0" anchor="t"/>
          <a:lstStyle/>
          <a:p>
            <a:pPr marL="0" indent="0">
              <a:buNone/>
            </a:pPr>
            <a:r>
              <a:rPr lang="en-US" sz="1400" b="1" kern="0" spc="200" dirty="0">
                <a:solidFill>
                  <a:srgbClr val="F2C38B"/>
                </a:solidFill>
                <a:latin typeface="Calibri" pitchFamily="34" charset="0"/>
                <a:ea typeface="Calibri" pitchFamily="34" charset="-122"/>
                <a:cs typeface="Calibri" pitchFamily="34" charset="-120"/>
              </a:rPr>
              <a:t>2026 SHENZHEN FINTECHATHON · INTERNATIONAL TRACK · TOPIC C</a:t>
            </a:r>
            <a:endParaRPr lang="en-US" sz="1400" dirty="0"/>
          </a:p>
        </p:txBody>
      </p:sp>
      <p:sp>
        <p:nvSpPr>
          <p:cNvPr id="3" name="Text 1"/>
          <p:cNvSpPr txBox="1"/>
          <p:nvPr/>
        </p:nvSpPr>
        <p:spPr>
          <a:xfrm>
            <a:off x="731520" y="1325880"/>
            <a:ext cx="10698480" cy="1188720"/>
          </a:xfrm>
          <a:prstGeom prst="rect">
            <a:avLst/>
          </a:prstGeom>
          <a:noFill/>
          <a:ln/>
        </p:spPr>
        <p:txBody>
          <a:bodyPr wrap="square" lIns="0" tIns="0" rIns="0" bIns="0" rtlCol="0" anchor="t"/>
          <a:lstStyle/>
          <a:p>
            <a:pPr marL="0" indent="0">
              <a:buNone/>
            </a:pPr>
            <a:r>
              <a:rPr lang="en-US" sz="6600" b="1" dirty="0">
                <a:solidFill>
                  <a:srgbClr val="FFFFFF"/>
                </a:solidFill>
                <a:latin typeface="Cambria" pitchFamily="34" charset="0"/>
                <a:ea typeface="Cambria" pitchFamily="34" charset="-122"/>
                <a:cs typeface="Cambria" pitchFamily="34" charset="-120"/>
              </a:rPr>
              <a:t>TuitionPilot</a:t>
            </a:r>
            <a:endParaRPr lang="en-US" sz="6600" dirty="0"/>
          </a:p>
        </p:txBody>
      </p:sp>
      <p:sp>
        <p:nvSpPr>
          <p:cNvPr id="4" name="Text 2"/>
          <p:cNvSpPr txBox="1"/>
          <p:nvPr/>
        </p:nvSpPr>
        <p:spPr>
          <a:xfrm>
            <a:off x="731520" y="2651760"/>
            <a:ext cx="9692640" cy="1188720"/>
          </a:xfrm>
          <a:prstGeom prst="rect">
            <a:avLst/>
          </a:prstGeom>
          <a:noFill/>
          <a:ln/>
        </p:spPr>
        <p:txBody>
          <a:bodyPr wrap="square" lIns="0" tIns="0" rIns="0" bIns="0" rtlCol="0" anchor="t"/>
          <a:lstStyle/>
          <a:p>
            <a:pPr marL="0" indent="0">
              <a:buNone/>
            </a:pPr>
            <a:r>
              <a:rPr lang="en-US" sz="2200" dirty="0">
                <a:solidFill>
                  <a:srgbClr val="C9D3E6"/>
                </a:solidFill>
                <a:latin typeface="Calibri" pitchFamily="34" charset="0"/>
                <a:ea typeface="Calibri" pitchFamily="34" charset="-122"/>
                <a:cs typeface="Calibri" pitchFamily="34" charset="-120"/>
              </a:rPr>
              <a:t>An AI agent that helps Indian families pay university fees abroad: it checks the invoice is genuine, explains every rupee, and pays only after the parent’s own device signs the exact plan.</a:t>
            </a:r>
            <a:endParaRPr lang="en-US" sz="2200" dirty="0"/>
          </a:p>
        </p:txBody>
      </p:sp>
      <p:sp>
        <p:nvSpPr>
          <p:cNvPr id="5" name="Shape 3"/>
          <p:cNvSpPr/>
          <p:nvPr/>
        </p:nvSpPr>
        <p:spPr>
          <a:xfrm>
            <a:off x="731520" y="4343400"/>
            <a:ext cx="3383280" cy="914400"/>
          </a:xfrm>
          <a:prstGeom prst="roundRect">
            <a:avLst>
              <a:gd name="adj" fmla="val 12000"/>
            </a:avLst>
          </a:prstGeom>
          <a:solidFill>
            <a:srgbClr val="1F2F52"/>
          </a:solidFill>
          <a:ln/>
        </p:spPr>
      </p:sp>
      <p:sp>
        <p:nvSpPr>
          <p:cNvPr id="6" name="Shape 4"/>
          <p:cNvSpPr/>
          <p:nvPr/>
        </p:nvSpPr>
        <p:spPr>
          <a:xfrm>
            <a:off x="960120" y="4572000"/>
            <a:ext cx="457200" cy="457200"/>
          </a:xfrm>
          <a:prstGeom prst="ellipse">
            <a:avLst/>
          </a:prstGeom>
          <a:solidFill>
            <a:srgbClr val="F2C38B"/>
          </a:solidFill>
          <a:ln/>
        </p:spPr>
      </p:sp>
      <p:sp>
        <p:nvSpPr>
          <p:cNvPr id="7" name="Text 5"/>
          <p:cNvSpPr txBox="1"/>
          <p:nvPr/>
        </p:nvSpPr>
        <p:spPr>
          <a:xfrm>
            <a:off x="960120" y="4572000"/>
            <a:ext cx="457200" cy="457200"/>
          </a:xfrm>
          <a:prstGeom prst="rect">
            <a:avLst/>
          </a:prstGeom>
          <a:noFill/>
          <a:ln/>
        </p:spPr>
        <p:txBody>
          <a:bodyPr wrap="square" lIns="0" tIns="0" rIns="0" bIns="0" rtlCol="0" anchor="ctr"/>
          <a:lstStyle/>
          <a:p>
            <a:pPr marL="0" indent="0" algn="ctr">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554480" y="4434840"/>
            <a:ext cx="2423160" cy="7315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Signed invoices instead of payee lists</a:t>
            </a:r>
            <a:endParaRPr lang="en-US" sz="1500" dirty="0"/>
          </a:p>
        </p:txBody>
      </p:sp>
      <p:sp>
        <p:nvSpPr>
          <p:cNvPr id="9" name="Shape 7"/>
          <p:cNvSpPr/>
          <p:nvPr/>
        </p:nvSpPr>
        <p:spPr>
          <a:xfrm>
            <a:off x="4343400" y="4343400"/>
            <a:ext cx="3383280" cy="914400"/>
          </a:xfrm>
          <a:prstGeom prst="roundRect">
            <a:avLst>
              <a:gd name="adj" fmla="val 12000"/>
            </a:avLst>
          </a:prstGeom>
          <a:solidFill>
            <a:srgbClr val="1F2F52"/>
          </a:solidFill>
          <a:ln/>
        </p:spPr>
      </p:sp>
      <p:sp>
        <p:nvSpPr>
          <p:cNvPr id="10" name="Shape 8"/>
          <p:cNvSpPr/>
          <p:nvPr/>
        </p:nvSpPr>
        <p:spPr>
          <a:xfrm>
            <a:off x="4572000" y="4572000"/>
            <a:ext cx="457200" cy="457200"/>
          </a:xfrm>
          <a:prstGeom prst="ellipse">
            <a:avLst/>
          </a:prstGeom>
          <a:solidFill>
            <a:srgbClr val="F2C38B"/>
          </a:solidFill>
          <a:ln/>
        </p:spPr>
      </p:sp>
      <p:sp>
        <p:nvSpPr>
          <p:cNvPr id="11" name="Text 9"/>
          <p:cNvSpPr txBox="1"/>
          <p:nvPr/>
        </p:nvSpPr>
        <p:spPr>
          <a:xfrm>
            <a:off x="4572000" y="4572000"/>
            <a:ext cx="457200" cy="457200"/>
          </a:xfrm>
          <a:prstGeom prst="rect">
            <a:avLst/>
          </a:prstGeom>
          <a:noFill/>
          <a:ln/>
        </p:spPr>
        <p:txBody>
          <a:bodyPr wrap="square" lIns="0" tIns="0" rIns="0" bIns="0" rtlCol="0" anchor="ctr"/>
          <a:lstStyle/>
          <a:p>
            <a:pPr marL="0" indent="0" algn="ctr">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5166360" y="4434840"/>
            <a:ext cx="2423160" cy="7315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parent’s device signs every payment</a:t>
            </a:r>
            <a:endParaRPr lang="en-US" sz="1500" dirty="0"/>
          </a:p>
        </p:txBody>
      </p:sp>
      <p:sp>
        <p:nvSpPr>
          <p:cNvPr id="13" name="Shape 11"/>
          <p:cNvSpPr/>
          <p:nvPr/>
        </p:nvSpPr>
        <p:spPr>
          <a:xfrm>
            <a:off x="7955280" y="4343400"/>
            <a:ext cx="3383280" cy="914400"/>
          </a:xfrm>
          <a:prstGeom prst="roundRect">
            <a:avLst>
              <a:gd name="adj" fmla="val 12000"/>
            </a:avLst>
          </a:prstGeom>
          <a:solidFill>
            <a:srgbClr val="1F2F52"/>
          </a:solidFill>
          <a:ln/>
        </p:spPr>
      </p:sp>
      <p:sp>
        <p:nvSpPr>
          <p:cNvPr id="14" name="Shape 12"/>
          <p:cNvSpPr/>
          <p:nvPr/>
        </p:nvSpPr>
        <p:spPr>
          <a:xfrm>
            <a:off x="8183880" y="4572000"/>
            <a:ext cx="457200" cy="457200"/>
          </a:xfrm>
          <a:prstGeom prst="ellipse">
            <a:avLst/>
          </a:prstGeom>
          <a:solidFill>
            <a:srgbClr val="F2C38B"/>
          </a:solidFill>
          <a:ln/>
        </p:spPr>
      </p:sp>
      <p:sp>
        <p:nvSpPr>
          <p:cNvPr id="15" name="Text 13"/>
          <p:cNvSpPr txBox="1"/>
          <p:nvPr/>
        </p:nvSpPr>
        <p:spPr>
          <a:xfrm>
            <a:off x="8183880" y="4572000"/>
            <a:ext cx="457200" cy="457200"/>
          </a:xfrm>
          <a:prstGeom prst="rect">
            <a:avLst/>
          </a:prstGeom>
          <a:noFill/>
          <a:ln/>
        </p:spPr>
        <p:txBody>
          <a:bodyPr wrap="square" lIns="0" tIns="0" rIns="0" bIns="0" rtlCol="0" anchor="ctr"/>
          <a:lstStyle/>
          <a:p>
            <a:pPr marL="0" indent="0" algn="ctr">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8778240" y="4434840"/>
            <a:ext cx="2423160" cy="7315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Every number traced to a rule and source</a:t>
            </a:r>
            <a:endParaRPr lang="en-US" sz="1500" dirty="0"/>
          </a:p>
        </p:txBody>
      </p:sp>
      <p:sp>
        <p:nvSpPr>
          <p:cNvPr id="17" name="Text 15"/>
          <p:cNvSpPr txBox="1"/>
          <p:nvPr/>
        </p:nvSpPr>
        <p:spPr>
          <a:xfrm>
            <a:off x="731520" y="6172200"/>
            <a:ext cx="10698480" cy="320040"/>
          </a:xfrm>
          <a:prstGeom prst="rect">
            <a:avLst/>
          </a:prstGeom>
          <a:noFill/>
          <a:ln/>
        </p:spPr>
        <p:txBody>
          <a:bodyPr wrap="square" lIns="0" tIns="0" rIns="0" bIns="0" rtlCol="0" anchor="t"/>
          <a:lstStyle/>
          <a:p>
            <a:pPr marL="0" indent="0">
              <a:buNone/>
            </a:pPr>
            <a:r>
              <a:rPr lang="en-US" sz="1200" dirty="0">
                <a:solidFill>
                  <a:srgbClr val="A9B6CF"/>
                </a:solidFill>
                <a:latin typeface="Calibri" pitchFamily="34" charset="0"/>
                <a:ea typeface="Calibri" pitchFamily="34" charset="-122"/>
                <a:cs typeface="Calibri" pitchFamily="34" charset="-120"/>
              </a:rPr>
              <a:t>Chandan · Nishanth   |   Synthetic data only · Sandbox bank, no real money · Not tax advice · Not RBI-approved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Paying fees abroad: four hard questions, one big fraud risk</a:t>
            </a:r>
            <a:endParaRPr lang="en-US" sz="3000" dirty="0"/>
          </a:p>
        </p:txBody>
      </p:sp>
      <p:sp>
        <p:nvSpPr>
          <p:cNvPr id="3" name="Shape 1"/>
          <p:cNvSpPr/>
          <p:nvPr/>
        </p:nvSpPr>
        <p:spPr>
          <a:xfrm>
            <a:off x="548640" y="1371600"/>
            <a:ext cx="3429000" cy="2148840"/>
          </a:xfrm>
          <a:prstGeom prst="roundRect">
            <a:avLst>
              <a:gd name="adj" fmla="val 5106"/>
            </a:avLst>
          </a:prstGeom>
          <a:solidFill>
            <a:srgbClr val="F3F5F9"/>
          </a:solidFill>
          <a:ln/>
        </p:spPr>
      </p:sp>
      <p:sp>
        <p:nvSpPr>
          <p:cNvPr id="4" name="Shape 2"/>
          <p:cNvSpPr/>
          <p:nvPr/>
        </p:nvSpPr>
        <p:spPr>
          <a:xfrm>
            <a:off x="822960" y="1645920"/>
            <a:ext cx="502920" cy="502920"/>
          </a:xfrm>
          <a:prstGeom prst="ellipse">
            <a:avLst/>
          </a:prstGeom>
          <a:solidFill>
            <a:srgbClr val="1F5FA8"/>
          </a:solidFill>
          <a:ln/>
        </p:spPr>
      </p:sp>
      <p:sp>
        <p:nvSpPr>
          <p:cNvPr id="5" name="Text 3"/>
          <p:cNvSpPr txBox="1"/>
          <p:nvPr/>
        </p:nvSpPr>
        <p:spPr>
          <a:xfrm>
            <a:off x="822960"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822960" y="2286000"/>
            <a:ext cx="2926080" cy="59436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How much of the yearly LRS limit is left?</a:t>
            </a:r>
            <a:endParaRPr lang="en-US" sz="1600" dirty="0"/>
          </a:p>
        </p:txBody>
      </p:sp>
      <p:sp>
        <p:nvSpPr>
          <p:cNvPr id="7" name="Text 5"/>
          <p:cNvSpPr txBox="1"/>
          <p:nvPr/>
        </p:nvSpPr>
        <p:spPr>
          <a:xfrm>
            <a:off x="822960" y="2852928"/>
            <a:ext cx="2926080" cy="640080"/>
          </a:xfrm>
          <a:prstGeom prst="rect">
            <a:avLst/>
          </a:prstGeom>
          <a:noFill/>
          <a:ln/>
        </p:spPr>
        <p:txBody>
          <a:bodyPr wrap="square" lIns="0" tIns="0" rIns="0" bIns="0" rtlCol="0" anchor="t"/>
          <a:lstStyle/>
          <a:p>
            <a:pPr marL="0" indent="0">
              <a:buNone/>
            </a:pPr>
            <a:r>
              <a:rPr lang="en-US" sz="1300">
                <a:solidFill>
                  <a:srgbClr val="5A6378"/>
                </a:solidFill>
                <a:latin typeface="Calibri" pitchFamily="34" charset="0"/>
                <a:ea typeface="Calibri" pitchFamily="34" charset="-122"/>
                <a:cs typeface="Calibri" pitchFamily="34" charset="-120"/>
              </a:rPr>
              <a:t>USD 250,000 per person per year, all purposes together (RBI Master Direction)</a:t>
            </a:r>
            <a:endParaRPr lang="en-US" sz="1300" dirty="0"/>
          </a:p>
        </p:txBody>
      </p:sp>
      <p:sp>
        <p:nvSpPr>
          <p:cNvPr id="8" name="Shape 6"/>
          <p:cNvSpPr/>
          <p:nvPr/>
        </p:nvSpPr>
        <p:spPr>
          <a:xfrm>
            <a:off x="4160520" y="1371600"/>
            <a:ext cx="3429000" cy="2148840"/>
          </a:xfrm>
          <a:prstGeom prst="roundRect">
            <a:avLst>
              <a:gd name="adj" fmla="val 5106"/>
            </a:avLst>
          </a:prstGeom>
          <a:solidFill>
            <a:srgbClr val="F3F5F9"/>
          </a:solidFill>
          <a:ln/>
        </p:spPr>
      </p:sp>
      <p:sp>
        <p:nvSpPr>
          <p:cNvPr id="9" name="Shape 7"/>
          <p:cNvSpPr/>
          <p:nvPr/>
        </p:nvSpPr>
        <p:spPr>
          <a:xfrm>
            <a:off x="4434840" y="1645920"/>
            <a:ext cx="502920" cy="502920"/>
          </a:xfrm>
          <a:prstGeom prst="ellipse">
            <a:avLst/>
          </a:prstGeom>
          <a:solidFill>
            <a:srgbClr val="1F5FA8"/>
          </a:solidFill>
          <a:ln/>
        </p:spPr>
      </p:sp>
      <p:sp>
        <p:nvSpPr>
          <p:cNvPr id="10" name="Text 8"/>
          <p:cNvSpPr txBox="1"/>
          <p:nvPr/>
        </p:nvSpPr>
        <p:spPr>
          <a:xfrm>
            <a:off x="4434840" y="1645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4434840" y="2286000"/>
            <a:ext cx="2926080" cy="59436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How much TCS tax will the bank add?</a:t>
            </a:r>
            <a:endParaRPr lang="en-US" sz="1600" dirty="0"/>
          </a:p>
        </p:txBody>
      </p:sp>
      <p:sp>
        <p:nvSpPr>
          <p:cNvPr id="12" name="Text 10"/>
          <p:cNvSpPr txBox="1"/>
          <p:nvPr/>
        </p:nvSpPr>
        <p:spPr>
          <a:xfrm>
            <a:off x="4434840" y="2852928"/>
            <a:ext cx="2926080" cy="640080"/>
          </a:xfrm>
          <a:prstGeom prst="rect">
            <a:avLst/>
          </a:prstGeom>
          <a:noFill/>
          <a:ln/>
        </p:spPr>
        <p:txBody>
          <a:bodyPr wrap="square" lIns="0" tIns="0" rIns="0" bIns="0" rtlCol="0" anchor="t"/>
          <a:lstStyle/>
          <a:p>
            <a:pPr marL="0" indent="0">
              <a:buNone/>
            </a:pPr>
            <a:r>
              <a:rPr lang="en-US" sz="1300" dirty="0">
                <a:solidFill>
                  <a:srgbClr val="5A6378"/>
                </a:solidFill>
                <a:latin typeface="Calibri" pitchFamily="34" charset="0"/>
                <a:ea typeface="Calibri" pitchFamily="34" charset="-122"/>
                <a:cs typeface="Calibri" pitchFamily="34" charset="-120"/>
              </a:rPr>
              <a:t>2% above Rs 10 lakh if self-funded; 0% with an education loan</a:t>
            </a:r>
            <a:endParaRPr lang="en-US" sz="1300" dirty="0"/>
          </a:p>
        </p:txBody>
      </p:sp>
      <p:sp>
        <p:nvSpPr>
          <p:cNvPr id="13" name="Shape 11"/>
          <p:cNvSpPr/>
          <p:nvPr/>
        </p:nvSpPr>
        <p:spPr>
          <a:xfrm>
            <a:off x="548640" y="3703320"/>
            <a:ext cx="3429000" cy="2148840"/>
          </a:xfrm>
          <a:prstGeom prst="roundRect">
            <a:avLst>
              <a:gd name="adj" fmla="val 5106"/>
            </a:avLst>
          </a:prstGeom>
          <a:solidFill>
            <a:srgbClr val="F3F5F9"/>
          </a:solidFill>
          <a:ln/>
        </p:spPr>
      </p:sp>
      <p:sp>
        <p:nvSpPr>
          <p:cNvPr id="14" name="Shape 12"/>
          <p:cNvSpPr/>
          <p:nvPr/>
        </p:nvSpPr>
        <p:spPr>
          <a:xfrm>
            <a:off x="822960" y="3977640"/>
            <a:ext cx="502920" cy="502920"/>
          </a:xfrm>
          <a:prstGeom prst="ellipse">
            <a:avLst/>
          </a:prstGeom>
          <a:solidFill>
            <a:srgbClr val="1F5FA8"/>
          </a:solidFill>
          <a:ln/>
        </p:spPr>
      </p:sp>
      <p:sp>
        <p:nvSpPr>
          <p:cNvPr id="15" name="Text 13"/>
          <p:cNvSpPr txBox="1"/>
          <p:nvPr/>
        </p:nvSpPr>
        <p:spPr>
          <a:xfrm>
            <a:off x="822960" y="3977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822960" y="4617720"/>
            <a:ext cx="2926080" cy="59436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Which route is really cheapest?</a:t>
            </a:r>
            <a:endParaRPr lang="en-US" sz="1600" dirty="0"/>
          </a:p>
        </p:txBody>
      </p:sp>
      <p:sp>
        <p:nvSpPr>
          <p:cNvPr id="17" name="Text 15"/>
          <p:cNvSpPr txBox="1"/>
          <p:nvPr/>
        </p:nvSpPr>
        <p:spPr>
          <a:xfrm>
            <a:off x="822960" y="5184648"/>
            <a:ext cx="2926080" cy="640080"/>
          </a:xfrm>
          <a:prstGeom prst="rect">
            <a:avLst/>
          </a:prstGeom>
          <a:noFill/>
          <a:ln/>
        </p:spPr>
        <p:txBody>
          <a:bodyPr wrap="square" lIns="0" tIns="0" rIns="0" bIns="0" rtlCol="0" anchor="t"/>
          <a:lstStyle/>
          <a:p>
            <a:pPr marL="0" indent="0">
              <a:buNone/>
            </a:pPr>
            <a:r>
              <a:rPr lang="en-US" sz="1300" dirty="0">
                <a:solidFill>
                  <a:srgbClr val="5A6378"/>
                </a:solidFill>
                <a:latin typeface="Calibri" pitchFamily="34" charset="0"/>
                <a:ea typeface="Calibri" pitchFamily="34" charset="-122"/>
                <a:cs typeface="Calibri" pitchFamily="34" charset="-120"/>
              </a:rPr>
              <a:t>A low fee can hide a worse exchange rate; the markup is never shown as a fee</a:t>
            </a:r>
            <a:endParaRPr lang="en-US" sz="1300" dirty="0"/>
          </a:p>
        </p:txBody>
      </p:sp>
      <p:sp>
        <p:nvSpPr>
          <p:cNvPr id="18" name="Shape 16"/>
          <p:cNvSpPr/>
          <p:nvPr/>
        </p:nvSpPr>
        <p:spPr>
          <a:xfrm>
            <a:off x="4160520" y="3703320"/>
            <a:ext cx="3429000" cy="2148840"/>
          </a:xfrm>
          <a:prstGeom prst="roundRect">
            <a:avLst>
              <a:gd name="adj" fmla="val 5106"/>
            </a:avLst>
          </a:prstGeom>
          <a:solidFill>
            <a:srgbClr val="F3F5F9"/>
          </a:solidFill>
          <a:ln/>
        </p:spPr>
      </p:sp>
      <p:sp>
        <p:nvSpPr>
          <p:cNvPr id="19" name="Shape 17"/>
          <p:cNvSpPr/>
          <p:nvPr/>
        </p:nvSpPr>
        <p:spPr>
          <a:xfrm>
            <a:off x="4434840" y="3977640"/>
            <a:ext cx="502920" cy="502920"/>
          </a:xfrm>
          <a:prstGeom prst="ellipse">
            <a:avLst/>
          </a:prstGeom>
          <a:solidFill>
            <a:srgbClr val="1F5FA8"/>
          </a:solidFill>
          <a:ln/>
        </p:spPr>
      </p:sp>
      <p:sp>
        <p:nvSpPr>
          <p:cNvPr id="20" name="Text 18"/>
          <p:cNvSpPr txBox="1"/>
          <p:nvPr/>
        </p:nvSpPr>
        <p:spPr>
          <a:xfrm>
            <a:off x="4434840" y="3977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4434840" y="4617720"/>
            <a:ext cx="2926080" cy="59436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Which papers does the bank want?</a:t>
            </a:r>
            <a:endParaRPr lang="en-US" sz="1600" dirty="0"/>
          </a:p>
        </p:txBody>
      </p:sp>
      <p:sp>
        <p:nvSpPr>
          <p:cNvPr id="22" name="Text 20"/>
          <p:cNvSpPr txBox="1"/>
          <p:nvPr/>
        </p:nvSpPr>
        <p:spPr>
          <a:xfrm>
            <a:off x="4434840" y="5184648"/>
            <a:ext cx="2926080" cy="640080"/>
          </a:xfrm>
          <a:prstGeom prst="rect">
            <a:avLst/>
          </a:prstGeom>
          <a:noFill/>
          <a:ln/>
        </p:spPr>
        <p:txBody>
          <a:bodyPr wrap="square" lIns="0" tIns="0" rIns="0" bIns="0" rtlCol="0" anchor="t"/>
          <a:lstStyle/>
          <a:p>
            <a:pPr marL="0" indent="0">
              <a:buNone/>
            </a:pPr>
            <a:r>
              <a:rPr lang="en-US" sz="1300" dirty="0">
                <a:solidFill>
                  <a:srgbClr val="5A6378"/>
                </a:solidFill>
                <a:latin typeface="Calibri" pitchFamily="34" charset="0"/>
                <a:ea typeface="Calibri" pitchFamily="34" charset="-122"/>
                <a:cs typeface="Calibri" pitchFamily="34" charset="-120"/>
              </a:rPr>
              <a:t>A2 form, PAN, invoice, admission letter, passport, visa document</a:t>
            </a:r>
            <a:endParaRPr lang="en-US" sz="1300" dirty="0"/>
          </a:p>
        </p:txBody>
      </p:sp>
      <p:sp>
        <p:nvSpPr>
          <p:cNvPr id="23" name="Shape 21"/>
          <p:cNvSpPr/>
          <p:nvPr/>
        </p:nvSpPr>
        <p:spPr>
          <a:xfrm>
            <a:off x="7909560" y="1371600"/>
            <a:ext cx="3703320" cy="4480560"/>
          </a:xfrm>
          <a:prstGeom prst="roundRect">
            <a:avLst>
              <a:gd name="adj" fmla="val 2963"/>
            </a:avLst>
          </a:prstGeom>
          <a:solidFill>
            <a:srgbClr val="14213D"/>
          </a:solidFill>
          <a:ln/>
        </p:spPr>
      </p:sp>
      <p:sp>
        <p:nvSpPr>
          <p:cNvPr id="24" name="Text 22"/>
          <p:cNvSpPr txBox="1"/>
          <p:nvPr/>
        </p:nvSpPr>
        <p:spPr>
          <a:xfrm>
            <a:off x="8229600" y="1645920"/>
            <a:ext cx="3108960" cy="320040"/>
          </a:xfrm>
          <a:prstGeom prst="rect">
            <a:avLst/>
          </a:prstGeom>
          <a:noFill/>
          <a:ln/>
        </p:spPr>
        <p:txBody>
          <a:bodyPr wrap="square" lIns="0" tIns="0" rIns="0" bIns="0" rtlCol="0" anchor="t"/>
          <a:lstStyle/>
          <a:p>
            <a:pPr marL="0" indent="0">
              <a:buNone/>
            </a:pPr>
            <a:r>
              <a:rPr lang="en-US" sz="1300" b="1" kern="0" spc="200" dirty="0">
                <a:solidFill>
                  <a:srgbClr val="F2C38B"/>
                </a:solidFill>
                <a:latin typeface="Calibri" pitchFamily="34" charset="0"/>
                <a:ea typeface="Calibri" pitchFamily="34" charset="-122"/>
                <a:cs typeface="Calibri" pitchFamily="34" charset="-120"/>
              </a:rPr>
              <a:t>THE FRAUD</a:t>
            </a:r>
            <a:endParaRPr lang="en-US" sz="1300" dirty="0"/>
          </a:p>
        </p:txBody>
      </p:sp>
      <p:sp>
        <p:nvSpPr>
          <p:cNvPr id="25" name="Text 23"/>
          <p:cNvSpPr txBox="1"/>
          <p:nvPr/>
        </p:nvSpPr>
        <p:spPr>
          <a:xfrm>
            <a:off x="8229600" y="2057400"/>
            <a:ext cx="3108960" cy="1463040"/>
          </a:xfrm>
          <a:prstGeom prst="rect">
            <a:avLst/>
          </a:prstGeom>
          <a:noFill/>
          <a:ln/>
        </p:spPr>
        <p:txBody>
          <a:bodyPr wrap="square" lIns="0" tIns="0" rIns="0" bIns="0" rtlCol="0" anchor="t"/>
          <a:lstStyle/>
          <a:p>
            <a:pPr marL="0" indent="0">
              <a:buNone/>
            </a:pPr>
            <a:r>
              <a:rPr lang="en-US" sz="2200" i="1" dirty="0">
                <a:solidFill>
                  <a:srgbClr val="FFFFFF"/>
                </a:solidFill>
                <a:latin typeface="Cambria" pitchFamily="34" charset="0"/>
                <a:ea typeface="Cambria" pitchFamily="34" charset="-122"/>
                <a:cs typeface="Cambria" pitchFamily="34" charset="-120"/>
              </a:rPr>
              <a:t>“Our bank details have changed. Please pay within 24 hours.”</a:t>
            </a:r>
            <a:endParaRPr lang="en-US" sz="2200" dirty="0"/>
          </a:p>
        </p:txBody>
      </p:sp>
      <p:sp>
        <p:nvSpPr>
          <p:cNvPr id="26" name="Text 24"/>
          <p:cNvSpPr txBox="1"/>
          <p:nvPr/>
        </p:nvSpPr>
        <p:spPr>
          <a:xfrm>
            <a:off x="8229600" y="3429000"/>
            <a:ext cx="3108960" cy="1737360"/>
          </a:xfrm>
          <a:prstGeom prst="rect">
            <a:avLst/>
          </a:prstGeom>
          <a:noFill/>
          <a:ln/>
        </p:spPr>
        <p:txBody>
          <a:bodyPr wrap="square" lIns="0" tIns="0" rIns="0" bIns="0" rtlCol="0" anchor="t"/>
          <a:lstStyle/>
          <a:p>
            <a:pPr marL="0" indent="0">
              <a:buNone/>
            </a:pPr>
            <a:r>
              <a:rPr lang="en-US" sz="1500" dirty="0">
                <a:solidFill>
                  <a:srgbClr val="C9D3E6"/>
                </a:solidFill>
                <a:latin typeface="Calibri" pitchFamily="34" charset="0"/>
                <a:ea typeface="Calibri" pitchFamily="34" charset="-122"/>
                <a:cs typeface="Calibri" pitchFamily="34" charset="-120"/>
              </a:rPr>
              <a:t>A classic way to steal tuition fees. In TuitionPilot this attack fails by design: the university’s signature covers its bank account.</a:t>
            </a:r>
            <a:endParaRPr lang="en-US" sz="1500" dirty="0"/>
          </a:p>
        </p:txBody>
      </p:sp>
      <p:sp>
        <p:nvSpPr>
          <p:cNvPr id="27" name="Text 25"/>
          <p:cNvSpPr txBox="1"/>
          <p:nvPr/>
        </p:nvSpPr>
        <p:spPr>
          <a:xfrm>
            <a:off x="548640" y="5943600"/>
            <a:ext cx="7223760" cy="320040"/>
          </a:xfrm>
          <a:prstGeom prst="rect">
            <a:avLst/>
          </a:prstGeom>
          <a:noFill/>
          <a:ln/>
        </p:spPr>
        <p:txBody>
          <a:bodyPr wrap="square" lIns="0" tIns="0" rIns="0" bIns="0" rtlCol="0" anchor="t"/>
          <a:lstStyle/>
          <a:p>
            <a:pPr marL="0" indent="0">
              <a:buNone/>
            </a:pPr>
            <a:r>
              <a:rPr lang="en-US" sz="1100" i="1">
                <a:solidFill>
                  <a:srgbClr val="5A6378"/>
                </a:solidFill>
                <a:latin typeface="Calibri" pitchFamily="34" charset="0"/>
                <a:ea typeface="Calibri" pitchFamily="34" charset="-122"/>
                <a:cs typeface="Calibri" pitchFamily="34" charset="-120"/>
              </a:rPr>
              <a:t>Rates come from our versioned rule pack; six rules are verified against RBI and the Income-tax Act 2025, the rest are flagged (slide 11).</a:t>
            </a:r>
            <a:endParaRPr lang="en-US" sz="1100" dirty="0"/>
          </a:p>
        </p:txBody>
      </p:sp>
      <p:sp>
        <p:nvSpPr>
          <p:cNvPr id="28"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3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One guided flow, from invoice to receipt</a:t>
            </a:r>
            <a:endParaRPr lang="en-US" sz="3000" dirty="0"/>
          </a:p>
        </p:txBody>
      </p:sp>
      <p:sp>
        <p:nvSpPr>
          <p:cNvPr id="3" name="Shape 1"/>
          <p:cNvSpPr/>
          <p:nvPr/>
        </p:nvSpPr>
        <p:spPr>
          <a:xfrm>
            <a:off x="548640" y="1371600"/>
            <a:ext cx="1719072" cy="2331720"/>
          </a:xfrm>
          <a:prstGeom prst="roundRect">
            <a:avLst>
              <a:gd name="adj" fmla="val 6383"/>
            </a:avLst>
          </a:prstGeom>
          <a:solidFill>
            <a:srgbClr val="F3F5F9"/>
          </a:solidFill>
          <a:ln/>
        </p:spPr>
      </p:sp>
      <p:sp>
        <p:nvSpPr>
          <p:cNvPr id="4" name="Shape 2"/>
          <p:cNvSpPr/>
          <p:nvPr/>
        </p:nvSpPr>
        <p:spPr>
          <a:xfrm>
            <a:off x="749808" y="1572768"/>
            <a:ext cx="502920" cy="502920"/>
          </a:xfrm>
          <a:prstGeom prst="ellipse">
            <a:avLst/>
          </a:prstGeom>
          <a:solidFill>
            <a:srgbClr val="1F5FA8"/>
          </a:solidFill>
          <a:ln/>
        </p:spPr>
      </p:sp>
      <p:sp>
        <p:nvSpPr>
          <p:cNvPr id="5" name="Text 3"/>
          <p:cNvSpPr txBox="1"/>
          <p:nvPr/>
        </p:nvSpPr>
        <p:spPr>
          <a:xfrm>
            <a:off x="749808" y="15727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749808" y="2194560"/>
            <a:ext cx="1371600" cy="36576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Welcome</a:t>
            </a:r>
            <a:endParaRPr lang="en-US" sz="1600" dirty="0"/>
          </a:p>
        </p:txBody>
      </p:sp>
      <p:sp>
        <p:nvSpPr>
          <p:cNvPr id="7" name="Text 5"/>
          <p:cNvSpPr txBox="1"/>
          <p:nvPr/>
        </p:nvSpPr>
        <p:spPr>
          <a:xfrm>
            <a:off x="749808" y="2606040"/>
            <a:ext cx="1371600" cy="1005840"/>
          </a:xfrm>
          <a:prstGeom prst="rect">
            <a:avLst/>
          </a:prstGeom>
          <a:noFill/>
          <a:ln/>
        </p:spPr>
        <p:txBody>
          <a:bodyPr wrap="square" lIns="0" tIns="0" rIns="0" bIns="0" rtlCol="0" anchor="t"/>
          <a:lstStyle/>
          <a:p>
            <a:pPr marL="0" indent="0">
              <a:buNone/>
            </a:pPr>
            <a:r>
              <a:rPr lang="en-US" sz="1300" dirty="0">
                <a:solidFill>
                  <a:srgbClr val="5A6378"/>
                </a:solidFill>
                <a:latin typeface="Calibri" pitchFamily="34" charset="0"/>
                <a:ea typeface="Calibri" pitchFamily="34" charset="-122"/>
                <a:cs typeface="Calibri" pitchFamily="34" charset="-120"/>
              </a:rPr>
              <a:t>Two consents before any data is read</a:t>
            </a:r>
            <a:endParaRPr lang="en-US" sz="1300" dirty="0"/>
          </a:p>
        </p:txBody>
      </p:sp>
      <p:sp>
        <p:nvSpPr>
          <p:cNvPr id="8" name="Shape 6"/>
          <p:cNvSpPr/>
          <p:nvPr/>
        </p:nvSpPr>
        <p:spPr>
          <a:xfrm>
            <a:off x="2423160" y="1371600"/>
            <a:ext cx="1719072" cy="2331720"/>
          </a:xfrm>
          <a:prstGeom prst="roundRect">
            <a:avLst>
              <a:gd name="adj" fmla="val 6383"/>
            </a:avLst>
          </a:prstGeom>
          <a:solidFill>
            <a:srgbClr val="F3F5F9"/>
          </a:solidFill>
          <a:ln/>
        </p:spPr>
      </p:sp>
      <p:sp>
        <p:nvSpPr>
          <p:cNvPr id="9" name="Shape 7"/>
          <p:cNvSpPr/>
          <p:nvPr/>
        </p:nvSpPr>
        <p:spPr>
          <a:xfrm>
            <a:off x="2624328" y="1572768"/>
            <a:ext cx="502920" cy="502920"/>
          </a:xfrm>
          <a:prstGeom prst="ellipse">
            <a:avLst/>
          </a:prstGeom>
          <a:solidFill>
            <a:srgbClr val="1F5FA8"/>
          </a:solidFill>
          <a:ln/>
        </p:spPr>
      </p:sp>
      <p:sp>
        <p:nvSpPr>
          <p:cNvPr id="10" name="Text 8"/>
          <p:cNvSpPr txBox="1"/>
          <p:nvPr/>
        </p:nvSpPr>
        <p:spPr>
          <a:xfrm>
            <a:off x="2624328" y="15727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2624328" y="2194560"/>
            <a:ext cx="1371600" cy="36576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Invoice</a:t>
            </a:r>
            <a:endParaRPr lang="en-US" sz="1600" dirty="0"/>
          </a:p>
        </p:txBody>
      </p:sp>
      <p:sp>
        <p:nvSpPr>
          <p:cNvPr id="12" name="Text 10"/>
          <p:cNvSpPr txBox="1"/>
          <p:nvPr/>
        </p:nvSpPr>
        <p:spPr>
          <a:xfrm>
            <a:off x="2624328" y="2606040"/>
            <a:ext cx="1371600" cy="1005840"/>
          </a:xfrm>
          <a:prstGeom prst="rect">
            <a:avLst/>
          </a:prstGeom>
          <a:noFill/>
          <a:ln/>
        </p:spPr>
        <p:txBody>
          <a:bodyPr wrap="square" lIns="0" tIns="0" rIns="0" bIns="0" rtlCol="0" anchor="t"/>
          <a:lstStyle/>
          <a:p>
            <a:pPr marL="0" indent="0">
              <a:buNone/>
            </a:pPr>
            <a:r>
              <a:rPr lang="en-US" sz="1300" dirty="0">
                <a:solidFill>
                  <a:srgbClr val="5A6378"/>
                </a:solidFill>
                <a:latin typeface="Calibri" pitchFamily="34" charset="0"/>
                <a:ea typeface="Calibri" pitchFamily="34" charset="-122"/>
                <a:cs typeface="Calibri" pitchFamily="34" charset="-120"/>
              </a:rPr>
              <a:t>Animated check of the university’s signature chain</a:t>
            </a:r>
            <a:endParaRPr lang="en-US" sz="1300" dirty="0"/>
          </a:p>
        </p:txBody>
      </p:sp>
      <p:sp>
        <p:nvSpPr>
          <p:cNvPr id="13" name="Shape 11"/>
          <p:cNvSpPr/>
          <p:nvPr/>
        </p:nvSpPr>
        <p:spPr>
          <a:xfrm>
            <a:off x="4297680" y="1371600"/>
            <a:ext cx="1719072" cy="2331720"/>
          </a:xfrm>
          <a:prstGeom prst="roundRect">
            <a:avLst>
              <a:gd name="adj" fmla="val 6383"/>
            </a:avLst>
          </a:prstGeom>
          <a:solidFill>
            <a:srgbClr val="F3F5F9"/>
          </a:solidFill>
          <a:ln/>
        </p:spPr>
      </p:sp>
      <p:sp>
        <p:nvSpPr>
          <p:cNvPr id="14" name="Shape 12"/>
          <p:cNvSpPr/>
          <p:nvPr/>
        </p:nvSpPr>
        <p:spPr>
          <a:xfrm>
            <a:off x="4498848" y="1572768"/>
            <a:ext cx="502920" cy="502920"/>
          </a:xfrm>
          <a:prstGeom prst="ellipse">
            <a:avLst/>
          </a:prstGeom>
          <a:solidFill>
            <a:srgbClr val="1F5FA8"/>
          </a:solidFill>
          <a:ln/>
        </p:spPr>
      </p:sp>
      <p:sp>
        <p:nvSpPr>
          <p:cNvPr id="15" name="Text 13"/>
          <p:cNvSpPr txBox="1"/>
          <p:nvPr/>
        </p:nvSpPr>
        <p:spPr>
          <a:xfrm>
            <a:off x="4498848" y="15727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4498848" y="2194560"/>
            <a:ext cx="1371600" cy="36576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Questions</a:t>
            </a:r>
            <a:endParaRPr lang="en-US" sz="1600" dirty="0"/>
          </a:p>
        </p:txBody>
      </p:sp>
      <p:sp>
        <p:nvSpPr>
          <p:cNvPr id="17" name="Text 15"/>
          <p:cNvSpPr txBox="1"/>
          <p:nvPr/>
        </p:nvSpPr>
        <p:spPr>
          <a:xfrm>
            <a:off x="4498848" y="2606040"/>
            <a:ext cx="1371600" cy="1005840"/>
          </a:xfrm>
          <a:prstGeom prst="rect">
            <a:avLst/>
          </a:prstGeom>
          <a:noFill/>
          <a:ln/>
        </p:spPr>
        <p:txBody>
          <a:bodyPr wrap="square" lIns="0" tIns="0" rIns="0" bIns="0" rtlCol="0" anchor="t"/>
          <a:lstStyle/>
          <a:p>
            <a:pPr marL="0" indent="0">
              <a:buNone/>
            </a:pPr>
            <a:r>
              <a:rPr lang="en-US" sz="1300" dirty="0">
                <a:solidFill>
                  <a:srgbClr val="5A6378"/>
                </a:solidFill>
                <a:latin typeface="Calibri" pitchFamily="34" charset="0"/>
                <a:ea typeface="Calibri" pitchFamily="34" charset="-122"/>
                <a:cs typeface="Calibri" pitchFamily="34" charset="-120"/>
              </a:rPr>
              <a:t>One at a time; the agent asks, never guesses</a:t>
            </a:r>
            <a:endParaRPr lang="en-US" sz="1300" dirty="0"/>
          </a:p>
        </p:txBody>
      </p:sp>
      <p:sp>
        <p:nvSpPr>
          <p:cNvPr id="18" name="Shape 16"/>
          <p:cNvSpPr/>
          <p:nvPr/>
        </p:nvSpPr>
        <p:spPr>
          <a:xfrm>
            <a:off x="6172200" y="1371600"/>
            <a:ext cx="1719072" cy="2331720"/>
          </a:xfrm>
          <a:prstGeom prst="roundRect">
            <a:avLst>
              <a:gd name="adj" fmla="val 6383"/>
            </a:avLst>
          </a:prstGeom>
          <a:solidFill>
            <a:srgbClr val="F3F5F9"/>
          </a:solidFill>
          <a:ln/>
        </p:spPr>
      </p:sp>
      <p:sp>
        <p:nvSpPr>
          <p:cNvPr id="19" name="Shape 17"/>
          <p:cNvSpPr/>
          <p:nvPr/>
        </p:nvSpPr>
        <p:spPr>
          <a:xfrm>
            <a:off x="6373368" y="1572768"/>
            <a:ext cx="502920" cy="502920"/>
          </a:xfrm>
          <a:prstGeom prst="ellipse">
            <a:avLst/>
          </a:prstGeom>
          <a:solidFill>
            <a:srgbClr val="1F5FA8"/>
          </a:solidFill>
          <a:ln/>
        </p:spPr>
      </p:sp>
      <p:sp>
        <p:nvSpPr>
          <p:cNvPr id="20" name="Text 18"/>
          <p:cNvSpPr txBox="1"/>
          <p:nvPr/>
        </p:nvSpPr>
        <p:spPr>
          <a:xfrm>
            <a:off x="6373368" y="15727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6373368" y="2194560"/>
            <a:ext cx="1371600" cy="36576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Best route</a:t>
            </a:r>
            <a:endParaRPr lang="en-US" sz="1600" dirty="0"/>
          </a:p>
        </p:txBody>
      </p:sp>
      <p:sp>
        <p:nvSpPr>
          <p:cNvPr id="22" name="Text 20"/>
          <p:cNvSpPr txBox="1"/>
          <p:nvPr/>
        </p:nvSpPr>
        <p:spPr>
          <a:xfrm>
            <a:off x="6373368" y="2606040"/>
            <a:ext cx="1371600" cy="1005840"/>
          </a:xfrm>
          <a:prstGeom prst="rect">
            <a:avLst/>
          </a:prstGeom>
          <a:noFill/>
          <a:ln/>
        </p:spPr>
        <p:txBody>
          <a:bodyPr wrap="square" lIns="0" tIns="0" rIns="0" bIns="0" rtlCol="0" anchor="t"/>
          <a:lstStyle/>
          <a:p>
            <a:pPr marL="0" indent="0">
              <a:buNone/>
            </a:pPr>
            <a:r>
              <a:rPr lang="en-US" sz="1300" dirty="0">
                <a:solidFill>
                  <a:srgbClr val="5A6378"/>
                </a:solidFill>
                <a:latin typeface="Calibri" pitchFamily="34" charset="0"/>
                <a:ea typeface="Calibri" pitchFamily="34" charset="-122"/>
                <a:cs typeface="Calibri" pitchFamily="34" charset="-120"/>
              </a:rPr>
              <a:t>Cost chart, what-if sliders, LRS limit gauge</a:t>
            </a:r>
            <a:endParaRPr lang="en-US" sz="1300" dirty="0"/>
          </a:p>
        </p:txBody>
      </p:sp>
      <p:sp>
        <p:nvSpPr>
          <p:cNvPr id="23" name="Shape 21"/>
          <p:cNvSpPr/>
          <p:nvPr/>
        </p:nvSpPr>
        <p:spPr>
          <a:xfrm>
            <a:off x="8046720" y="1371600"/>
            <a:ext cx="1719072" cy="2331720"/>
          </a:xfrm>
          <a:prstGeom prst="roundRect">
            <a:avLst>
              <a:gd name="adj" fmla="val 6383"/>
            </a:avLst>
          </a:prstGeom>
          <a:solidFill>
            <a:srgbClr val="FBEFE3"/>
          </a:solidFill>
          <a:ln w="15875">
            <a:solidFill>
              <a:srgbClr val="B4561F"/>
            </a:solidFill>
            <a:prstDash val="solid"/>
          </a:ln>
        </p:spPr>
      </p:sp>
      <p:sp>
        <p:nvSpPr>
          <p:cNvPr id="24" name="Shape 22"/>
          <p:cNvSpPr/>
          <p:nvPr/>
        </p:nvSpPr>
        <p:spPr>
          <a:xfrm>
            <a:off x="8247888" y="1572768"/>
            <a:ext cx="502920" cy="502920"/>
          </a:xfrm>
          <a:prstGeom prst="ellipse">
            <a:avLst/>
          </a:prstGeom>
          <a:solidFill>
            <a:srgbClr val="B4561F"/>
          </a:solidFill>
          <a:ln/>
        </p:spPr>
      </p:sp>
      <p:sp>
        <p:nvSpPr>
          <p:cNvPr id="25" name="Text 23"/>
          <p:cNvSpPr txBox="1"/>
          <p:nvPr/>
        </p:nvSpPr>
        <p:spPr>
          <a:xfrm>
            <a:off x="8247888" y="15727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6" name="Text 24"/>
          <p:cNvSpPr txBox="1"/>
          <p:nvPr/>
        </p:nvSpPr>
        <p:spPr>
          <a:xfrm>
            <a:off x="8247888" y="2194560"/>
            <a:ext cx="1371600" cy="36576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Review &amp; sign</a:t>
            </a:r>
            <a:endParaRPr lang="en-US" sz="1600" dirty="0"/>
          </a:p>
        </p:txBody>
      </p:sp>
      <p:sp>
        <p:nvSpPr>
          <p:cNvPr id="27" name="Text 25"/>
          <p:cNvSpPr txBox="1"/>
          <p:nvPr/>
        </p:nvSpPr>
        <p:spPr>
          <a:xfrm>
            <a:off x="8247888" y="2606040"/>
            <a:ext cx="1371600" cy="1005840"/>
          </a:xfrm>
          <a:prstGeom prst="rect">
            <a:avLst/>
          </a:prstGeom>
          <a:noFill/>
          <a:ln/>
        </p:spPr>
        <p:txBody>
          <a:bodyPr wrap="square" lIns="0" tIns="0" rIns="0" bIns="0" rtlCol="0" anchor="t"/>
          <a:lstStyle/>
          <a:p>
            <a:pPr marL="0" indent="0">
              <a:buNone/>
            </a:pPr>
            <a:r>
              <a:rPr lang="en-US" sz="1300" dirty="0">
                <a:solidFill>
                  <a:srgbClr val="5A6378"/>
                </a:solidFill>
                <a:latin typeface="Calibri" pitchFamily="34" charset="0"/>
                <a:ea typeface="Calibri" pitchFamily="34" charset="-122"/>
                <a:cs typeface="Calibri" pitchFamily="34" charset="-120"/>
              </a:rPr>
              <a:t>PIN pad; the parent’s device signs the plan</a:t>
            </a:r>
            <a:endParaRPr lang="en-US" sz="1300" dirty="0"/>
          </a:p>
        </p:txBody>
      </p:sp>
      <p:sp>
        <p:nvSpPr>
          <p:cNvPr id="28" name="Shape 26"/>
          <p:cNvSpPr/>
          <p:nvPr/>
        </p:nvSpPr>
        <p:spPr>
          <a:xfrm>
            <a:off x="9921240" y="1371600"/>
            <a:ext cx="1719072" cy="2331720"/>
          </a:xfrm>
          <a:prstGeom prst="roundRect">
            <a:avLst>
              <a:gd name="adj" fmla="val 6383"/>
            </a:avLst>
          </a:prstGeom>
          <a:solidFill>
            <a:srgbClr val="F3F5F9"/>
          </a:solidFill>
          <a:ln/>
        </p:spPr>
      </p:sp>
      <p:sp>
        <p:nvSpPr>
          <p:cNvPr id="29" name="Shape 27"/>
          <p:cNvSpPr/>
          <p:nvPr/>
        </p:nvSpPr>
        <p:spPr>
          <a:xfrm>
            <a:off x="10122408" y="1572768"/>
            <a:ext cx="502920" cy="502920"/>
          </a:xfrm>
          <a:prstGeom prst="ellipse">
            <a:avLst/>
          </a:prstGeom>
          <a:solidFill>
            <a:srgbClr val="1F5FA8"/>
          </a:solidFill>
          <a:ln/>
        </p:spPr>
      </p:sp>
      <p:sp>
        <p:nvSpPr>
          <p:cNvPr id="30" name="Text 28"/>
          <p:cNvSpPr txBox="1"/>
          <p:nvPr/>
        </p:nvSpPr>
        <p:spPr>
          <a:xfrm>
            <a:off x="10122408" y="15727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1" name="Text 29"/>
          <p:cNvSpPr txBox="1"/>
          <p:nvPr/>
        </p:nvSpPr>
        <p:spPr>
          <a:xfrm>
            <a:off x="10122408" y="2194560"/>
            <a:ext cx="1371600" cy="36576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Receipt</a:t>
            </a:r>
            <a:endParaRPr lang="en-US" sz="1600" dirty="0"/>
          </a:p>
        </p:txBody>
      </p:sp>
      <p:sp>
        <p:nvSpPr>
          <p:cNvPr id="32" name="Text 30"/>
          <p:cNvSpPr txBox="1"/>
          <p:nvPr/>
        </p:nvSpPr>
        <p:spPr>
          <a:xfrm>
            <a:off x="10122408" y="2606040"/>
            <a:ext cx="1371600" cy="1005840"/>
          </a:xfrm>
          <a:prstGeom prst="rect">
            <a:avLst/>
          </a:prstGeom>
          <a:noFill/>
          <a:ln/>
        </p:spPr>
        <p:txBody>
          <a:bodyPr wrap="square" lIns="0" tIns="0" rIns="0" bIns="0" rtlCol="0" anchor="t"/>
          <a:lstStyle/>
          <a:p>
            <a:pPr marL="0" indent="0">
              <a:buNone/>
            </a:pPr>
            <a:r>
              <a:rPr lang="en-US" sz="1300" dirty="0">
                <a:solidFill>
                  <a:srgbClr val="5A6378"/>
                </a:solidFill>
                <a:latin typeface="Calibri" pitchFamily="34" charset="0"/>
                <a:ea typeface="Calibri" pitchFamily="34" charset="-122"/>
                <a:cs typeface="Calibri" pitchFamily="34" charset="-120"/>
              </a:rPr>
              <a:t>Transaction, certificate, signature, audit entry</a:t>
            </a:r>
            <a:endParaRPr lang="en-US" sz="1300" dirty="0"/>
          </a:p>
        </p:txBody>
      </p:sp>
      <p:sp>
        <p:nvSpPr>
          <p:cNvPr id="33" name="Shape 31"/>
          <p:cNvSpPr/>
          <p:nvPr/>
        </p:nvSpPr>
        <p:spPr>
          <a:xfrm>
            <a:off x="548640" y="3931920"/>
            <a:ext cx="3566160" cy="1417320"/>
          </a:xfrm>
          <a:prstGeom prst="roundRect">
            <a:avLst>
              <a:gd name="adj" fmla="val 7742"/>
            </a:avLst>
          </a:prstGeom>
          <a:solidFill>
            <a:srgbClr val="FFFFFF"/>
          </a:solidFill>
          <a:ln w="15875">
            <a:solidFill>
              <a:srgbClr val="D9DEE7"/>
            </a:solidFill>
            <a:prstDash val="solid"/>
          </a:ln>
        </p:spPr>
      </p:sp>
      <p:sp>
        <p:nvSpPr>
          <p:cNvPr id="34" name="Text 32"/>
          <p:cNvSpPr txBox="1"/>
          <p:nvPr/>
        </p:nvSpPr>
        <p:spPr>
          <a:xfrm>
            <a:off x="777240" y="4069080"/>
            <a:ext cx="3108960" cy="320040"/>
          </a:xfrm>
          <a:prstGeom prst="rect">
            <a:avLst/>
          </a:prstGeom>
          <a:noFill/>
          <a:ln/>
        </p:spPr>
        <p:txBody>
          <a:bodyPr wrap="square" lIns="0" tIns="0" rIns="0" bIns="0" rtlCol="0" anchor="t"/>
          <a:lstStyle/>
          <a:p>
            <a:pPr marL="0" indent="0">
              <a:buNone/>
            </a:pPr>
            <a:r>
              <a:rPr lang="en-US" sz="1500" b="1" dirty="0">
                <a:solidFill>
                  <a:srgbClr val="1F5FA8"/>
                </a:solidFill>
                <a:latin typeface="Calibri" pitchFamily="34" charset="0"/>
                <a:ea typeface="Calibri" pitchFamily="34" charset="-122"/>
                <a:cs typeface="Calibri" pitchFamily="34" charset="-120"/>
              </a:rPr>
              <a:t>Agent, live panel</a:t>
            </a:r>
            <a:endParaRPr lang="en-US" sz="1500" dirty="0"/>
          </a:p>
        </p:txBody>
      </p:sp>
      <p:sp>
        <p:nvSpPr>
          <p:cNvPr id="35" name="Text 33"/>
          <p:cNvSpPr txBox="1"/>
          <p:nvPr/>
        </p:nvSpPr>
        <p:spPr>
          <a:xfrm>
            <a:off x="777240" y="4434840"/>
            <a:ext cx="3154680" cy="8686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Every step and policy decision as it happens, the rule trace with sources, exactly what the AI saw (masked), and the audit chain.</a:t>
            </a:r>
            <a:endParaRPr lang="en-US" sz="1300" dirty="0"/>
          </a:p>
        </p:txBody>
      </p:sp>
      <p:sp>
        <p:nvSpPr>
          <p:cNvPr id="36" name="Shape 34"/>
          <p:cNvSpPr/>
          <p:nvPr/>
        </p:nvSpPr>
        <p:spPr>
          <a:xfrm>
            <a:off x="4297680" y="3931920"/>
            <a:ext cx="3566160" cy="1417320"/>
          </a:xfrm>
          <a:prstGeom prst="roundRect">
            <a:avLst>
              <a:gd name="adj" fmla="val 7742"/>
            </a:avLst>
          </a:prstGeom>
          <a:solidFill>
            <a:srgbClr val="FFFFFF"/>
          </a:solidFill>
          <a:ln w="15875">
            <a:solidFill>
              <a:srgbClr val="D9DEE7"/>
            </a:solidFill>
            <a:prstDash val="solid"/>
          </a:ln>
        </p:spPr>
      </p:sp>
      <p:sp>
        <p:nvSpPr>
          <p:cNvPr id="37" name="Text 35"/>
          <p:cNvSpPr txBox="1"/>
          <p:nvPr/>
        </p:nvSpPr>
        <p:spPr>
          <a:xfrm>
            <a:off x="4526280" y="4069080"/>
            <a:ext cx="3108960" cy="320040"/>
          </a:xfrm>
          <a:prstGeom prst="rect">
            <a:avLst/>
          </a:prstGeom>
          <a:noFill/>
          <a:ln/>
        </p:spPr>
        <p:txBody>
          <a:bodyPr wrap="square" lIns="0" tIns="0" rIns="0" bIns="0" rtlCol="0" anchor="t"/>
          <a:lstStyle/>
          <a:p>
            <a:pPr marL="0" indent="0">
              <a:buNone/>
            </a:pPr>
            <a:r>
              <a:rPr lang="en-US" sz="1500" b="1" dirty="0">
                <a:solidFill>
                  <a:srgbClr val="1F5FA8"/>
                </a:solidFill>
                <a:latin typeface="Calibri" pitchFamily="34" charset="0"/>
                <a:ea typeface="Calibri" pitchFamily="34" charset="-122"/>
                <a:cs typeface="Calibri" pitchFamily="34" charset="-120"/>
              </a:rPr>
              <a:t>Attack lab</a:t>
            </a:r>
            <a:endParaRPr lang="en-US" sz="1500" dirty="0"/>
          </a:p>
        </p:txBody>
      </p:sp>
      <p:sp>
        <p:nvSpPr>
          <p:cNvPr id="38" name="Text 36"/>
          <p:cNvSpPr txBox="1"/>
          <p:nvPr/>
        </p:nvSpPr>
        <p:spPr>
          <a:xfrm>
            <a:off x="4526280" y="4434840"/>
            <a:ext cx="3154680" cy="8686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Runs 16 attacks against a separate copy of the agent and shows which defence stopped each one.</a:t>
            </a:r>
            <a:endParaRPr lang="en-US" sz="1300" dirty="0"/>
          </a:p>
        </p:txBody>
      </p:sp>
      <p:sp>
        <p:nvSpPr>
          <p:cNvPr id="39" name="Shape 37"/>
          <p:cNvSpPr/>
          <p:nvPr/>
        </p:nvSpPr>
        <p:spPr>
          <a:xfrm>
            <a:off x="8046720" y="3931920"/>
            <a:ext cx="3566160" cy="1417320"/>
          </a:xfrm>
          <a:prstGeom prst="roundRect">
            <a:avLst>
              <a:gd name="adj" fmla="val 7742"/>
            </a:avLst>
          </a:prstGeom>
          <a:solidFill>
            <a:srgbClr val="FFFFFF"/>
          </a:solidFill>
          <a:ln w="15875">
            <a:solidFill>
              <a:srgbClr val="D9DEE7"/>
            </a:solidFill>
            <a:prstDash val="solid"/>
          </a:ln>
        </p:spPr>
      </p:sp>
      <p:sp>
        <p:nvSpPr>
          <p:cNvPr id="40" name="Text 38"/>
          <p:cNvSpPr txBox="1"/>
          <p:nvPr/>
        </p:nvSpPr>
        <p:spPr>
          <a:xfrm>
            <a:off x="8275320" y="4069080"/>
            <a:ext cx="3108960" cy="320040"/>
          </a:xfrm>
          <a:prstGeom prst="rect">
            <a:avLst/>
          </a:prstGeom>
          <a:noFill/>
          <a:ln/>
        </p:spPr>
        <p:txBody>
          <a:bodyPr wrap="square" lIns="0" tIns="0" rIns="0" bIns="0" rtlCol="0" anchor="t"/>
          <a:lstStyle/>
          <a:p>
            <a:pPr marL="0" indent="0">
              <a:buNone/>
            </a:pPr>
            <a:r>
              <a:rPr lang="en-US" sz="1500" b="1" dirty="0">
                <a:solidFill>
                  <a:srgbClr val="1F5FA8"/>
                </a:solidFill>
                <a:latin typeface="Calibri" pitchFamily="34" charset="0"/>
                <a:ea typeface="Calibri" pitchFamily="34" charset="-122"/>
                <a:cs typeface="Calibri" pitchFamily="34" charset="-120"/>
              </a:rPr>
              <a:t>Family devices and vault</a:t>
            </a:r>
            <a:endParaRPr lang="en-US" sz="1500" dirty="0"/>
          </a:p>
        </p:txBody>
      </p:sp>
      <p:sp>
        <p:nvSpPr>
          <p:cNvPr id="41" name="Text 39"/>
          <p:cNvSpPr txBox="1"/>
          <p:nvPr/>
        </p:nvSpPr>
        <p:spPr>
          <a:xfrm>
            <a:off x="8275320" y="4434840"/>
            <a:ext cx="3154680" cy="868680"/>
          </a:xfrm>
          <a:prstGeom prst="rect">
            <a:avLst/>
          </a:prstGeom>
          <a:noFill/>
          <a:ln/>
        </p:spPr>
        <p:txBody>
          <a:bodyPr wrap="square" lIns="0" tIns="0" rIns="0" bIns="0" rtlCol="0" anchor="t"/>
          <a:lstStyle/>
          <a:p>
            <a:pPr marL="0" indent="0">
              <a:buNone/>
            </a:pPr>
            <a:r>
              <a:rPr lang="en-US" sz="1300">
                <a:solidFill>
                  <a:srgbClr val="1F2A44"/>
                </a:solidFill>
                <a:latin typeface="Calibri" pitchFamily="34" charset="0"/>
                <a:ea typeface="Calibri" pitchFamily="34" charset="-122"/>
                <a:cs typeface="Calibri" pitchFamily="34" charset="-120"/>
              </a:rPr>
              <a:t>Passwordless sign-in on each enrolled device. A student prepares the payment; only a parent device can sign it. Documents are encrypted in the browser.</a:t>
            </a:r>
            <a:endParaRPr lang="en-US" sz="1300" dirty="0"/>
          </a:p>
        </p:txBody>
      </p:sp>
      <p:sp>
        <p:nvSpPr>
          <p:cNvPr id="42" name="Shape 40"/>
          <p:cNvSpPr/>
          <p:nvPr/>
        </p:nvSpPr>
        <p:spPr>
          <a:xfrm>
            <a:off x="548640" y="5532120"/>
            <a:ext cx="11064240" cy="640080"/>
          </a:xfrm>
          <a:prstGeom prst="roundRect">
            <a:avLst>
              <a:gd name="adj" fmla="val 17143"/>
            </a:avLst>
          </a:prstGeom>
          <a:solidFill>
            <a:srgbClr val="14213D"/>
          </a:solidFill>
          <a:ln/>
        </p:spPr>
      </p:sp>
      <p:sp>
        <p:nvSpPr>
          <p:cNvPr id="43" name="Text 41"/>
          <p:cNvSpPr txBox="1"/>
          <p:nvPr/>
        </p:nvSpPr>
        <p:spPr>
          <a:xfrm>
            <a:off x="777240" y="5532120"/>
            <a:ext cx="10698480" cy="64008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Code computes; the AI explains.  Tax, cost and limits come from tested code. The AI only reads the invoice and words results, sees masked text only, and runs offline by default (hosted Claude optional).</a:t>
            </a:r>
            <a:endParaRPr lang="en-US" sz="1400" dirty="0"/>
          </a:p>
        </p:txBody>
      </p:sp>
      <p:sp>
        <p:nvSpPr>
          <p:cNvPr id="44"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37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000" b="1">
                <a:solidFill>
                  <a:srgbClr val="14213D"/>
                </a:solidFill>
                <a:latin typeface="Cambria" pitchFamily="34" charset="0"/>
                <a:ea typeface="Cambria" pitchFamily="34" charset="-122"/>
                <a:cs typeface="Cambria" pitchFamily="34" charset="-120"/>
              </a:rPr>
              <a:t>Student prepares, parent signs: the real app</a:t>
            </a:r>
            <a:endParaRPr lang="en-US" sz="3000" dirty="0"/>
          </a:p>
        </p:txBody>
      </p:sp>
      <p:sp>
        <p:nvSpPr>
          <p:cNvPr id="44"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A6378"/>
                </a:solidFill>
                <a:latin typeface="Calibri"/>
                <a:ea typeface="Calibri"/>
                <a:cs typeface="Calibri"/>
              </a:defRPr>
            </a:lvl1pPr>
          </a:lstStyle>
          <a:p>
            <a:pPr algn="r"/>
            <a:fld id="{F7021451-1387-4CA6-816F-3879F97B5CBC}" type="slidenum">
              <a:rPr lang="en-US" b="0"/>
              <a:t>4</a:t>
            </a:fld>
            <a:endParaRPr lang="en-US"/>
          </a:p>
        </p:txBody>
      </p:sp>
      <p:sp>
        <p:nvSpPr>
          <p:cNvPr id="45" name="TextBox 44">
            <a:extLst>
              <a:ext uri="{FF2B5EF4-FFF2-40B4-BE49-F238E27FC236}">
                <a16:creationId xmlns:a16="http://schemas.microsoft.com/office/drawing/2014/main" id="{3D073469-A1BD-BDC1-63CB-446C24BB081F}"/>
              </a:ext>
            </a:extLst>
          </p:cNvPr>
          <p:cNvSpPr txBox="1"/>
          <p:nvPr/>
        </p:nvSpPr>
        <p:spPr>
          <a:xfrm>
            <a:off x="546100" y="1320800"/>
            <a:ext cx="3683000" cy="2790508"/>
          </a:xfrm>
          <a:prstGeom prst="rect">
            <a:avLst/>
          </a:prstGeom>
          <a:noFill/>
        </p:spPr>
        <p:txBody>
          <a:bodyPr vert="horz" wrap="square" rtlCol="0">
            <a:spAutoFit/>
          </a:bodyPr>
          <a:lstStyle/>
          <a:p>
            <a:pPr>
              <a:spcAft>
                <a:spcPts val="800"/>
              </a:spcAft>
            </a:pPr>
            <a:r>
              <a:rPr lang="en-US" sz="1600" b="1">
                <a:latin typeface="Calibri" panose="020F0502020204030204" pitchFamily="34" charset="0"/>
              </a:rPr>
              <a:t>Topic C's own user does the work</a:t>
            </a:r>
          </a:p>
          <a:p>
            <a:pPr>
              <a:spcAft>
                <a:spcPts val="800"/>
              </a:spcAft>
            </a:pPr>
            <a:r>
              <a:rPr lang="en-US" sz="1300">
                <a:latin typeface="Calibri" panose="020F0502020204030204" pitchFamily="34" charset="0"/>
              </a:rPr>
              <a:t>1  The student signs in on their own device: no password, a key that never leaves the browser</a:t>
            </a:r>
          </a:p>
          <a:p>
            <a:pPr>
              <a:spcAft>
                <a:spcPts val="800"/>
              </a:spcAft>
            </a:pPr>
            <a:r>
              <a:rPr lang="en-US" sz="1300">
                <a:latin typeface="Calibri" panose="020F0502020204030204" pitchFamily="34" charset="0"/>
              </a:rPr>
              <a:t>2  Uploads the invoice; the agent checks the university's signature and asks only what is missing</a:t>
            </a:r>
          </a:p>
          <a:p>
            <a:pPr>
              <a:spcAft>
                <a:spcPts val="800"/>
              </a:spcAft>
            </a:pPr>
            <a:r>
              <a:rPr lang="en-US" sz="1300">
                <a:latin typeface="Calibri" panose="020F0502020204030204" pitchFamily="34" charset="0"/>
              </a:rPr>
              <a:t>3  Taps 'Ask a parent to sign'</a:t>
            </a:r>
          </a:p>
          <a:p>
            <a:pPr>
              <a:spcAft>
                <a:spcPts val="800"/>
              </a:spcAft>
            </a:pPr>
            <a:r>
              <a:rPr lang="en-US" sz="1300">
                <a:latin typeface="Calibri" panose="020F0502020204030204" pitchFamily="34" charset="0"/>
              </a:rPr>
              <a:t>4  The parent opens it on their own device, the browser re-checks the plan hash, the parent signs, and the sandbox pays once</a:t>
            </a:r>
          </a:p>
          <a:p>
            <a:pPr>
              <a:spcAft>
                <a:spcPts val="800"/>
              </a:spcAft>
            </a:pPr>
            <a:r>
              <a:rPr lang="en-US" sz="1100">
                <a:solidFill>
                  <a:srgbClr val="787878"/>
                </a:solidFill>
                <a:latin typeface="Calibri" panose="020F0502020204030204" pitchFamily="34" charset="0"/>
              </a:rPr>
              <a:t>The student's session is retired the moment a parent opens it, so a student device can never act as the parent.</a:t>
            </a:r>
            <a:endParaRPr lang="en-IN" sz="1100">
              <a:solidFill>
                <a:srgbClr val="787878"/>
              </a:solidFill>
              <a:latin typeface="Calibri" panose="020F0502020204030204" pitchFamily="34" charset="0"/>
            </a:endParaRPr>
          </a:p>
        </p:txBody>
      </p:sp>
      <p:pic>
        <p:nvPicPr>
          <p:cNvPr id="47" name="Picture 46">
            <a:extLst>
              <a:ext uri="{FF2B5EF4-FFF2-40B4-BE49-F238E27FC236}">
                <a16:creationId xmlns:a16="http://schemas.microsoft.com/office/drawing/2014/main" id="{1B7A7462-0B3C-5311-1733-F21733A383E2}"/>
              </a:ext>
            </a:extLst>
          </p:cNvPr>
          <p:cNvPicPr>
            <a:picLocks/>
          </p:cNvPicPr>
          <p:nvPr/>
        </p:nvPicPr>
        <p:blipFill>
          <a:blip r:embed="rId3"/>
          <a:stretch>
            <a:fillRect/>
          </a:stretch>
        </p:blipFill>
        <p:spPr>
          <a:xfrm>
            <a:off x="4445000" y="1320800"/>
            <a:ext cx="3479800" cy="2159000"/>
          </a:xfrm>
          <a:prstGeom prst="rect">
            <a:avLst/>
          </a:prstGeom>
          <a:ln w="9525">
            <a:solidFill>
              <a:srgbClr val="DBDBDB"/>
            </a:solidFill>
          </a:ln>
        </p:spPr>
      </p:pic>
      <p:sp>
        <p:nvSpPr>
          <p:cNvPr id="48" name="TextBox 47">
            <a:extLst>
              <a:ext uri="{FF2B5EF4-FFF2-40B4-BE49-F238E27FC236}">
                <a16:creationId xmlns:a16="http://schemas.microsoft.com/office/drawing/2014/main" id="{0ABAFDD5-4A89-5DA6-BC32-24A57CB9580D}"/>
              </a:ext>
            </a:extLst>
          </p:cNvPr>
          <p:cNvSpPr txBox="1"/>
          <p:nvPr/>
        </p:nvSpPr>
        <p:spPr>
          <a:xfrm>
            <a:off x="4445000" y="3492500"/>
            <a:ext cx="3479800" cy="246221"/>
          </a:xfrm>
          <a:prstGeom prst="rect">
            <a:avLst/>
          </a:prstGeom>
          <a:noFill/>
        </p:spPr>
        <p:txBody>
          <a:bodyPr vert="horz" rtlCol="0">
            <a:spAutoFit/>
          </a:bodyPr>
          <a:lstStyle/>
          <a:p>
            <a:r>
              <a:rPr lang="en-US" sz="1000">
                <a:solidFill>
                  <a:srgbClr val="787878"/>
                </a:solidFill>
                <a:latin typeface="Calibri" panose="020F0502020204030204" pitchFamily="34" charset="0"/>
              </a:rPr>
              <a:t>Signature chain checked, link by link</a:t>
            </a:r>
            <a:endParaRPr lang="en-IN" sz="1000">
              <a:solidFill>
                <a:srgbClr val="787878"/>
              </a:solidFill>
              <a:latin typeface="Calibri" panose="020F0502020204030204" pitchFamily="34" charset="0"/>
            </a:endParaRPr>
          </a:p>
        </p:txBody>
      </p:sp>
      <p:pic>
        <p:nvPicPr>
          <p:cNvPr id="50" name="Picture 49">
            <a:extLst>
              <a:ext uri="{FF2B5EF4-FFF2-40B4-BE49-F238E27FC236}">
                <a16:creationId xmlns:a16="http://schemas.microsoft.com/office/drawing/2014/main" id="{9B22E8E5-20A5-E081-A529-690C7D37D423}"/>
              </a:ext>
            </a:extLst>
          </p:cNvPr>
          <p:cNvPicPr>
            <a:picLocks/>
          </p:cNvPicPr>
          <p:nvPr/>
        </p:nvPicPr>
        <p:blipFill>
          <a:blip r:embed="rId4"/>
          <a:stretch>
            <a:fillRect/>
          </a:stretch>
        </p:blipFill>
        <p:spPr>
          <a:xfrm>
            <a:off x="8128000" y="1320800"/>
            <a:ext cx="3479800" cy="2159000"/>
          </a:xfrm>
          <a:prstGeom prst="rect">
            <a:avLst/>
          </a:prstGeom>
          <a:ln w="9525">
            <a:solidFill>
              <a:srgbClr val="DBDBDB"/>
            </a:solidFill>
          </a:ln>
        </p:spPr>
      </p:pic>
      <p:sp>
        <p:nvSpPr>
          <p:cNvPr id="51" name="TextBox 50">
            <a:extLst>
              <a:ext uri="{FF2B5EF4-FFF2-40B4-BE49-F238E27FC236}">
                <a16:creationId xmlns:a16="http://schemas.microsoft.com/office/drawing/2014/main" id="{09BEDC77-B3F9-2447-BB6E-A679D3010E45}"/>
              </a:ext>
            </a:extLst>
          </p:cNvPr>
          <p:cNvSpPr txBox="1"/>
          <p:nvPr/>
        </p:nvSpPr>
        <p:spPr>
          <a:xfrm>
            <a:off x="8128000" y="3492500"/>
            <a:ext cx="3479800" cy="246221"/>
          </a:xfrm>
          <a:prstGeom prst="rect">
            <a:avLst/>
          </a:prstGeom>
          <a:noFill/>
        </p:spPr>
        <p:txBody>
          <a:bodyPr vert="horz" rtlCol="0">
            <a:spAutoFit/>
          </a:bodyPr>
          <a:lstStyle/>
          <a:p>
            <a:r>
              <a:rPr lang="en-US" sz="1000">
                <a:solidFill>
                  <a:srgbClr val="787878"/>
                </a:solidFill>
                <a:latin typeface="Calibri" panose="020F0502020204030204" pitchFamily="34" charset="0"/>
              </a:rPr>
              <a:t>Every route costed against the real rate</a:t>
            </a:r>
            <a:endParaRPr lang="en-IN" sz="1000">
              <a:solidFill>
                <a:srgbClr val="787878"/>
              </a:solidFill>
              <a:latin typeface="Calibri" panose="020F0502020204030204" pitchFamily="34" charset="0"/>
            </a:endParaRPr>
          </a:p>
        </p:txBody>
      </p:sp>
      <p:pic>
        <p:nvPicPr>
          <p:cNvPr id="53" name="Picture 52">
            <a:extLst>
              <a:ext uri="{FF2B5EF4-FFF2-40B4-BE49-F238E27FC236}">
                <a16:creationId xmlns:a16="http://schemas.microsoft.com/office/drawing/2014/main" id="{FC98E358-E0F6-F3B6-5EC1-8A0DB59EBA25}"/>
              </a:ext>
            </a:extLst>
          </p:cNvPr>
          <p:cNvPicPr>
            <a:picLocks/>
          </p:cNvPicPr>
          <p:nvPr/>
        </p:nvPicPr>
        <p:blipFill>
          <a:blip r:embed="rId5"/>
          <a:stretch>
            <a:fillRect/>
          </a:stretch>
        </p:blipFill>
        <p:spPr>
          <a:xfrm>
            <a:off x="4445000" y="3810000"/>
            <a:ext cx="3479800" cy="2159000"/>
          </a:xfrm>
          <a:prstGeom prst="rect">
            <a:avLst/>
          </a:prstGeom>
          <a:ln w="9525">
            <a:solidFill>
              <a:srgbClr val="DBDBDB"/>
            </a:solidFill>
          </a:ln>
        </p:spPr>
      </p:pic>
      <p:sp>
        <p:nvSpPr>
          <p:cNvPr id="54" name="TextBox 53">
            <a:extLst>
              <a:ext uri="{FF2B5EF4-FFF2-40B4-BE49-F238E27FC236}">
                <a16:creationId xmlns:a16="http://schemas.microsoft.com/office/drawing/2014/main" id="{8CA5533E-B0F1-5272-FFEA-B9A576639EBB}"/>
              </a:ext>
            </a:extLst>
          </p:cNvPr>
          <p:cNvSpPr txBox="1"/>
          <p:nvPr/>
        </p:nvSpPr>
        <p:spPr>
          <a:xfrm>
            <a:off x="4445000" y="5981700"/>
            <a:ext cx="3479800" cy="246221"/>
          </a:xfrm>
          <a:prstGeom prst="rect">
            <a:avLst/>
          </a:prstGeom>
          <a:noFill/>
        </p:spPr>
        <p:txBody>
          <a:bodyPr vert="horz" rtlCol="0">
            <a:spAutoFit/>
          </a:bodyPr>
          <a:lstStyle/>
          <a:p>
            <a:r>
              <a:rPr lang="en-US" sz="1000">
                <a:solidFill>
                  <a:srgbClr val="787878"/>
                </a:solidFill>
                <a:latin typeface="Calibri" panose="020F0502020204030204" pitchFamily="34" charset="0"/>
              </a:rPr>
              <a:t>The parent sees what the student prepared</a:t>
            </a:r>
            <a:endParaRPr lang="en-IN" sz="1000">
              <a:solidFill>
                <a:srgbClr val="787878"/>
              </a:solidFill>
              <a:latin typeface="Calibri" panose="020F0502020204030204" pitchFamily="34" charset="0"/>
            </a:endParaRPr>
          </a:p>
        </p:txBody>
      </p:sp>
      <p:pic>
        <p:nvPicPr>
          <p:cNvPr id="56" name="Picture 55">
            <a:extLst>
              <a:ext uri="{FF2B5EF4-FFF2-40B4-BE49-F238E27FC236}">
                <a16:creationId xmlns:a16="http://schemas.microsoft.com/office/drawing/2014/main" id="{AABB2022-FCF0-3BE9-1D50-38A934466BC2}"/>
              </a:ext>
            </a:extLst>
          </p:cNvPr>
          <p:cNvPicPr>
            <a:picLocks/>
          </p:cNvPicPr>
          <p:nvPr/>
        </p:nvPicPr>
        <p:blipFill>
          <a:blip r:embed="rId6"/>
          <a:stretch>
            <a:fillRect/>
          </a:stretch>
        </p:blipFill>
        <p:spPr>
          <a:xfrm>
            <a:off x="8128000" y="3810000"/>
            <a:ext cx="3479800" cy="2159000"/>
          </a:xfrm>
          <a:prstGeom prst="rect">
            <a:avLst/>
          </a:prstGeom>
          <a:ln w="9525">
            <a:solidFill>
              <a:srgbClr val="DBDBDB"/>
            </a:solidFill>
          </a:ln>
        </p:spPr>
      </p:pic>
      <p:sp>
        <p:nvSpPr>
          <p:cNvPr id="57" name="TextBox 56">
            <a:extLst>
              <a:ext uri="{FF2B5EF4-FFF2-40B4-BE49-F238E27FC236}">
                <a16:creationId xmlns:a16="http://schemas.microsoft.com/office/drawing/2014/main" id="{69D0D408-FC74-07FE-8E51-77C34222E54D}"/>
              </a:ext>
            </a:extLst>
          </p:cNvPr>
          <p:cNvSpPr txBox="1"/>
          <p:nvPr/>
        </p:nvSpPr>
        <p:spPr>
          <a:xfrm>
            <a:off x="8128000" y="5981700"/>
            <a:ext cx="3479800" cy="246221"/>
          </a:xfrm>
          <a:prstGeom prst="rect">
            <a:avLst/>
          </a:prstGeom>
          <a:noFill/>
        </p:spPr>
        <p:txBody>
          <a:bodyPr vert="horz" rtlCol="0">
            <a:spAutoFit/>
          </a:bodyPr>
          <a:lstStyle/>
          <a:p>
            <a:r>
              <a:rPr lang="en-US" sz="1000">
                <a:solidFill>
                  <a:srgbClr val="787878"/>
                </a:solidFill>
                <a:latin typeface="Calibri" panose="020F0502020204030204" pitchFamily="34" charset="0"/>
              </a:rPr>
              <a:t>Signed, paid once in the sandbox, receipt</a:t>
            </a:r>
            <a:endParaRPr lang="en-IN" sz="1000">
              <a:solidFill>
                <a:srgbClr val="787878"/>
              </a:solidFill>
              <a:latin typeface="Calibri" panose="020F0502020204030204" pitchFamily="34" charset="0"/>
            </a:endParaRPr>
          </a:p>
        </p:txBody>
      </p:sp>
    </p:spTree>
    <p:extLst>
      <p:ext uri="{BB962C8B-B14F-4D97-AF65-F5344CB8AC3E}">
        <p14:creationId xmlns:p14="http://schemas.microsoft.com/office/powerpoint/2010/main" val="1477076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Architecture: keys with people, money in the sandbox</a:t>
            </a:r>
            <a:endParaRPr lang="en-US" sz="3000" dirty="0"/>
          </a:p>
        </p:txBody>
      </p:sp>
      <p:pic>
        <p:nvPicPr>
          <p:cNvPr id="3" name="Image 0" descr="TuitionPilot architecture diagram"/>
          <p:cNvPicPr>
            <a:picLocks noChangeAspect="1"/>
          </p:cNvPicPr>
          <p:nvPr/>
        </p:nvPicPr>
        <p:blipFill>
          <a:blip r:embed="rId3"/>
          <a:stretch>
            <a:fillRect/>
          </a:stretch>
        </p:blipFill>
        <p:spPr>
          <a:xfrm>
            <a:off x="548640" y="1234440"/>
            <a:ext cx="8046720" cy="5029200"/>
          </a:xfrm>
          <a:prstGeom prst="rect">
            <a:avLst/>
          </a:prstGeom>
        </p:spPr>
      </p:pic>
      <p:sp>
        <p:nvSpPr>
          <p:cNvPr id="4" name="Shape 1"/>
          <p:cNvSpPr/>
          <p:nvPr/>
        </p:nvSpPr>
        <p:spPr>
          <a:xfrm>
            <a:off x="8869680" y="1325880"/>
            <a:ext cx="2743200" cy="1417320"/>
          </a:xfrm>
          <a:prstGeom prst="roundRect">
            <a:avLst>
              <a:gd name="adj" fmla="val 7742"/>
            </a:avLst>
          </a:prstGeom>
          <a:solidFill>
            <a:srgbClr val="F3F5F9"/>
          </a:solidFill>
          <a:ln/>
        </p:spPr>
      </p:sp>
      <p:sp>
        <p:nvSpPr>
          <p:cNvPr id="5" name="Text 2"/>
          <p:cNvSpPr txBox="1"/>
          <p:nvPr/>
        </p:nvSpPr>
        <p:spPr>
          <a:xfrm>
            <a:off x="9052560" y="1463040"/>
            <a:ext cx="2423160" cy="320040"/>
          </a:xfrm>
          <a:prstGeom prst="rect">
            <a:avLst/>
          </a:prstGeom>
          <a:noFill/>
          <a:ln/>
        </p:spPr>
        <p:txBody>
          <a:bodyPr wrap="square" lIns="0" tIns="0" rIns="0" bIns="0" rtlCol="0" anchor="t"/>
          <a:lstStyle/>
          <a:p>
            <a:pPr marL="0" indent="0">
              <a:buNone/>
            </a:pPr>
            <a:r>
              <a:rPr lang="en-US" sz="1400" b="1" dirty="0">
                <a:solidFill>
                  <a:srgbClr val="B4561F"/>
                </a:solidFill>
                <a:latin typeface="Calibri" pitchFamily="34" charset="0"/>
                <a:ea typeface="Calibri" pitchFamily="34" charset="-122"/>
                <a:cs typeface="Calibri" pitchFamily="34" charset="-120"/>
              </a:rPr>
              <a:t>Orange: outside the server</a:t>
            </a:r>
            <a:endParaRPr lang="en-US" sz="1400" dirty="0"/>
          </a:p>
        </p:txBody>
      </p:sp>
      <p:sp>
        <p:nvSpPr>
          <p:cNvPr id="6" name="Text 3"/>
          <p:cNvSpPr txBox="1"/>
          <p:nvPr/>
        </p:nvSpPr>
        <p:spPr>
          <a:xfrm>
            <a:off x="9052560" y="1801368"/>
            <a:ext cx="2423160" cy="8686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University, parent and student devices, trust root. Every private key lives here.</a:t>
            </a:r>
            <a:endParaRPr lang="en-US" sz="1300" dirty="0"/>
          </a:p>
        </p:txBody>
      </p:sp>
      <p:sp>
        <p:nvSpPr>
          <p:cNvPr id="7" name="Shape 4"/>
          <p:cNvSpPr/>
          <p:nvPr/>
        </p:nvSpPr>
        <p:spPr>
          <a:xfrm>
            <a:off x="8869680" y="2926080"/>
            <a:ext cx="2743200" cy="1417320"/>
          </a:xfrm>
          <a:prstGeom prst="roundRect">
            <a:avLst>
              <a:gd name="adj" fmla="val 7742"/>
            </a:avLst>
          </a:prstGeom>
          <a:solidFill>
            <a:srgbClr val="F3F5F9"/>
          </a:solidFill>
          <a:ln/>
        </p:spPr>
      </p:sp>
      <p:sp>
        <p:nvSpPr>
          <p:cNvPr id="8" name="Text 5"/>
          <p:cNvSpPr txBox="1"/>
          <p:nvPr/>
        </p:nvSpPr>
        <p:spPr>
          <a:xfrm>
            <a:off x="9052560" y="3063240"/>
            <a:ext cx="2423160" cy="320040"/>
          </a:xfrm>
          <a:prstGeom prst="rect">
            <a:avLst/>
          </a:prstGeom>
          <a:noFill/>
          <a:ln/>
        </p:spPr>
        <p:txBody>
          <a:bodyPr wrap="square" lIns="0" tIns="0" rIns="0" bIns="0" rtlCol="0" anchor="t"/>
          <a:lstStyle/>
          <a:p>
            <a:pPr marL="0" indent="0">
              <a:buNone/>
            </a:pPr>
            <a:r>
              <a:rPr lang="en-US" sz="1400" b="1" dirty="0">
                <a:solidFill>
                  <a:srgbClr val="1F5FA8"/>
                </a:solidFill>
                <a:latin typeface="Calibri" pitchFamily="34" charset="0"/>
                <a:ea typeface="Calibri" pitchFamily="34" charset="-122"/>
                <a:cs typeface="Calibri" pitchFamily="34" charset="-120"/>
              </a:rPr>
              <a:t>Blue: agent pipeline</a:t>
            </a:r>
            <a:endParaRPr lang="en-US" sz="1400" dirty="0"/>
          </a:p>
        </p:txBody>
      </p:sp>
      <p:sp>
        <p:nvSpPr>
          <p:cNvPr id="9" name="Text 6"/>
          <p:cNvSpPr txBox="1"/>
          <p:nvPr/>
        </p:nvSpPr>
        <p:spPr>
          <a:xfrm>
            <a:off x="9052560" y="3401568"/>
            <a:ext cx="2423160" cy="8686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Intake to plan in 8 steps. The dashed step is the only AI step; it sees masked text.</a:t>
            </a:r>
            <a:endParaRPr lang="en-US" sz="1300" dirty="0"/>
          </a:p>
        </p:txBody>
      </p:sp>
      <p:sp>
        <p:nvSpPr>
          <p:cNvPr id="10" name="Shape 7"/>
          <p:cNvSpPr/>
          <p:nvPr/>
        </p:nvSpPr>
        <p:spPr>
          <a:xfrm>
            <a:off x="8869680" y="4526280"/>
            <a:ext cx="2743200" cy="1417320"/>
          </a:xfrm>
          <a:prstGeom prst="roundRect">
            <a:avLst>
              <a:gd name="adj" fmla="val 7742"/>
            </a:avLst>
          </a:prstGeom>
          <a:solidFill>
            <a:srgbClr val="F3F5F9"/>
          </a:solidFill>
          <a:ln/>
        </p:spPr>
      </p:sp>
      <p:sp>
        <p:nvSpPr>
          <p:cNvPr id="11" name="Text 8"/>
          <p:cNvSpPr txBox="1"/>
          <p:nvPr/>
        </p:nvSpPr>
        <p:spPr>
          <a:xfrm>
            <a:off x="9052560" y="4663440"/>
            <a:ext cx="2423160" cy="32004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Navy: money path</a:t>
            </a:r>
            <a:endParaRPr lang="en-US" sz="1400" dirty="0"/>
          </a:p>
        </p:txBody>
      </p:sp>
      <p:sp>
        <p:nvSpPr>
          <p:cNvPr id="12" name="Text 9"/>
          <p:cNvSpPr txBox="1"/>
          <p:nvPr/>
        </p:nvSpPr>
        <p:spPr>
          <a:xfrm>
            <a:off x="9052560" y="5001768"/>
            <a:ext cx="2423160" cy="8686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Policy gate → sandbox bank → hash-chained audit log and receipt.</a:t>
            </a:r>
            <a:endParaRPr lang="en-US" sz="13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3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India’s LRS and TCS rules, turned into tested code</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4137691267"/>
              </p:ext>
            </p:extLst>
          </p:nvPr>
        </p:nvGraphicFramePr>
        <p:xfrm>
          <a:off x="548640" y="1371600"/>
          <a:ext cx="676656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Value in the rule pack</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marL="0" indent="0">
                        <a:buNone/>
                      </a:pPr>
                      <a:r>
                        <a:rPr lang="en-US" sz="1300" b="1">
                          <a:solidFill>
                            <a:srgbClr val="FFFFFF"/>
                          </a:solidFill>
                          <a:latin typeface="Calibri" pitchFamily="34" charset="0"/>
                          <a:ea typeface="Calibri" pitchFamily="34" charset="-122"/>
                          <a:cs typeface="Calibri" pitchFamily="34" charset="-120"/>
                        </a:rPr>
                        <a:t>Status (18 Oct)</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LRS yearly cap</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USD 250,000 per person, April–March</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b="0">
                          <a:solidFill>
                            <a:srgbClr val="000000"/>
                          </a:solidFill>
                          <a:latin typeface="Calibri" pitchFamily="34" charset="0"/>
                          <a:ea typeface="Calibri" pitchFamily="34" charset="-122"/>
                          <a:cs typeface="Calibri" pitchFamily="34" charset="-120"/>
                        </a:rPr>
                        <a:t>Verified</a:t>
                      </a:r>
                      <a:endParaRPr lang="en-US" sz="1300" b="0" dirty="0">
                        <a:solidFill>
                          <a:srgbClr val="000000"/>
                        </a:solidFill>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TCS threshold</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Rs 10 lakh per PAN per year, all purposes</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b="0">
                          <a:solidFill>
                            <a:srgbClr val="000000"/>
                          </a:solidFill>
                          <a:latin typeface="Calibri" pitchFamily="34" charset="0"/>
                          <a:ea typeface="Calibri" pitchFamily="34" charset="-122"/>
                          <a:cs typeface="Calibri" pitchFamily="34" charset="-120"/>
                        </a:rPr>
                        <a:t>Verified</a:t>
                      </a:r>
                      <a:endParaRPr lang="en-US" sz="1300" b="0" dirty="0">
                        <a:solidFill>
                          <a:srgbClr val="000000"/>
                        </a:solidFill>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Education, self-funded</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2% above the threshold (from 1 Apr 2026)</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b="0">
                          <a:solidFill>
                            <a:srgbClr val="000000"/>
                          </a:solidFill>
                          <a:latin typeface="Calibri" pitchFamily="34" charset="0"/>
                          <a:ea typeface="Calibri" pitchFamily="34" charset="-122"/>
                          <a:cs typeface="Calibri" pitchFamily="34" charset="-120"/>
                        </a:rPr>
                        <a:t>Verified</a:t>
                      </a:r>
                      <a:endParaRPr lang="en-US" sz="1300" b="0" dirty="0">
                        <a:solidFill>
                          <a:srgbClr val="000000"/>
                        </a:solidFill>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Education, loan-funded</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a:solidFill>
                            <a:srgbClr val="1F2A44"/>
                          </a:solidFill>
                          <a:latin typeface="Calibri" pitchFamily="34" charset="0"/>
                          <a:ea typeface="Calibri" pitchFamily="34" charset="-122"/>
                          <a:cs typeface="Calibri" pitchFamily="34" charset="-120"/>
                        </a:rPr>
                        <a:t>No TCS on an education loan from a financial institution</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b="0">
                          <a:solidFill>
                            <a:srgbClr val="000000"/>
                          </a:solidFill>
                          <a:latin typeface="Calibri" pitchFamily="34" charset="0"/>
                          <a:ea typeface="Calibri" pitchFamily="34" charset="-122"/>
                          <a:cs typeface="Calibri" pitchFamily="34" charset="-120"/>
                        </a:rPr>
                        <a:t>Verified</a:t>
                      </a:r>
                      <a:endParaRPr lang="en-US" sz="1300" b="0" dirty="0">
                        <a:solidFill>
                          <a:srgbClr val="000000"/>
                        </a:solidFill>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No PAN</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5% above the threshold</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b="0">
                          <a:solidFill>
                            <a:srgbClr val="000000"/>
                          </a:solidFill>
                          <a:latin typeface="Calibri" pitchFamily="34" charset="0"/>
                          <a:ea typeface="Calibri" pitchFamily="34" charset="-122"/>
                          <a:cs typeface="Calibri" pitchFamily="34" charset="-120"/>
                        </a:rPr>
                        <a:t>Verified</a:t>
                      </a:r>
                      <a:endParaRPr lang="en-US" sz="1300" b="0" dirty="0">
                        <a:solidFill>
                          <a:srgbClr val="000000"/>
                        </a:solidFill>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hape 1"/>
          <p:cNvSpPr/>
          <p:nvPr/>
        </p:nvSpPr>
        <p:spPr>
          <a:xfrm>
            <a:off x="548640" y="4343400"/>
            <a:ext cx="6766560" cy="1280160"/>
          </a:xfrm>
          <a:prstGeom prst="roundRect">
            <a:avLst>
              <a:gd name="adj" fmla="val 8571"/>
            </a:avLst>
          </a:prstGeom>
          <a:solidFill>
            <a:srgbClr val="F3F5F9"/>
          </a:solidFill>
          <a:ln/>
        </p:spPr>
      </p:sp>
      <p:sp>
        <p:nvSpPr>
          <p:cNvPr id="5" name="Text 2"/>
          <p:cNvSpPr txBox="1"/>
          <p:nvPr/>
        </p:nvSpPr>
        <p:spPr>
          <a:xfrm>
            <a:off x="777240" y="4480560"/>
            <a:ext cx="6355080" cy="1325880"/>
          </a:xfrm>
          <a:prstGeom prst="rect">
            <a:avLst/>
          </a:prstGeom>
          <a:noFill/>
          <a:ln/>
        </p:spPr>
        <p:txBody>
          <a:bodyPr wrap="square" lIns="0" tIns="0" rIns="0" bIns="0" rtlCol="0" anchor="t"/>
          <a:lstStyle/>
          <a:p>
            <a:pPr marL="0" indent="0">
              <a:buNone/>
            </a:pPr>
            <a:r>
              <a:rPr lang="en-US" sz="1400" b="1">
                <a:solidFill>
                  <a:srgbClr val="14213D"/>
                </a:solidFill>
                <a:latin typeface="Calibri" pitchFamily="34" charset="0"/>
                <a:ea typeface="Calibri" pitchFamily="34" charset="-122"/>
                <a:cs typeface="Calibri" pitchFamily="34" charset="-120"/>
              </a:rPr>
              <a:t>TCS = rate x (this year's total - the larger of earlier payments or Rs 10 lakh)</a:t>
            </a:r>
          </a:p>
          <a:p>
            <a:pPr marL="0" indent="0">
              <a:buNone/>
            </a:pPr>
            <a:r>
              <a:rPr lang="en-US" sz="1400">
                <a:solidFill>
                  <a:srgbClr val="14213D"/>
                </a:solidFill>
                <a:latin typeface="Calibri" pitchFamily="34" charset="0"/>
                <a:ea typeface="Calibri" pitchFamily="34" charset="-122"/>
                <a:cs typeface="Calibri" pitchFamily="34" charset="-120"/>
              </a:rPr>
              <a:t>Never below zero. Every result carries the rule id, pack version, effective date and source. Verified against RBI and the Income-tax Act 2025 (s.394, s.397); rules still open are flagged in every output.</a:t>
            </a:r>
            <a:endParaRPr lang="en-US" sz="1400" dirty="0"/>
          </a:p>
        </p:txBody>
      </p:sp>
      <p:sp>
        <p:nvSpPr>
          <p:cNvPr id="3" name="Shape 3"/>
          <p:cNvSpPr/>
          <p:nvPr/>
        </p:nvSpPr>
        <p:spPr>
          <a:xfrm>
            <a:off x="7635240" y="1371600"/>
            <a:ext cx="3977640" cy="4526280"/>
          </a:xfrm>
          <a:prstGeom prst="roundRect">
            <a:avLst>
              <a:gd name="adj" fmla="val 2759"/>
            </a:avLst>
          </a:prstGeom>
          <a:solidFill>
            <a:srgbClr val="FFFFFF"/>
          </a:solidFill>
          <a:ln w="15875">
            <a:solidFill>
              <a:srgbClr val="D9DEE7"/>
            </a:solidFill>
            <a:prstDash val="solid"/>
          </a:ln>
        </p:spPr>
      </p:sp>
      <p:sp>
        <p:nvSpPr>
          <p:cNvPr id="7" name="Text 4"/>
          <p:cNvSpPr txBox="1"/>
          <p:nvPr/>
        </p:nvSpPr>
        <p:spPr>
          <a:xfrm>
            <a:off x="7863840" y="1554480"/>
            <a:ext cx="3566160" cy="320040"/>
          </a:xfrm>
          <a:prstGeom prst="rect">
            <a:avLst/>
          </a:prstGeom>
          <a:noFill/>
          <a:ln/>
        </p:spPr>
        <p:txBody>
          <a:bodyPr wrap="square" lIns="0" tIns="0" rIns="0" bIns="0" rtlCol="0" anchor="t"/>
          <a:lstStyle/>
          <a:p>
            <a:pPr marL="0" indent="0">
              <a:buNone/>
            </a:pPr>
            <a:r>
              <a:rPr lang="en-US" sz="1300" b="1" dirty="0">
                <a:solidFill>
                  <a:srgbClr val="B4561F"/>
                </a:solidFill>
                <a:latin typeface="Calibri" pitchFamily="34" charset="0"/>
                <a:ea typeface="Calibri" pitchFamily="34" charset="-122"/>
                <a:cs typeface="Calibri" pitchFamily="34" charset="-120"/>
              </a:rPr>
              <a:t>Worked example (scenario A2)</a:t>
            </a:r>
            <a:endParaRPr lang="en-US" sz="1300" dirty="0"/>
          </a:p>
        </p:txBody>
      </p:sp>
      <p:sp>
        <p:nvSpPr>
          <p:cNvPr id="8" name="Text 5"/>
          <p:cNvSpPr txBox="1"/>
          <p:nvPr/>
        </p:nvSpPr>
        <p:spPr>
          <a:xfrm>
            <a:off x="7863840" y="1874520"/>
            <a:ext cx="3566160" cy="64008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Self-funded Rs 15 lakh, no earlier payments</a:t>
            </a:r>
            <a:endParaRPr lang="en-US" sz="1600" dirty="0"/>
          </a:p>
        </p:txBody>
      </p:sp>
      <p:sp>
        <p:nvSpPr>
          <p:cNvPr id="9" name="Text 6"/>
          <p:cNvSpPr txBox="1"/>
          <p:nvPr/>
        </p:nvSpPr>
        <p:spPr>
          <a:xfrm>
            <a:off x="7863840" y="2697480"/>
            <a:ext cx="2011680" cy="365760"/>
          </a:xfrm>
          <a:prstGeom prst="rect">
            <a:avLst/>
          </a:prstGeom>
          <a:noFill/>
          <a:ln/>
        </p:spPr>
        <p:txBody>
          <a:bodyPr wrap="square" lIns="0" tIns="0" rIns="0" bIns="0" rtlCol="0" anchor="t"/>
          <a:lstStyle/>
          <a:p>
            <a:pPr marL="0" indent="0">
              <a:buNone/>
            </a:pPr>
            <a:r>
              <a:rPr lang="en-US" sz="1500" dirty="0">
                <a:solidFill>
                  <a:srgbClr val="1F2A44"/>
                </a:solidFill>
                <a:latin typeface="Calibri" pitchFamily="34" charset="0"/>
                <a:ea typeface="Calibri" pitchFamily="34" charset="-122"/>
                <a:cs typeface="Calibri" pitchFamily="34" charset="-120"/>
              </a:rPr>
              <a:t>This year’s total</a:t>
            </a:r>
            <a:endParaRPr lang="en-US" sz="1500" dirty="0"/>
          </a:p>
        </p:txBody>
      </p:sp>
      <p:sp>
        <p:nvSpPr>
          <p:cNvPr id="10" name="Text 7"/>
          <p:cNvSpPr txBox="1"/>
          <p:nvPr/>
        </p:nvSpPr>
        <p:spPr>
          <a:xfrm>
            <a:off x="9784080" y="2697480"/>
            <a:ext cx="1645920" cy="365760"/>
          </a:xfrm>
          <a:prstGeom prst="rect">
            <a:avLst/>
          </a:prstGeom>
          <a:noFill/>
          <a:ln/>
        </p:spPr>
        <p:txBody>
          <a:bodyPr wrap="square" lIns="0" tIns="0" rIns="0" bIns="0" rtlCol="0" anchor="t"/>
          <a:lstStyle/>
          <a:p>
            <a:pPr marL="0" indent="0" algn="r">
              <a:buNone/>
            </a:pPr>
            <a:r>
              <a:rPr lang="en-US" sz="1500" dirty="0">
                <a:solidFill>
                  <a:srgbClr val="1F2A44"/>
                </a:solidFill>
                <a:latin typeface="Calibri" pitchFamily="34" charset="0"/>
                <a:ea typeface="Calibri" pitchFamily="34" charset="-122"/>
                <a:cs typeface="Calibri" pitchFamily="34" charset="-120"/>
              </a:rPr>
              <a:t>Rs 15,00,000</a:t>
            </a:r>
            <a:endParaRPr lang="en-US" sz="1500" dirty="0"/>
          </a:p>
        </p:txBody>
      </p:sp>
      <p:sp>
        <p:nvSpPr>
          <p:cNvPr id="11" name="Text 8"/>
          <p:cNvSpPr txBox="1"/>
          <p:nvPr/>
        </p:nvSpPr>
        <p:spPr>
          <a:xfrm>
            <a:off x="7863840" y="3154680"/>
            <a:ext cx="2011680" cy="365760"/>
          </a:xfrm>
          <a:prstGeom prst="rect">
            <a:avLst/>
          </a:prstGeom>
          <a:noFill/>
          <a:ln/>
        </p:spPr>
        <p:txBody>
          <a:bodyPr wrap="square" lIns="0" tIns="0" rIns="0" bIns="0" rtlCol="0" anchor="t"/>
          <a:lstStyle/>
          <a:p>
            <a:pPr marL="0" indent="0">
              <a:buNone/>
            </a:pPr>
            <a:r>
              <a:rPr lang="en-US" sz="1500" dirty="0">
                <a:solidFill>
                  <a:srgbClr val="1F2A44"/>
                </a:solidFill>
                <a:latin typeface="Calibri" pitchFamily="34" charset="0"/>
                <a:ea typeface="Calibri" pitchFamily="34" charset="-122"/>
                <a:cs typeface="Calibri" pitchFamily="34" charset="-120"/>
              </a:rPr>
              <a:t>Minus the threshold</a:t>
            </a:r>
            <a:endParaRPr lang="en-US" sz="1500" dirty="0"/>
          </a:p>
        </p:txBody>
      </p:sp>
      <p:sp>
        <p:nvSpPr>
          <p:cNvPr id="12" name="Text 9"/>
          <p:cNvSpPr txBox="1"/>
          <p:nvPr/>
        </p:nvSpPr>
        <p:spPr>
          <a:xfrm>
            <a:off x="9784080" y="3154680"/>
            <a:ext cx="1645920" cy="365760"/>
          </a:xfrm>
          <a:prstGeom prst="rect">
            <a:avLst/>
          </a:prstGeom>
          <a:noFill/>
          <a:ln/>
        </p:spPr>
        <p:txBody>
          <a:bodyPr wrap="square" lIns="0" tIns="0" rIns="0" bIns="0" rtlCol="0" anchor="t"/>
          <a:lstStyle/>
          <a:p>
            <a:pPr marL="0" indent="0" algn="r">
              <a:buNone/>
            </a:pPr>
            <a:r>
              <a:rPr lang="en-US" sz="1500" dirty="0">
                <a:solidFill>
                  <a:srgbClr val="1F2A44"/>
                </a:solidFill>
                <a:latin typeface="Calibri" pitchFamily="34" charset="0"/>
                <a:ea typeface="Calibri" pitchFamily="34" charset="-122"/>
                <a:cs typeface="Calibri" pitchFamily="34" charset="-120"/>
              </a:rPr>
              <a:t>− Rs 10,00,000</a:t>
            </a:r>
            <a:endParaRPr lang="en-US" sz="1500" dirty="0"/>
          </a:p>
        </p:txBody>
      </p:sp>
      <p:sp>
        <p:nvSpPr>
          <p:cNvPr id="13" name="Text 10"/>
          <p:cNvSpPr txBox="1"/>
          <p:nvPr/>
        </p:nvSpPr>
        <p:spPr>
          <a:xfrm>
            <a:off x="7863840" y="3611880"/>
            <a:ext cx="2011680" cy="365760"/>
          </a:xfrm>
          <a:prstGeom prst="rect">
            <a:avLst/>
          </a:prstGeom>
          <a:noFill/>
          <a:ln/>
        </p:spPr>
        <p:txBody>
          <a:bodyPr wrap="square" lIns="0" tIns="0" rIns="0" bIns="0" rtlCol="0" anchor="t"/>
          <a:lstStyle/>
          <a:p>
            <a:pPr marL="0" indent="0">
              <a:buNone/>
            </a:pPr>
            <a:r>
              <a:rPr lang="en-US" sz="1500" dirty="0">
                <a:solidFill>
                  <a:srgbClr val="1F2A44"/>
                </a:solidFill>
                <a:latin typeface="Calibri" pitchFamily="34" charset="0"/>
                <a:ea typeface="Calibri" pitchFamily="34" charset="-122"/>
                <a:cs typeface="Calibri" pitchFamily="34" charset="-120"/>
              </a:rPr>
              <a:t>Taxable part</a:t>
            </a:r>
            <a:endParaRPr lang="en-US" sz="1500" dirty="0"/>
          </a:p>
        </p:txBody>
      </p:sp>
      <p:sp>
        <p:nvSpPr>
          <p:cNvPr id="14" name="Text 11"/>
          <p:cNvSpPr txBox="1"/>
          <p:nvPr/>
        </p:nvSpPr>
        <p:spPr>
          <a:xfrm>
            <a:off x="9784080" y="3611880"/>
            <a:ext cx="1645920" cy="365760"/>
          </a:xfrm>
          <a:prstGeom prst="rect">
            <a:avLst/>
          </a:prstGeom>
          <a:noFill/>
          <a:ln/>
        </p:spPr>
        <p:txBody>
          <a:bodyPr wrap="square" lIns="0" tIns="0" rIns="0" bIns="0" rtlCol="0" anchor="t"/>
          <a:lstStyle/>
          <a:p>
            <a:pPr marL="0" indent="0" algn="r">
              <a:buNone/>
            </a:pPr>
            <a:r>
              <a:rPr lang="en-US" sz="1500" dirty="0">
                <a:solidFill>
                  <a:srgbClr val="1F2A44"/>
                </a:solidFill>
                <a:latin typeface="Calibri" pitchFamily="34" charset="0"/>
                <a:ea typeface="Calibri" pitchFamily="34" charset="-122"/>
                <a:cs typeface="Calibri" pitchFamily="34" charset="-120"/>
              </a:rPr>
              <a:t>Rs 5,00,000</a:t>
            </a:r>
            <a:endParaRPr lang="en-US" sz="1500" dirty="0"/>
          </a:p>
        </p:txBody>
      </p:sp>
      <p:sp>
        <p:nvSpPr>
          <p:cNvPr id="15" name="Shape 12"/>
          <p:cNvSpPr/>
          <p:nvPr/>
        </p:nvSpPr>
        <p:spPr>
          <a:xfrm>
            <a:off x="7863840" y="4114800"/>
            <a:ext cx="3566160" cy="0"/>
          </a:xfrm>
          <a:prstGeom prst="line">
            <a:avLst/>
          </a:prstGeom>
          <a:noFill/>
          <a:ln w="19050">
            <a:solidFill>
              <a:srgbClr val="14213D"/>
            </a:solidFill>
            <a:prstDash val="solid"/>
          </a:ln>
        </p:spPr>
      </p:sp>
      <p:sp>
        <p:nvSpPr>
          <p:cNvPr id="16" name="Text 13"/>
          <p:cNvSpPr txBox="1"/>
          <p:nvPr/>
        </p:nvSpPr>
        <p:spPr>
          <a:xfrm>
            <a:off x="7863840" y="4224528"/>
            <a:ext cx="2011680" cy="411480"/>
          </a:xfrm>
          <a:prstGeom prst="rect">
            <a:avLst/>
          </a:prstGeom>
          <a:noFill/>
          <a:ln/>
        </p:spPr>
        <p:txBody>
          <a:bodyPr wrap="square" lIns="0" tIns="0" rIns="0" bIns="0" rtlCol="0" anchor="t"/>
          <a:lstStyle/>
          <a:p>
            <a:pPr marL="0" indent="0">
              <a:buNone/>
            </a:pPr>
            <a:r>
              <a:rPr lang="en-US" sz="1800" b="1" dirty="0">
                <a:solidFill>
                  <a:srgbClr val="14213D"/>
                </a:solidFill>
                <a:latin typeface="Calibri" pitchFamily="34" charset="0"/>
                <a:ea typeface="Calibri" pitchFamily="34" charset="-122"/>
                <a:cs typeface="Calibri" pitchFamily="34" charset="-120"/>
              </a:rPr>
              <a:t>TCS at 2%</a:t>
            </a:r>
            <a:endParaRPr lang="en-US" sz="1800" dirty="0"/>
          </a:p>
        </p:txBody>
      </p:sp>
      <p:sp>
        <p:nvSpPr>
          <p:cNvPr id="17" name="Text 14"/>
          <p:cNvSpPr txBox="1"/>
          <p:nvPr/>
        </p:nvSpPr>
        <p:spPr>
          <a:xfrm>
            <a:off x="9784080" y="4224528"/>
            <a:ext cx="1645920" cy="411480"/>
          </a:xfrm>
          <a:prstGeom prst="rect">
            <a:avLst/>
          </a:prstGeom>
          <a:noFill/>
          <a:ln/>
        </p:spPr>
        <p:txBody>
          <a:bodyPr wrap="square" lIns="0" tIns="0" rIns="0" bIns="0" rtlCol="0" anchor="t"/>
          <a:lstStyle/>
          <a:p>
            <a:pPr marL="0" indent="0" algn="r">
              <a:buNone/>
            </a:pPr>
            <a:r>
              <a:rPr lang="en-US" sz="1800" b="1" dirty="0">
                <a:solidFill>
                  <a:srgbClr val="14213D"/>
                </a:solidFill>
                <a:latin typeface="Calibri" pitchFamily="34" charset="0"/>
                <a:ea typeface="Calibri" pitchFamily="34" charset="-122"/>
                <a:cs typeface="Calibri" pitchFamily="34" charset="-120"/>
              </a:rPr>
              <a:t>Rs 10,000</a:t>
            </a:r>
            <a:endParaRPr lang="en-US" sz="1800" dirty="0"/>
          </a:p>
        </p:txBody>
      </p:sp>
      <p:sp>
        <p:nvSpPr>
          <p:cNvPr id="18" name="Text 15"/>
          <p:cNvSpPr txBox="1"/>
          <p:nvPr/>
        </p:nvSpPr>
        <p:spPr>
          <a:xfrm>
            <a:off x="7863840" y="4846320"/>
            <a:ext cx="3566160" cy="731520"/>
          </a:xfrm>
          <a:prstGeom prst="rect">
            <a:avLst/>
          </a:prstGeom>
          <a:noFill/>
          <a:ln/>
        </p:spPr>
        <p:txBody>
          <a:bodyPr wrap="square" lIns="0" tIns="0" rIns="0" bIns="0" rtlCol="0" anchor="t"/>
          <a:lstStyle/>
          <a:p>
            <a:pPr marL="0" indent="0">
              <a:buNone/>
            </a:pPr>
            <a:r>
              <a:rPr lang="en-US" sz="1300" dirty="0">
                <a:solidFill>
                  <a:srgbClr val="5A6378"/>
                </a:solidFill>
                <a:latin typeface="Calibri" pitchFamily="34" charset="0"/>
                <a:ea typeface="Calibri" pitchFamily="34" charset="-122"/>
                <a:cs typeface="Calibri" pitchFamily="34" charset="-120"/>
              </a:rPr>
              <a:t>With an education loan instead (A3): TCS is Rs 0.</a:t>
            </a:r>
            <a:endParaRPr lang="en-US" sz="13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378"/>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Route comparison: the lowest fee is not the cheapest</a:t>
            </a:r>
            <a:endParaRPr lang="en-US" sz="3000" dirty="0"/>
          </a:p>
        </p:txBody>
      </p:sp>
      <p:graphicFrame>
        <p:nvGraphicFramePr>
          <p:cNvPr id="3" name="Chart 0"/>
          <p:cNvGraphicFramePr/>
          <p:nvPr/>
        </p:nvGraphicFramePr>
        <p:xfrm>
          <a:off x="548640" y="1280160"/>
          <a:ext cx="658368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452360" y="1280160"/>
            <a:ext cx="4160520" cy="4206240"/>
          </a:xfrm>
          <a:prstGeom prst="roundRect">
            <a:avLst>
              <a:gd name="adj" fmla="val 2637"/>
            </a:avLst>
          </a:prstGeom>
          <a:solidFill>
            <a:srgbClr val="F3F5F9"/>
          </a:solidFill>
          <a:ln/>
        </p:spPr>
      </p:sp>
      <p:sp>
        <p:nvSpPr>
          <p:cNvPr id="5" name="Text 2"/>
          <p:cNvSpPr txBox="1"/>
          <p:nvPr/>
        </p:nvSpPr>
        <p:spPr>
          <a:xfrm>
            <a:off x="7680960" y="1463040"/>
            <a:ext cx="3749040" cy="365760"/>
          </a:xfrm>
          <a:prstGeom prst="rect">
            <a:avLst/>
          </a:prstGeom>
          <a:noFill/>
          <a:ln/>
        </p:spPr>
        <p:txBody>
          <a:bodyPr wrap="square" lIns="0" tIns="0" rIns="0" bIns="0" rtlCol="0" anchor="t"/>
          <a:lstStyle/>
          <a:p>
            <a:pPr marL="0" indent="0">
              <a:buNone/>
            </a:pPr>
            <a:r>
              <a:rPr lang="en-US" sz="1600" b="1" dirty="0">
                <a:solidFill>
                  <a:srgbClr val="14213D"/>
                </a:solidFill>
                <a:latin typeface="Calibri" pitchFamily="34" charset="0"/>
                <a:ea typeface="Calibri" pitchFamily="34" charset="-122"/>
                <a:cs typeface="Calibri" pitchFamily="34" charset="-120"/>
              </a:rPr>
              <a:t>Why Provider B wins, line by line</a:t>
            </a:r>
            <a:endParaRPr lang="en-US" sz="1600" dirty="0"/>
          </a:p>
        </p:txBody>
      </p:sp>
      <p:sp>
        <p:nvSpPr>
          <p:cNvPr id="6" name="Text 3"/>
          <p:cNvSpPr txBox="1"/>
          <p:nvPr/>
        </p:nvSpPr>
        <p:spPr>
          <a:xfrm>
            <a:off x="7680960" y="2011680"/>
            <a:ext cx="2651760" cy="41148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Better rate (90.20 vs 90.50)</a:t>
            </a:r>
            <a:endParaRPr lang="en-US" sz="1400" dirty="0"/>
          </a:p>
        </p:txBody>
      </p:sp>
      <p:sp>
        <p:nvSpPr>
          <p:cNvPr id="7" name="Text 4"/>
          <p:cNvSpPr txBox="1"/>
          <p:nvPr/>
        </p:nvSpPr>
        <p:spPr>
          <a:xfrm>
            <a:off x="10241280" y="2011680"/>
            <a:ext cx="1188720" cy="411480"/>
          </a:xfrm>
          <a:prstGeom prst="rect">
            <a:avLst/>
          </a:prstGeom>
          <a:noFill/>
          <a:ln/>
        </p:spPr>
        <p:txBody>
          <a:bodyPr wrap="square" lIns="0" tIns="0" rIns="0" bIns="0" rtlCol="0" anchor="t"/>
          <a:lstStyle/>
          <a:p>
            <a:pPr marL="0" indent="0" algn="r">
              <a:buNone/>
            </a:pPr>
            <a:r>
              <a:rPr lang="en-US" sz="1400" b="1" dirty="0">
                <a:solidFill>
                  <a:srgbClr val="1F5FA8"/>
                </a:solidFill>
                <a:latin typeface="Calibri" pitchFamily="34" charset="0"/>
                <a:ea typeface="Calibri" pitchFamily="34" charset="-122"/>
                <a:cs typeface="Calibri" pitchFamily="34" charset="-120"/>
              </a:rPr>
              <a:t>+ Rs 6,000</a:t>
            </a:r>
            <a:endParaRPr lang="en-US" sz="1400" dirty="0"/>
          </a:p>
        </p:txBody>
      </p:sp>
      <p:sp>
        <p:nvSpPr>
          <p:cNvPr id="8" name="Text 5"/>
          <p:cNvSpPr txBox="1"/>
          <p:nvPr/>
        </p:nvSpPr>
        <p:spPr>
          <a:xfrm>
            <a:off x="7680960" y="2514600"/>
            <a:ext cx="2651760" cy="41148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Higher provider fee</a:t>
            </a:r>
            <a:endParaRPr lang="en-US" sz="1400" dirty="0"/>
          </a:p>
        </p:txBody>
      </p:sp>
      <p:sp>
        <p:nvSpPr>
          <p:cNvPr id="9" name="Text 6"/>
          <p:cNvSpPr txBox="1"/>
          <p:nvPr/>
        </p:nvSpPr>
        <p:spPr>
          <a:xfrm>
            <a:off x="10241280" y="2514600"/>
            <a:ext cx="1188720" cy="411480"/>
          </a:xfrm>
          <a:prstGeom prst="rect">
            <a:avLst/>
          </a:prstGeom>
          <a:noFill/>
          <a:ln/>
        </p:spPr>
        <p:txBody>
          <a:bodyPr wrap="square" lIns="0" tIns="0" rIns="0" bIns="0" rtlCol="0" anchor="t"/>
          <a:lstStyle/>
          <a:p>
            <a:pPr marL="0" indent="0" algn="r">
              <a:buNone/>
            </a:pPr>
            <a:r>
              <a:rPr lang="en-US" sz="1400" b="1" dirty="0">
                <a:solidFill>
                  <a:srgbClr val="B4561F"/>
                </a:solidFill>
                <a:latin typeface="Calibri" pitchFamily="34" charset="0"/>
                <a:ea typeface="Calibri" pitchFamily="34" charset="-122"/>
                <a:cs typeface="Calibri" pitchFamily="34" charset="-120"/>
              </a:rPr>
              <a:t>− Rs 1,500</a:t>
            </a:r>
            <a:endParaRPr lang="en-US" sz="1400" dirty="0"/>
          </a:p>
        </p:txBody>
      </p:sp>
      <p:sp>
        <p:nvSpPr>
          <p:cNvPr id="10" name="Text 7"/>
          <p:cNvSpPr txBox="1"/>
          <p:nvPr/>
        </p:nvSpPr>
        <p:spPr>
          <a:xfrm>
            <a:off x="7680960" y="3017520"/>
            <a:ext cx="2651760" cy="41148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Less TCS (less rupees sent)</a:t>
            </a:r>
            <a:endParaRPr lang="en-US" sz="1400" dirty="0"/>
          </a:p>
        </p:txBody>
      </p:sp>
      <p:sp>
        <p:nvSpPr>
          <p:cNvPr id="11" name="Text 8"/>
          <p:cNvSpPr txBox="1"/>
          <p:nvPr/>
        </p:nvSpPr>
        <p:spPr>
          <a:xfrm>
            <a:off x="10241280" y="3017520"/>
            <a:ext cx="1188720" cy="411480"/>
          </a:xfrm>
          <a:prstGeom prst="rect">
            <a:avLst/>
          </a:prstGeom>
          <a:noFill/>
          <a:ln/>
        </p:spPr>
        <p:txBody>
          <a:bodyPr wrap="square" lIns="0" tIns="0" rIns="0" bIns="0" rtlCol="0" anchor="t"/>
          <a:lstStyle/>
          <a:p>
            <a:pPr marL="0" indent="0" algn="r">
              <a:buNone/>
            </a:pPr>
            <a:r>
              <a:rPr lang="en-US" sz="1400" b="1" dirty="0">
                <a:solidFill>
                  <a:srgbClr val="1F5FA8"/>
                </a:solidFill>
                <a:latin typeface="Calibri" pitchFamily="34" charset="0"/>
                <a:ea typeface="Calibri" pitchFamily="34" charset="-122"/>
                <a:cs typeface="Calibri" pitchFamily="34" charset="-120"/>
              </a:rPr>
              <a:t>+ Rs 120</a:t>
            </a:r>
            <a:endParaRPr lang="en-US" sz="1400" dirty="0"/>
          </a:p>
        </p:txBody>
      </p:sp>
      <p:sp>
        <p:nvSpPr>
          <p:cNvPr id="12" name="Shape 9"/>
          <p:cNvSpPr/>
          <p:nvPr/>
        </p:nvSpPr>
        <p:spPr>
          <a:xfrm>
            <a:off x="7680960" y="3584448"/>
            <a:ext cx="3749040" cy="0"/>
          </a:xfrm>
          <a:prstGeom prst="line">
            <a:avLst/>
          </a:prstGeom>
          <a:noFill/>
          <a:ln w="19050">
            <a:solidFill>
              <a:srgbClr val="14213D"/>
            </a:solidFill>
            <a:prstDash val="solid"/>
          </a:ln>
        </p:spPr>
      </p:sp>
      <p:sp>
        <p:nvSpPr>
          <p:cNvPr id="13" name="Text 10"/>
          <p:cNvSpPr txBox="1"/>
          <p:nvPr/>
        </p:nvSpPr>
        <p:spPr>
          <a:xfrm>
            <a:off x="7680960" y="3675888"/>
            <a:ext cx="2286000" cy="411480"/>
          </a:xfrm>
          <a:prstGeom prst="rect">
            <a:avLst/>
          </a:prstGeom>
          <a:noFill/>
          <a:ln/>
        </p:spPr>
        <p:txBody>
          <a:bodyPr wrap="square" lIns="0" tIns="0" rIns="0" bIns="0" rtlCol="0" anchor="t"/>
          <a:lstStyle/>
          <a:p>
            <a:pPr marL="0" indent="0">
              <a:buNone/>
            </a:pPr>
            <a:r>
              <a:rPr lang="en-US" sz="1700" b="1" dirty="0">
                <a:solidFill>
                  <a:srgbClr val="14213D"/>
                </a:solidFill>
                <a:latin typeface="Calibri" pitchFamily="34" charset="0"/>
                <a:ea typeface="Calibri" pitchFamily="34" charset="-122"/>
                <a:cs typeface="Calibri" pitchFamily="34" charset="-120"/>
              </a:rPr>
              <a:t>Saving with B</a:t>
            </a:r>
            <a:endParaRPr lang="en-US" sz="1700" dirty="0"/>
          </a:p>
        </p:txBody>
      </p:sp>
      <p:sp>
        <p:nvSpPr>
          <p:cNvPr id="14" name="Text 11"/>
          <p:cNvSpPr txBox="1"/>
          <p:nvPr/>
        </p:nvSpPr>
        <p:spPr>
          <a:xfrm>
            <a:off x="9966960" y="3675888"/>
            <a:ext cx="1463040" cy="411480"/>
          </a:xfrm>
          <a:prstGeom prst="rect">
            <a:avLst/>
          </a:prstGeom>
          <a:noFill/>
          <a:ln/>
        </p:spPr>
        <p:txBody>
          <a:bodyPr wrap="square" lIns="0" tIns="0" rIns="0" bIns="0" rtlCol="0" anchor="t"/>
          <a:lstStyle/>
          <a:p>
            <a:pPr marL="0" indent="0" algn="r">
              <a:buNone/>
            </a:pPr>
            <a:r>
              <a:rPr lang="en-US" sz="1700" b="1" dirty="0">
                <a:solidFill>
                  <a:srgbClr val="14213D"/>
                </a:solidFill>
                <a:latin typeface="Calibri" pitchFamily="34" charset="0"/>
                <a:ea typeface="Calibri" pitchFamily="34" charset="-122"/>
                <a:cs typeface="Calibri" pitchFamily="34" charset="-120"/>
              </a:rPr>
              <a:t>Rs 4,620</a:t>
            </a:r>
            <a:endParaRPr lang="en-US" sz="1700" dirty="0"/>
          </a:p>
        </p:txBody>
      </p:sp>
      <p:sp>
        <p:nvSpPr>
          <p:cNvPr id="15" name="Text 12"/>
          <p:cNvSpPr txBox="1"/>
          <p:nvPr/>
        </p:nvSpPr>
        <p:spPr>
          <a:xfrm>
            <a:off x="7680960" y="4251960"/>
            <a:ext cx="3749040" cy="1097280"/>
          </a:xfrm>
          <a:prstGeom prst="rect">
            <a:avLst/>
          </a:prstGeom>
          <a:noFill/>
          <a:ln/>
        </p:spPr>
        <p:txBody>
          <a:bodyPr wrap="square" lIns="0" tIns="0" rIns="0" bIns="0" rtlCol="0" anchor="t"/>
          <a:lstStyle/>
          <a:p>
            <a:pPr marL="0" indent="0">
              <a:buNone/>
            </a:pPr>
            <a:r>
              <a:rPr lang="en-US" sz="1300" dirty="0">
                <a:solidFill>
                  <a:srgbClr val="5A6378"/>
                </a:solidFill>
                <a:latin typeface="Calibri" pitchFamily="34" charset="0"/>
                <a:ea typeface="Calibri" pitchFamily="34" charset="-122"/>
                <a:cs typeface="Calibri" pitchFamily="34" charset="-120"/>
              </a:rPr>
              <a:t>Totals: B Rs 18,23,080 vs A Rs 18,27,700. Code writes every line, and the lines add up exactly to the saving.</a:t>
            </a:r>
            <a:endParaRPr lang="en-US" sz="1300" dirty="0"/>
          </a:p>
        </p:txBody>
      </p:sp>
      <p:sp>
        <p:nvSpPr>
          <p:cNvPr id="16" name="Text 13"/>
          <p:cNvSpPr txBox="1"/>
          <p:nvPr/>
        </p:nvSpPr>
        <p:spPr>
          <a:xfrm>
            <a:off x="548640" y="5669280"/>
            <a:ext cx="11064240" cy="457200"/>
          </a:xfrm>
          <a:prstGeom prst="rect">
            <a:avLst/>
          </a:prstGeom>
          <a:noFill/>
          <a:ln/>
        </p:spPr>
        <p:txBody>
          <a:bodyPr wrap="square" lIns="0" tIns="0" rIns="0" bIns="0" rtlCol="0" anchor="t"/>
          <a:lstStyle/>
          <a:p>
            <a:pPr marL="0" indent="0">
              <a:buNone/>
            </a:pPr>
            <a:r>
              <a:rPr lang="en-US" sz="1100" i="1" dirty="0">
                <a:solidFill>
                  <a:srgbClr val="5A6378"/>
                </a:solidFill>
                <a:latin typeface="Calibri" pitchFamily="34" charset="0"/>
                <a:ea typeface="Calibri" pitchFamily="34" charset="-122"/>
                <a:cs typeface="Calibri" pitchFamily="34" charset="-120"/>
              </a:rPr>
              <a:t>Scenario A8, engine output. Mid-market rate 90.00 is the example value from our tests, not a live rate. No GST or correspondent charges in this example.</a:t>
            </a:r>
            <a:endParaRPr lang="en-US" sz="11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3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Security: signatures instead of payee lists</a:t>
            </a:r>
            <a:endParaRPr lang="en-US" sz="3000" dirty="0"/>
          </a:p>
        </p:txBody>
      </p:sp>
      <p:sp>
        <p:nvSpPr>
          <p:cNvPr id="3" name="Text 1"/>
          <p:cNvSpPr txBox="1"/>
          <p:nvPr/>
        </p:nvSpPr>
        <p:spPr>
          <a:xfrm>
            <a:off x="548640" y="1280160"/>
            <a:ext cx="11064240" cy="365760"/>
          </a:xfrm>
          <a:prstGeom prst="rect">
            <a:avLst/>
          </a:prstGeom>
          <a:noFill/>
          <a:ln/>
        </p:spPr>
        <p:txBody>
          <a:bodyPr wrap="square" lIns="0" tIns="0" rIns="0" bIns="0" rtlCol="0" anchor="t"/>
          <a:lstStyle/>
          <a:p>
            <a:pPr marL="0" indent="0">
              <a:buNone/>
            </a:pPr>
            <a:r>
              <a:rPr lang="en-US" sz="1500" b="1" dirty="0">
                <a:solidFill>
                  <a:srgbClr val="1F5FA8"/>
                </a:solidFill>
                <a:latin typeface="Calibri" pitchFamily="34" charset="0"/>
                <a:ea typeface="Calibri" pitchFamily="34" charset="-122"/>
                <a:cs typeface="Calibri" pitchFamily="34" charset="-120"/>
              </a:rPr>
              <a:t>University invoice.  </a:t>
            </a:r>
            <a:r>
              <a:rPr lang="en-US" sz="1500" dirty="0">
                <a:solidFill>
                  <a:srgbClr val="1F2A44"/>
                </a:solidFill>
                <a:latin typeface="Calibri" pitchFamily="34" charset="0"/>
                <a:ea typeface="Calibri" pitchFamily="34" charset="-122"/>
                <a:cs typeface="Calibri" pitchFamily="34" charset="-120"/>
              </a:rPr>
              <a:t>A changed bank account breaks the signature.</a:t>
            </a:r>
            <a:endParaRPr lang="en-US" sz="1500" dirty="0"/>
          </a:p>
        </p:txBody>
      </p:sp>
      <p:sp>
        <p:nvSpPr>
          <p:cNvPr id="4" name="Shape 2"/>
          <p:cNvSpPr/>
          <p:nvPr/>
        </p:nvSpPr>
        <p:spPr>
          <a:xfrm>
            <a:off x="548640" y="1737360"/>
            <a:ext cx="1920240" cy="1325880"/>
          </a:xfrm>
          <a:prstGeom prst="roundRect">
            <a:avLst>
              <a:gd name="adj" fmla="val 8276"/>
            </a:avLst>
          </a:prstGeom>
          <a:solidFill>
            <a:srgbClr val="1F5FA8"/>
          </a:solidFill>
          <a:ln/>
        </p:spPr>
      </p:sp>
      <p:sp>
        <p:nvSpPr>
          <p:cNvPr id="5" name="Text 3"/>
          <p:cNvSpPr txBox="1"/>
          <p:nvPr/>
        </p:nvSpPr>
        <p:spPr>
          <a:xfrm>
            <a:off x="713232" y="1847088"/>
            <a:ext cx="164592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Trust root</a:t>
            </a:r>
            <a:endParaRPr lang="en-US" sz="1500" dirty="0"/>
          </a:p>
        </p:txBody>
      </p:sp>
      <p:sp>
        <p:nvSpPr>
          <p:cNvPr id="6" name="Text 4"/>
          <p:cNvSpPr txBox="1"/>
          <p:nvPr/>
        </p:nvSpPr>
        <p:spPr>
          <a:xfrm>
            <a:off x="713232" y="2194560"/>
            <a:ext cx="1645920" cy="777240"/>
          </a:xfrm>
          <a:prstGeom prst="rect">
            <a:avLst/>
          </a:prstGeom>
          <a:noFill/>
          <a:ln/>
        </p:spPr>
        <p:txBody>
          <a:bodyPr wrap="square" lIns="0" tIns="0" rIns="0" bIns="0" rtlCol="0" anchor="t"/>
          <a:lstStyle/>
          <a:p>
            <a:pPr marL="0" indent="0">
              <a:buNone/>
            </a:pPr>
            <a:r>
              <a:rPr lang="en-US" sz="1300" dirty="0">
                <a:solidFill>
                  <a:srgbClr val="DCE7F5"/>
                </a:solidFill>
                <a:latin typeface="Calibri" pitchFamily="34" charset="0"/>
                <a:ea typeface="Calibri" pitchFamily="34" charset="-122"/>
                <a:cs typeface="Calibri" pitchFamily="34" charset="-120"/>
              </a:rPr>
              <a:t>One key we trust, kept offline</a:t>
            </a:r>
            <a:endParaRPr lang="en-US" sz="1300" dirty="0"/>
          </a:p>
        </p:txBody>
      </p:sp>
      <p:sp>
        <p:nvSpPr>
          <p:cNvPr id="7" name="Shape 5"/>
          <p:cNvSpPr/>
          <p:nvPr/>
        </p:nvSpPr>
        <p:spPr>
          <a:xfrm>
            <a:off x="2496312" y="2286000"/>
            <a:ext cx="274320" cy="237744"/>
          </a:xfrm>
          <a:prstGeom prst="rightArrow">
            <a:avLst/>
          </a:prstGeom>
          <a:solidFill>
            <a:srgbClr val="8A93A6"/>
          </a:solidFill>
          <a:ln/>
        </p:spPr>
      </p:sp>
      <p:sp>
        <p:nvSpPr>
          <p:cNvPr id="8" name="Shape 6"/>
          <p:cNvSpPr/>
          <p:nvPr/>
        </p:nvSpPr>
        <p:spPr>
          <a:xfrm>
            <a:off x="2807208" y="1737360"/>
            <a:ext cx="1920240" cy="1325880"/>
          </a:xfrm>
          <a:prstGeom prst="roundRect">
            <a:avLst>
              <a:gd name="adj" fmla="val 8276"/>
            </a:avLst>
          </a:prstGeom>
          <a:solidFill>
            <a:srgbClr val="1F5FA8"/>
          </a:solidFill>
          <a:ln/>
        </p:spPr>
      </p:sp>
      <p:sp>
        <p:nvSpPr>
          <p:cNvPr id="9" name="Text 7"/>
          <p:cNvSpPr txBox="1"/>
          <p:nvPr/>
        </p:nvSpPr>
        <p:spPr>
          <a:xfrm>
            <a:off x="2971800" y="1847088"/>
            <a:ext cx="164592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Certificate</a:t>
            </a:r>
            <a:endParaRPr lang="en-US" sz="1500" dirty="0"/>
          </a:p>
        </p:txBody>
      </p:sp>
      <p:sp>
        <p:nvSpPr>
          <p:cNvPr id="10" name="Text 8"/>
          <p:cNvSpPr txBox="1"/>
          <p:nvPr/>
        </p:nvSpPr>
        <p:spPr>
          <a:xfrm>
            <a:off x="2971800" y="2194560"/>
            <a:ext cx="1645920" cy="777240"/>
          </a:xfrm>
          <a:prstGeom prst="rect">
            <a:avLst/>
          </a:prstGeom>
          <a:noFill/>
          <a:ln/>
        </p:spPr>
        <p:txBody>
          <a:bodyPr wrap="square" lIns="0" tIns="0" rIns="0" bIns="0" rtlCol="0" anchor="t"/>
          <a:lstStyle/>
          <a:p>
            <a:pPr marL="0" indent="0">
              <a:buNone/>
            </a:pPr>
            <a:r>
              <a:rPr lang="en-US" sz="1300" dirty="0">
                <a:solidFill>
                  <a:srgbClr val="DCE7F5"/>
                </a:solidFill>
                <a:latin typeface="Calibri" pitchFamily="34" charset="0"/>
                <a:ea typeface="Calibri" pitchFamily="34" charset="-122"/>
                <a:cs typeface="Calibri" pitchFamily="34" charset="-120"/>
              </a:rPr>
              <a:t>Names the university and its bank account; not revoked</a:t>
            </a:r>
            <a:endParaRPr lang="en-US" sz="1300" dirty="0"/>
          </a:p>
        </p:txBody>
      </p:sp>
      <p:sp>
        <p:nvSpPr>
          <p:cNvPr id="11" name="Shape 9"/>
          <p:cNvSpPr/>
          <p:nvPr/>
        </p:nvSpPr>
        <p:spPr>
          <a:xfrm>
            <a:off x="4754880" y="2286000"/>
            <a:ext cx="274320" cy="237744"/>
          </a:xfrm>
          <a:prstGeom prst="rightArrow">
            <a:avLst/>
          </a:prstGeom>
          <a:solidFill>
            <a:srgbClr val="8A93A6"/>
          </a:solidFill>
          <a:ln/>
        </p:spPr>
      </p:sp>
      <p:sp>
        <p:nvSpPr>
          <p:cNvPr id="12" name="Shape 10"/>
          <p:cNvSpPr/>
          <p:nvPr/>
        </p:nvSpPr>
        <p:spPr>
          <a:xfrm>
            <a:off x="5065776" y="1737360"/>
            <a:ext cx="1920240" cy="1325880"/>
          </a:xfrm>
          <a:prstGeom prst="roundRect">
            <a:avLst>
              <a:gd name="adj" fmla="val 8276"/>
            </a:avLst>
          </a:prstGeom>
          <a:solidFill>
            <a:srgbClr val="1F5FA8"/>
          </a:solidFill>
          <a:ln/>
        </p:spPr>
      </p:sp>
      <p:sp>
        <p:nvSpPr>
          <p:cNvPr id="13" name="Text 11"/>
          <p:cNvSpPr txBox="1"/>
          <p:nvPr/>
        </p:nvSpPr>
        <p:spPr>
          <a:xfrm>
            <a:off x="5230368" y="1847088"/>
            <a:ext cx="164592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Invoice signature</a:t>
            </a:r>
            <a:endParaRPr lang="en-US" sz="1500" dirty="0"/>
          </a:p>
        </p:txBody>
      </p:sp>
      <p:sp>
        <p:nvSpPr>
          <p:cNvPr id="14" name="Text 12"/>
          <p:cNvSpPr txBox="1"/>
          <p:nvPr/>
        </p:nvSpPr>
        <p:spPr>
          <a:xfrm>
            <a:off x="5230368" y="2194560"/>
            <a:ext cx="1645920" cy="777240"/>
          </a:xfrm>
          <a:prstGeom prst="rect">
            <a:avLst/>
          </a:prstGeom>
          <a:noFill/>
          <a:ln/>
        </p:spPr>
        <p:txBody>
          <a:bodyPr wrap="square" lIns="0" tIns="0" rIns="0" bIns="0" rtlCol="0" anchor="t"/>
          <a:lstStyle/>
          <a:p>
            <a:pPr marL="0" indent="0">
              <a:buNone/>
            </a:pPr>
            <a:r>
              <a:rPr lang="en-US" sz="1300" dirty="0">
                <a:solidFill>
                  <a:srgbClr val="DCE7F5"/>
                </a:solidFill>
                <a:latin typeface="Calibri" pitchFamily="34" charset="0"/>
                <a:ea typeface="Calibri" pitchFamily="34" charset="-122"/>
                <a:cs typeface="Calibri" pitchFamily="34" charset="-120"/>
              </a:rPr>
              <a:t>Made by the university with Ed25519</a:t>
            </a:r>
            <a:endParaRPr lang="en-US" sz="1300" dirty="0"/>
          </a:p>
        </p:txBody>
      </p:sp>
      <p:sp>
        <p:nvSpPr>
          <p:cNvPr id="15" name="Shape 13"/>
          <p:cNvSpPr/>
          <p:nvPr/>
        </p:nvSpPr>
        <p:spPr>
          <a:xfrm>
            <a:off x="7013448" y="2286000"/>
            <a:ext cx="274320" cy="237744"/>
          </a:xfrm>
          <a:prstGeom prst="rightArrow">
            <a:avLst/>
          </a:prstGeom>
          <a:solidFill>
            <a:srgbClr val="8A93A6"/>
          </a:solidFill>
          <a:ln/>
        </p:spPr>
      </p:sp>
      <p:sp>
        <p:nvSpPr>
          <p:cNvPr id="16" name="Shape 14"/>
          <p:cNvSpPr/>
          <p:nvPr/>
        </p:nvSpPr>
        <p:spPr>
          <a:xfrm>
            <a:off x="7324344" y="1737360"/>
            <a:ext cx="1920240" cy="1325880"/>
          </a:xfrm>
          <a:prstGeom prst="roundRect">
            <a:avLst>
              <a:gd name="adj" fmla="val 8276"/>
            </a:avLst>
          </a:prstGeom>
          <a:solidFill>
            <a:srgbClr val="1F5FA8"/>
          </a:solidFill>
          <a:ln/>
        </p:spPr>
      </p:sp>
      <p:sp>
        <p:nvSpPr>
          <p:cNvPr id="17" name="Text 15"/>
          <p:cNvSpPr txBox="1"/>
          <p:nvPr/>
        </p:nvSpPr>
        <p:spPr>
          <a:xfrm>
            <a:off x="7488936" y="1847088"/>
            <a:ext cx="164592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Bank details</a:t>
            </a:r>
            <a:endParaRPr lang="en-US" sz="1500" dirty="0"/>
          </a:p>
        </p:txBody>
      </p:sp>
      <p:sp>
        <p:nvSpPr>
          <p:cNvPr id="18" name="Text 16"/>
          <p:cNvSpPr txBox="1"/>
          <p:nvPr/>
        </p:nvSpPr>
        <p:spPr>
          <a:xfrm>
            <a:off x="7488936" y="2194560"/>
            <a:ext cx="1645920" cy="777240"/>
          </a:xfrm>
          <a:prstGeom prst="rect">
            <a:avLst/>
          </a:prstGeom>
          <a:noFill/>
          <a:ln/>
        </p:spPr>
        <p:txBody>
          <a:bodyPr wrap="square" lIns="0" tIns="0" rIns="0" bIns="0" rtlCol="0" anchor="t"/>
          <a:lstStyle/>
          <a:p>
            <a:pPr marL="0" indent="0">
              <a:buNone/>
            </a:pPr>
            <a:r>
              <a:rPr lang="en-US" sz="1300" dirty="0">
                <a:solidFill>
                  <a:srgbClr val="DCE7F5"/>
                </a:solidFill>
                <a:latin typeface="Calibri" pitchFamily="34" charset="0"/>
                <a:ea typeface="Calibri" pitchFamily="34" charset="-122"/>
                <a:cs typeface="Calibri" pitchFamily="34" charset="-120"/>
              </a:rPr>
              <a:t>Must equal the certificate</a:t>
            </a:r>
            <a:endParaRPr lang="en-US" sz="1300" dirty="0"/>
          </a:p>
        </p:txBody>
      </p:sp>
      <p:sp>
        <p:nvSpPr>
          <p:cNvPr id="19" name="Shape 17"/>
          <p:cNvSpPr/>
          <p:nvPr/>
        </p:nvSpPr>
        <p:spPr>
          <a:xfrm>
            <a:off x="9272016" y="2286000"/>
            <a:ext cx="274320" cy="237744"/>
          </a:xfrm>
          <a:prstGeom prst="rightArrow">
            <a:avLst/>
          </a:prstGeom>
          <a:solidFill>
            <a:srgbClr val="8A93A6"/>
          </a:solidFill>
          <a:ln/>
        </p:spPr>
      </p:sp>
      <p:sp>
        <p:nvSpPr>
          <p:cNvPr id="20" name="Shape 18"/>
          <p:cNvSpPr/>
          <p:nvPr/>
        </p:nvSpPr>
        <p:spPr>
          <a:xfrm>
            <a:off x="9582912" y="1737360"/>
            <a:ext cx="1920240" cy="1325880"/>
          </a:xfrm>
          <a:prstGeom prst="roundRect">
            <a:avLst>
              <a:gd name="adj" fmla="val 8276"/>
            </a:avLst>
          </a:prstGeom>
          <a:solidFill>
            <a:srgbClr val="1F5FA8"/>
          </a:solidFill>
          <a:ln/>
        </p:spPr>
      </p:sp>
      <p:sp>
        <p:nvSpPr>
          <p:cNvPr id="21" name="Text 19"/>
          <p:cNvSpPr txBox="1"/>
          <p:nvPr/>
        </p:nvSpPr>
        <p:spPr>
          <a:xfrm>
            <a:off x="9747504" y="1847088"/>
            <a:ext cx="1645920" cy="36576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Printed text</a:t>
            </a:r>
            <a:endParaRPr lang="en-US" sz="1500" dirty="0"/>
          </a:p>
        </p:txBody>
      </p:sp>
      <p:sp>
        <p:nvSpPr>
          <p:cNvPr id="22" name="Text 20"/>
          <p:cNvSpPr txBox="1"/>
          <p:nvPr/>
        </p:nvSpPr>
        <p:spPr>
          <a:xfrm>
            <a:off x="9747504" y="2194560"/>
            <a:ext cx="1645920" cy="777240"/>
          </a:xfrm>
          <a:prstGeom prst="rect">
            <a:avLst/>
          </a:prstGeom>
          <a:noFill/>
          <a:ln/>
        </p:spPr>
        <p:txBody>
          <a:bodyPr wrap="square" lIns="0" tIns="0" rIns="0" bIns="0" rtlCol="0" anchor="t"/>
          <a:lstStyle/>
          <a:p>
            <a:pPr marL="0" indent="0">
              <a:buNone/>
            </a:pPr>
            <a:r>
              <a:rPr lang="en-US" sz="1300" dirty="0">
                <a:solidFill>
                  <a:srgbClr val="DCE7F5"/>
                </a:solidFill>
                <a:latin typeface="Calibri" pitchFamily="34" charset="0"/>
                <a:ea typeface="Calibri" pitchFamily="34" charset="-122"/>
                <a:cs typeface="Calibri" pitchFamily="34" charset="-120"/>
              </a:rPr>
              <a:t>Must match the signed data; we pay the signed data</a:t>
            </a:r>
            <a:endParaRPr lang="en-US" sz="1300" dirty="0"/>
          </a:p>
        </p:txBody>
      </p:sp>
      <p:sp>
        <p:nvSpPr>
          <p:cNvPr id="23" name="Text 21"/>
          <p:cNvSpPr txBox="1"/>
          <p:nvPr/>
        </p:nvSpPr>
        <p:spPr>
          <a:xfrm>
            <a:off x="548640" y="3429000"/>
            <a:ext cx="11064240" cy="365760"/>
          </a:xfrm>
          <a:prstGeom prst="rect">
            <a:avLst/>
          </a:prstGeom>
          <a:noFill/>
          <a:ln/>
        </p:spPr>
        <p:txBody>
          <a:bodyPr wrap="square" lIns="0" tIns="0" rIns="0" bIns="0" rtlCol="0" anchor="t"/>
          <a:lstStyle/>
          <a:p>
            <a:pPr marL="0" indent="0">
              <a:buNone/>
            </a:pPr>
            <a:r>
              <a:rPr lang="en-US" sz="1500" b="1" dirty="0">
                <a:solidFill>
                  <a:srgbClr val="B4561F"/>
                </a:solidFill>
                <a:latin typeface="Calibri" pitchFamily="34" charset="0"/>
                <a:ea typeface="Calibri" pitchFamily="34" charset="-122"/>
                <a:cs typeface="Calibri" pitchFamily="34" charset="-120"/>
              </a:rPr>
              <a:t>Parent approval.  </a:t>
            </a:r>
            <a:r>
              <a:rPr lang="en-US" sz="1500" dirty="0">
                <a:solidFill>
                  <a:srgbClr val="1F2A44"/>
                </a:solidFill>
                <a:latin typeface="Calibri" pitchFamily="34" charset="0"/>
                <a:ea typeface="Calibri" pitchFamily="34" charset="-122"/>
                <a:cs typeface="Calibri" pitchFamily="34" charset="-120"/>
              </a:rPr>
              <a:t>The agent never holds the parent’s key, so it cannot forge an approval or change the plan.</a:t>
            </a:r>
            <a:endParaRPr lang="en-US" sz="1500" dirty="0"/>
          </a:p>
        </p:txBody>
      </p:sp>
      <p:sp>
        <p:nvSpPr>
          <p:cNvPr id="24" name="Shape 22"/>
          <p:cNvSpPr/>
          <p:nvPr/>
        </p:nvSpPr>
        <p:spPr>
          <a:xfrm>
            <a:off x="548640" y="3886200"/>
            <a:ext cx="1920240" cy="1325880"/>
          </a:xfrm>
          <a:prstGeom prst="roundRect">
            <a:avLst>
              <a:gd name="adj" fmla="val 8276"/>
            </a:avLst>
          </a:prstGeom>
          <a:solidFill>
            <a:srgbClr val="FBEFE3"/>
          </a:solidFill>
          <a:ln w="15875">
            <a:solidFill>
              <a:srgbClr val="B4561F"/>
            </a:solidFill>
            <a:prstDash val="solid"/>
          </a:ln>
        </p:spPr>
      </p:sp>
      <p:sp>
        <p:nvSpPr>
          <p:cNvPr id="25" name="Text 23"/>
          <p:cNvSpPr txBox="1"/>
          <p:nvPr/>
        </p:nvSpPr>
        <p:spPr>
          <a:xfrm>
            <a:off x="713232" y="3995928"/>
            <a:ext cx="1645920" cy="365760"/>
          </a:xfrm>
          <a:prstGeom prst="rect">
            <a:avLst/>
          </a:prstGeom>
          <a:noFill/>
          <a:ln/>
        </p:spPr>
        <p:txBody>
          <a:bodyPr wrap="square" lIns="0" tIns="0" rIns="0" bIns="0" rtlCol="0" anchor="t"/>
          <a:lstStyle/>
          <a:p>
            <a:pPr marL="0" indent="0">
              <a:buNone/>
            </a:pPr>
            <a:r>
              <a:rPr lang="en-US" sz="1500" b="1" dirty="0">
                <a:solidFill>
                  <a:srgbClr val="14213D"/>
                </a:solidFill>
                <a:latin typeface="Calibri" pitchFamily="34" charset="0"/>
                <a:ea typeface="Calibri" pitchFamily="34" charset="-122"/>
                <a:cs typeface="Calibri" pitchFamily="34" charset="-120"/>
              </a:rPr>
              <a:t>Device key</a:t>
            </a:r>
            <a:endParaRPr lang="en-US" sz="1500" dirty="0"/>
          </a:p>
        </p:txBody>
      </p:sp>
      <p:sp>
        <p:nvSpPr>
          <p:cNvPr id="26" name="Text 24"/>
          <p:cNvSpPr txBox="1"/>
          <p:nvPr/>
        </p:nvSpPr>
        <p:spPr>
          <a:xfrm>
            <a:off x="713232" y="4343400"/>
            <a:ext cx="1645920" cy="77724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Made in the browser; cannot be exported</a:t>
            </a:r>
            <a:endParaRPr lang="en-US" sz="1300" dirty="0"/>
          </a:p>
        </p:txBody>
      </p:sp>
      <p:sp>
        <p:nvSpPr>
          <p:cNvPr id="27" name="Shape 25"/>
          <p:cNvSpPr/>
          <p:nvPr/>
        </p:nvSpPr>
        <p:spPr>
          <a:xfrm>
            <a:off x="2496312" y="4434840"/>
            <a:ext cx="274320" cy="237744"/>
          </a:xfrm>
          <a:prstGeom prst="rightArrow">
            <a:avLst/>
          </a:prstGeom>
          <a:solidFill>
            <a:srgbClr val="8A93A6"/>
          </a:solidFill>
          <a:ln/>
        </p:spPr>
      </p:sp>
      <p:sp>
        <p:nvSpPr>
          <p:cNvPr id="28" name="Shape 26"/>
          <p:cNvSpPr/>
          <p:nvPr/>
        </p:nvSpPr>
        <p:spPr>
          <a:xfrm>
            <a:off x="2807208" y="3886200"/>
            <a:ext cx="1920240" cy="1325880"/>
          </a:xfrm>
          <a:prstGeom prst="roundRect">
            <a:avLst>
              <a:gd name="adj" fmla="val 8276"/>
            </a:avLst>
          </a:prstGeom>
          <a:solidFill>
            <a:srgbClr val="FBEFE3"/>
          </a:solidFill>
          <a:ln w="15875">
            <a:solidFill>
              <a:srgbClr val="B4561F"/>
            </a:solidFill>
            <a:prstDash val="solid"/>
          </a:ln>
        </p:spPr>
      </p:sp>
      <p:sp>
        <p:nvSpPr>
          <p:cNvPr id="29" name="Text 27"/>
          <p:cNvSpPr txBox="1"/>
          <p:nvPr/>
        </p:nvSpPr>
        <p:spPr>
          <a:xfrm>
            <a:off x="2971800" y="3995928"/>
            <a:ext cx="1645920" cy="365760"/>
          </a:xfrm>
          <a:prstGeom prst="rect">
            <a:avLst/>
          </a:prstGeom>
          <a:noFill/>
          <a:ln/>
        </p:spPr>
        <p:txBody>
          <a:bodyPr wrap="square" lIns="0" tIns="0" rIns="0" bIns="0" rtlCol="0" anchor="t"/>
          <a:lstStyle/>
          <a:p>
            <a:pPr marL="0" indent="0">
              <a:buNone/>
            </a:pPr>
            <a:r>
              <a:rPr lang="en-US" sz="1500" b="1" dirty="0">
                <a:solidFill>
                  <a:srgbClr val="14213D"/>
                </a:solidFill>
                <a:latin typeface="Calibri" pitchFamily="34" charset="0"/>
                <a:ea typeface="Calibri" pitchFamily="34" charset="-122"/>
                <a:cs typeface="Calibri" pitchFamily="34" charset="-120"/>
              </a:rPr>
              <a:t>Register</a:t>
            </a:r>
            <a:endParaRPr lang="en-US" sz="1500" dirty="0"/>
          </a:p>
        </p:txBody>
      </p:sp>
      <p:sp>
        <p:nvSpPr>
          <p:cNvPr id="30" name="Text 28"/>
          <p:cNvSpPr txBox="1"/>
          <p:nvPr/>
        </p:nvSpPr>
        <p:spPr>
          <a:xfrm>
            <a:off x="2971800" y="4343400"/>
            <a:ext cx="1645920" cy="777240"/>
          </a:xfrm>
          <a:prstGeom prst="rect">
            <a:avLst/>
          </a:prstGeom>
          <a:noFill/>
          <a:ln/>
        </p:spPr>
        <p:txBody>
          <a:bodyPr wrap="square" lIns="0" tIns="0" rIns="0" bIns="0" rtlCol="0" anchor="t"/>
          <a:lstStyle/>
          <a:p>
            <a:pPr marL="0" indent="0">
              <a:buNone/>
            </a:pPr>
            <a:r>
              <a:rPr lang="en-US" sz="1300">
                <a:solidFill>
                  <a:srgbClr val="1F2A44"/>
                </a:solidFill>
                <a:latin typeface="Calibri" pitchFamily="34" charset="0"/>
                <a:ea typeface="Calibri" pitchFamily="34" charset="-122"/>
                <a:cs typeface="Calibri" pitchFamily="34" charset="-120"/>
              </a:rPr>
              <a:t>Public key only; PIN plus a parent device's approval</a:t>
            </a:r>
            <a:endParaRPr lang="en-US" sz="1300" dirty="0"/>
          </a:p>
        </p:txBody>
      </p:sp>
      <p:sp>
        <p:nvSpPr>
          <p:cNvPr id="31" name="Shape 29"/>
          <p:cNvSpPr/>
          <p:nvPr/>
        </p:nvSpPr>
        <p:spPr>
          <a:xfrm>
            <a:off x="4754880" y="4434840"/>
            <a:ext cx="274320" cy="237744"/>
          </a:xfrm>
          <a:prstGeom prst="rightArrow">
            <a:avLst/>
          </a:prstGeom>
          <a:solidFill>
            <a:srgbClr val="8A93A6"/>
          </a:solidFill>
          <a:ln/>
        </p:spPr>
      </p:sp>
      <p:sp>
        <p:nvSpPr>
          <p:cNvPr id="32" name="Shape 30"/>
          <p:cNvSpPr/>
          <p:nvPr/>
        </p:nvSpPr>
        <p:spPr>
          <a:xfrm>
            <a:off x="5065776" y="3886200"/>
            <a:ext cx="1920240" cy="1325880"/>
          </a:xfrm>
          <a:prstGeom prst="roundRect">
            <a:avLst>
              <a:gd name="adj" fmla="val 8276"/>
            </a:avLst>
          </a:prstGeom>
          <a:solidFill>
            <a:srgbClr val="FBEFE3"/>
          </a:solidFill>
          <a:ln w="15875">
            <a:solidFill>
              <a:srgbClr val="B4561F"/>
            </a:solidFill>
            <a:prstDash val="solid"/>
          </a:ln>
        </p:spPr>
      </p:sp>
      <p:sp>
        <p:nvSpPr>
          <p:cNvPr id="33" name="Text 31"/>
          <p:cNvSpPr txBox="1"/>
          <p:nvPr/>
        </p:nvSpPr>
        <p:spPr>
          <a:xfrm>
            <a:off x="5230368" y="3995928"/>
            <a:ext cx="1645920" cy="365760"/>
          </a:xfrm>
          <a:prstGeom prst="rect">
            <a:avLst/>
          </a:prstGeom>
          <a:noFill/>
          <a:ln/>
        </p:spPr>
        <p:txBody>
          <a:bodyPr wrap="square" lIns="0" tIns="0" rIns="0" bIns="0" rtlCol="0" anchor="t"/>
          <a:lstStyle/>
          <a:p>
            <a:pPr marL="0" indent="0">
              <a:buNone/>
            </a:pPr>
            <a:r>
              <a:rPr lang="en-US" sz="1500" b="1" dirty="0">
                <a:solidFill>
                  <a:srgbClr val="14213D"/>
                </a:solidFill>
                <a:latin typeface="Calibri" pitchFamily="34" charset="0"/>
                <a:ea typeface="Calibri" pitchFamily="34" charset="-122"/>
                <a:cs typeface="Calibri" pitchFamily="34" charset="-120"/>
              </a:rPr>
              <a:t>Recompute</a:t>
            </a:r>
            <a:endParaRPr lang="en-US" sz="1500" dirty="0"/>
          </a:p>
        </p:txBody>
      </p:sp>
      <p:sp>
        <p:nvSpPr>
          <p:cNvPr id="34" name="Text 32"/>
          <p:cNvSpPr txBox="1"/>
          <p:nvPr/>
        </p:nvSpPr>
        <p:spPr>
          <a:xfrm>
            <a:off x="5230368" y="4343400"/>
            <a:ext cx="1645920" cy="77724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The browser re-derives the plan hash itself</a:t>
            </a:r>
            <a:endParaRPr lang="en-US" sz="1300" dirty="0"/>
          </a:p>
        </p:txBody>
      </p:sp>
      <p:sp>
        <p:nvSpPr>
          <p:cNvPr id="35" name="Shape 33"/>
          <p:cNvSpPr/>
          <p:nvPr/>
        </p:nvSpPr>
        <p:spPr>
          <a:xfrm>
            <a:off x="7013448" y="4434840"/>
            <a:ext cx="274320" cy="237744"/>
          </a:xfrm>
          <a:prstGeom prst="rightArrow">
            <a:avLst/>
          </a:prstGeom>
          <a:solidFill>
            <a:srgbClr val="8A93A6"/>
          </a:solidFill>
          <a:ln/>
        </p:spPr>
      </p:sp>
      <p:sp>
        <p:nvSpPr>
          <p:cNvPr id="36" name="Shape 34"/>
          <p:cNvSpPr/>
          <p:nvPr/>
        </p:nvSpPr>
        <p:spPr>
          <a:xfrm>
            <a:off x="7324344" y="3886200"/>
            <a:ext cx="1920240" cy="1325880"/>
          </a:xfrm>
          <a:prstGeom prst="roundRect">
            <a:avLst>
              <a:gd name="adj" fmla="val 8276"/>
            </a:avLst>
          </a:prstGeom>
          <a:solidFill>
            <a:srgbClr val="FBEFE3"/>
          </a:solidFill>
          <a:ln w="15875">
            <a:solidFill>
              <a:srgbClr val="B4561F"/>
            </a:solidFill>
            <a:prstDash val="solid"/>
          </a:ln>
        </p:spPr>
      </p:sp>
      <p:sp>
        <p:nvSpPr>
          <p:cNvPr id="37" name="Text 35"/>
          <p:cNvSpPr txBox="1"/>
          <p:nvPr/>
        </p:nvSpPr>
        <p:spPr>
          <a:xfrm>
            <a:off x="7488936" y="3995928"/>
            <a:ext cx="1645920" cy="365760"/>
          </a:xfrm>
          <a:prstGeom prst="rect">
            <a:avLst/>
          </a:prstGeom>
          <a:noFill/>
          <a:ln/>
        </p:spPr>
        <p:txBody>
          <a:bodyPr wrap="square" lIns="0" tIns="0" rIns="0" bIns="0" rtlCol="0" anchor="t"/>
          <a:lstStyle/>
          <a:p>
            <a:pPr marL="0" indent="0">
              <a:buNone/>
            </a:pPr>
            <a:r>
              <a:rPr lang="en-US" sz="1500" b="1" dirty="0">
                <a:solidFill>
                  <a:srgbClr val="14213D"/>
                </a:solidFill>
                <a:latin typeface="Calibri" pitchFamily="34" charset="0"/>
                <a:ea typeface="Calibri" pitchFamily="34" charset="-122"/>
                <a:cs typeface="Calibri" pitchFamily="34" charset="-120"/>
              </a:rPr>
              <a:t>Sign</a:t>
            </a:r>
            <a:endParaRPr lang="en-US" sz="1500" dirty="0"/>
          </a:p>
        </p:txBody>
      </p:sp>
      <p:sp>
        <p:nvSpPr>
          <p:cNvPr id="38" name="Text 36"/>
          <p:cNvSpPr txBox="1"/>
          <p:nvPr/>
        </p:nvSpPr>
        <p:spPr>
          <a:xfrm>
            <a:off x="7488936" y="4343400"/>
            <a:ext cx="1645920" cy="77724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The approval for that exact plan</a:t>
            </a:r>
            <a:endParaRPr lang="en-US" sz="1300" dirty="0"/>
          </a:p>
        </p:txBody>
      </p:sp>
      <p:sp>
        <p:nvSpPr>
          <p:cNvPr id="39" name="Shape 37"/>
          <p:cNvSpPr/>
          <p:nvPr/>
        </p:nvSpPr>
        <p:spPr>
          <a:xfrm>
            <a:off x="9272016" y="4434840"/>
            <a:ext cx="274320" cy="237744"/>
          </a:xfrm>
          <a:prstGeom prst="rightArrow">
            <a:avLst/>
          </a:prstGeom>
          <a:solidFill>
            <a:srgbClr val="8A93A6"/>
          </a:solidFill>
          <a:ln/>
        </p:spPr>
      </p:sp>
      <p:sp>
        <p:nvSpPr>
          <p:cNvPr id="40" name="Shape 38"/>
          <p:cNvSpPr/>
          <p:nvPr/>
        </p:nvSpPr>
        <p:spPr>
          <a:xfrm>
            <a:off x="9582912" y="3886200"/>
            <a:ext cx="1920240" cy="1325880"/>
          </a:xfrm>
          <a:prstGeom prst="roundRect">
            <a:avLst>
              <a:gd name="adj" fmla="val 8276"/>
            </a:avLst>
          </a:prstGeom>
          <a:solidFill>
            <a:srgbClr val="FBEFE3"/>
          </a:solidFill>
          <a:ln w="15875">
            <a:solidFill>
              <a:srgbClr val="B4561F"/>
            </a:solidFill>
            <a:prstDash val="solid"/>
          </a:ln>
        </p:spPr>
      </p:sp>
      <p:sp>
        <p:nvSpPr>
          <p:cNvPr id="41" name="Text 39"/>
          <p:cNvSpPr txBox="1"/>
          <p:nvPr/>
        </p:nvSpPr>
        <p:spPr>
          <a:xfrm>
            <a:off x="9747504" y="3995928"/>
            <a:ext cx="1645920" cy="365760"/>
          </a:xfrm>
          <a:prstGeom prst="rect">
            <a:avLst/>
          </a:prstGeom>
          <a:noFill/>
          <a:ln/>
        </p:spPr>
        <p:txBody>
          <a:bodyPr wrap="square" lIns="0" tIns="0" rIns="0" bIns="0" rtlCol="0" anchor="t"/>
          <a:lstStyle/>
          <a:p>
            <a:pPr marL="0" indent="0">
              <a:buNone/>
            </a:pPr>
            <a:r>
              <a:rPr lang="en-US" sz="1500" b="1" dirty="0">
                <a:solidFill>
                  <a:srgbClr val="14213D"/>
                </a:solidFill>
                <a:latin typeface="Calibri" pitchFamily="34" charset="0"/>
                <a:ea typeface="Calibri" pitchFamily="34" charset="-122"/>
                <a:cs typeface="Calibri" pitchFamily="34" charset="-120"/>
              </a:rPr>
              <a:t>Verify</a:t>
            </a:r>
            <a:endParaRPr lang="en-US" sz="1500" dirty="0"/>
          </a:p>
        </p:txBody>
      </p:sp>
      <p:sp>
        <p:nvSpPr>
          <p:cNvPr id="42" name="Text 40"/>
          <p:cNvSpPr txBox="1"/>
          <p:nvPr/>
        </p:nvSpPr>
        <p:spPr>
          <a:xfrm>
            <a:off x="9747504" y="4343400"/>
            <a:ext cx="1645920" cy="77724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Policy gate checks it before any payment</a:t>
            </a:r>
            <a:endParaRPr lang="en-US" sz="1300" dirty="0"/>
          </a:p>
        </p:txBody>
      </p:sp>
      <p:sp>
        <p:nvSpPr>
          <p:cNvPr id="43" name="Shape 41"/>
          <p:cNvSpPr/>
          <p:nvPr/>
        </p:nvSpPr>
        <p:spPr>
          <a:xfrm>
            <a:off x="548640" y="5532120"/>
            <a:ext cx="11064240" cy="640080"/>
          </a:xfrm>
          <a:prstGeom prst="roundRect">
            <a:avLst>
              <a:gd name="adj" fmla="val 17143"/>
            </a:avLst>
          </a:prstGeom>
          <a:solidFill>
            <a:srgbClr val="F3F5F9"/>
          </a:solidFill>
          <a:ln/>
        </p:spPr>
      </p:sp>
      <p:sp>
        <p:nvSpPr>
          <p:cNvPr id="44" name="Text 42"/>
          <p:cNvSpPr txBox="1"/>
          <p:nvPr/>
        </p:nvSpPr>
        <p:spPr>
          <a:xfrm>
            <a:off x="777240" y="5532120"/>
            <a:ext cx="10698480" cy="640080"/>
          </a:xfrm>
          <a:prstGeom prst="rect">
            <a:avLst/>
          </a:prstGeom>
          <a:noFill/>
          <a:ln/>
        </p:spPr>
        <p:txBody>
          <a:bodyPr wrap="square" lIns="0" tIns="0" rIns="0" bIns="0" rtlCol="0" anchor="ctr"/>
          <a:lstStyle/>
          <a:p>
            <a:pPr marL="0" indent="0">
              <a:buNone/>
            </a:pPr>
            <a:r>
              <a:rPr lang="en-US" sz="1400" dirty="0">
                <a:solidFill>
                  <a:srgbClr val="1F2A44"/>
                </a:solidFill>
                <a:latin typeface="Calibri" pitchFamily="34" charset="0"/>
                <a:ea typeface="Calibri" pitchFamily="34" charset="-122"/>
                <a:cs typeface="Calibri" pitchFamily="34" charset="-120"/>
              </a:rPr>
              <a:t>Ed25519 written in plain Python following RFC 8032, nothing to install; checked against the RFC test vectors and a signature made by the browser’s WebCrypto.</a:t>
            </a:r>
            <a:endParaRPr lang="en-US" sz="1400" dirty="0"/>
          </a:p>
        </p:txBody>
      </p:sp>
      <p:sp>
        <p:nvSpPr>
          <p:cNvPr id="4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3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Defence in depth: each layer assumes the one before can fail</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760720" cy="914400"/>
        </p:xfrm>
        <a:graphic>
          <a:graphicData uri="http://schemas.openxmlformats.org/drawingml/2006/table">
            <a:tbl>
              <a:tblPr/>
              <a:tblGrid>
                <a:gridCol w="6400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50292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the agent may do</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Approval</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T0</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Read the invoice, check signatures</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T1</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Compute and draft</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T2</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Save or share drafts</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A click</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B4561F"/>
                          </a:solidFill>
                          <a:latin typeface="Calibri" pitchFamily="34" charset="0"/>
                          <a:ea typeface="Calibri" pitchFamily="34" charset="-122"/>
                          <a:cs typeface="Calibri" pitchFamily="34" charset="-120"/>
                        </a:rPr>
                        <a:t>T3</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Sandbox payment to a signature-verified payee</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PIN + parent device signature over the plan hash</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300" b="1" dirty="0">
                          <a:solidFill>
                            <a:srgbClr val="B4561F"/>
                          </a:solidFill>
                          <a:latin typeface="Calibri" pitchFamily="34" charset="0"/>
                          <a:ea typeface="Calibri" pitchFamily="34" charset="-122"/>
                          <a:cs typeface="Calibri" pitchFamily="34" charset="-120"/>
                        </a:rPr>
                        <a:t>T4</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dirty="0">
                          <a:solidFill>
                            <a:srgbClr val="1F2A44"/>
                          </a:solidFill>
                          <a:latin typeface="Calibri" pitchFamily="34" charset="0"/>
                          <a:ea typeface="Calibri" pitchFamily="34" charset="-122"/>
                          <a:cs typeface="Calibri" pitchFamily="34" charset="-120"/>
                        </a:rPr>
                        <a:t>New or unverified payee, change limits, skip approval</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tc>
                  <a:txBody>
                    <a:bodyPr/>
                    <a:lstStyle/>
                    <a:p>
                      <a:pPr marL="0" indent="0">
                        <a:buNone/>
                      </a:pPr>
                      <a:r>
                        <a:rPr lang="en-US" sz="1300" b="1" dirty="0">
                          <a:solidFill>
                            <a:srgbClr val="B4561F"/>
                          </a:solidFill>
                          <a:latin typeface="Calibri" pitchFamily="34" charset="0"/>
                          <a:ea typeface="Calibri" pitchFamily="34" charset="-122"/>
                          <a:cs typeface="Calibri" pitchFamily="34" charset="-120"/>
                        </a:rPr>
                        <a:t>Never</a:t>
                      </a:r>
                      <a:endParaRPr lang="en-US" sz="1300" dirty="0">
                        <a:latin typeface="Calibri" charset="0"/>
                        <a:ea typeface="Calibri" charset="0"/>
                        <a:cs typeface="Calibri" charset="0"/>
                      </a:endParaRPr>
                    </a:p>
                  </a:txBody>
                  <a:tcPr marL="73152" marR="73152" marT="73152" marB="73152"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txBox="1"/>
          <p:nvPr/>
        </p:nvSpPr>
        <p:spPr>
          <a:xfrm>
            <a:off x="548640" y="4846320"/>
            <a:ext cx="5760720" cy="118872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The AI model has no payment tool. Every tool call passes the policy gate. Sign-in is passwordless: the device signs a one-time 2-minute challenge, and a new device needs a parent device’s signature.</a:t>
            </a:r>
            <a:endParaRPr lang="en-US" sz="1400" dirty="0"/>
          </a:p>
        </p:txBody>
      </p:sp>
      <p:sp>
        <p:nvSpPr>
          <p:cNvPr id="5" name="Shape 2"/>
          <p:cNvSpPr/>
          <p:nvPr/>
        </p:nvSpPr>
        <p:spPr>
          <a:xfrm>
            <a:off x="6583680" y="1371600"/>
            <a:ext cx="2423160" cy="1463040"/>
          </a:xfrm>
          <a:prstGeom prst="roundRect">
            <a:avLst>
              <a:gd name="adj" fmla="val 7500"/>
            </a:avLst>
          </a:prstGeom>
          <a:solidFill>
            <a:srgbClr val="F3F5F9"/>
          </a:solidFill>
          <a:ln/>
        </p:spPr>
      </p:sp>
      <p:sp>
        <p:nvSpPr>
          <p:cNvPr id="6" name="Text 3"/>
          <p:cNvSpPr txBox="1"/>
          <p:nvPr/>
        </p:nvSpPr>
        <p:spPr>
          <a:xfrm>
            <a:off x="6748272" y="1499616"/>
            <a:ext cx="2103120" cy="320040"/>
          </a:xfrm>
          <a:prstGeom prst="rect">
            <a:avLst/>
          </a:prstGeom>
          <a:noFill/>
          <a:ln/>
        </p:spPr>
        <p:txBody>
          <a:bodyPr wrap="square" lIns="0" tIns="0" rIns="0" bIns="0" rtlCol="0" anchor="t"/>
          <a:lstStyle/>
          <a:p>
            <a:pPr marL="0" indent="0">
              <a:buNone/>
            </a:pPr>
            <a:r>
              <a:rPr lang="en-US" sz="1400" b="1" dirty="0">
                <a:solidFill>
                  <a:srgbClr val="1F5FA8"/>
                </a:solidFill>
                <a:latin typeface="Calibri" pitchFamily="34" charset="0"/>
                <a:ea typeface="Calibri" pitchFamily="34" charset="-122"/>
                <a:cs typeface="Calibri" pitchFamily="34" charset="-120"/>
              </a:rPr>
              <a:t>Masking</a:t>
            </a:r>
            <a:endParaRPr lang="en-US" sz="1400" dirty="0"/>
          </a:p>
        </p:txBody>
      </p:sp>
      <p:sp>
        <p:nvSpPr>
          <p:cNvPr id="7" name="Text 4"/>
          <p:cNvSpPr txBox="1"/>
          <p:nvPr/>
        </p:nvSpPr>
        <p:spPr>
          <a:xfrm>
            <a:off x="6748272" y="1828800"/>
            <a:ext cx="2130552" cy="960120"/>
          </a:xfrm>
          <a:prstGeom prst="rect">
            <a:avLst/>
          </a:prstGeom>
          <a:noFill/>
          <a:ln/>
        </p:spPr>
        <p:txBody>
          <a:bodyPr wrap="square" lIns="0" tIns="0" rIns="0" bIns="0" rtlCol="0" anchor="t"/>
          <a:lstStyle/>
          <a:p>
            <a:pPr marL="0" indent="0">
              <a:buNone/>
            </a:pPr>
            <a:r>
              <a:rPr lang="en-US" sz="1200" dirty="0">
                <a:solidFill>
                  <a:srgbClr val="1F2A44"/>
                </a:solidFill>
                <a:latin typeface="Calibri" pitchFamily="34" charset="0"/>
                <a:ea typeface="Calibri" pitchFamily="34" charset="-122"/>
                <a:cs typeface="Calibri" pitchFamily="34" charset="-120"/>
              </a:rPr>
              <a:t>PAN, Aadhaar, passport, account, phone and names become tokens before the AI sees text</a:t>
            </a:r>
            <a:endParaRPr lang="en-US" sz="1200" dirty="0"/>
          </a:p>
        </p:txBody>
      </p:sp>
      <p:sp>
        <p:nvSpPr>
          <p:cNvPr id="8" name="Shape 5"/>
          <p:cNvSpPr/>
          <p:nvPr/>
        </p:nvSpPr>
        <p:spPr>
          <a:xfrm>
            <a:off x="9144000" y="1371600"/>
            <a:ext cx="2423160" cy="1463040"/>
          </a:xfrm>
          <a:prstGeom prst="roundRect">
            <a:avLst>
              <a:gd name="adj" fmla="val 7500"/>
            </a:avLst>
          </a:prstGeom>
          <a:solidFill>
            <a:srgbClr val="F3F5F9"/>
          </a:solidFill>
          <a:ln/>
        </p:spPr>
      </p:sp>
      <p:sp>
        <p:nvSpPr>
          <p:cNvPr id="3" name="Text 6"/>
          <p:cNvSpPr txBox="1"/>
          <p:nvPr/>
        </p:nvSpPr>
        <p:spPr>
          <a:xfrm>
            <a:off x="9308592" y="1499616"/>
            <a:ext cx="2103120" cy="320040"/>
          </a:xfrm>
          <a:prstGeom prst="rect">
            <a:avLst/>
          </a:prstGeom>
          <a:noFill/>
          <a:ln/>
        </p:spPr>
        <p:txBody>
          <a:bodyPr wrap="square" lIns="0" tIns="0" rIns="0" bIns="0" rtlCol="0" anchor="t"/>
          <a:lstStyle/>
          <a:p>
            <a:pPr marL="0" indent="0">
              <a:buNone/>
            </a:pPr>
            <a:r>
              <a:rPr lang="en-US" sz="1400" b="1" dirty="0">
                <a:solidFill>
                  <a:srgbClr val="1F5FA8"/>
                </a:solidFill>
                <a:latin typeface="Calibri" pitchFamily="34" charset="0"/>
                <a:ea typeface="Calibri" pitchFamily="34" charset="-122"/>
                <a:cs typeface="Calibri" pitchFamily="34" charset="-120"/>
              </a:rPr>
              <a:t>Grounding check</a:t>
            </a:r>
            <a:endParaRPr lang="en-US" sz="1400" dirty="0"/>
          </a:p>
        </p:txBody>
      </p:sp>
      <p:sp>
        <p:nvSpPr>
          <p:cNvPr id="10" name="Text 7"/>
          <p:cNvSpPr txBox="1"/>
          <p:nvPr/>
        </p:nvSpPr>
        <p:spPr>
          <a:xfrm>
            <a:off x="9308592" y="1828800"/>
            <a:ext cx="2130552" cy="960120"/>
          </a:xfrm>
          <a:prstGeom prst="rect">
            <a:avLst/>
          </a:prstGeom>
          <a:noFill/>
          <a:ln/>
        </p:spPr>
        <p:txBody>
          <a:bodyPr wrap="square" lIns="0" tIns="0" rIns="0" bIns="0" rtlCol="0" anchor="t"/>
          <a:lstStyle/>
          <a:p>
            <a:pPr marL="0" indent="0">
              <a:buNone/>
            </a:pPr>
            <a:r>
              <a:rPr lang="en-US" sz="1200" dirty="0">
                <a:solidFill>
                  <a:srgbClr val="1F2A44"/>
                </a:solidFill>
                <a:latin typeface="Calibri" pitchFamily="34" charset="0"/>
                <a:ea typeface="Calibri" pitchFamily="34" charset="-122"/>
                <a:cs typeface="Calibri" pitchFamily="34" charset="-120"/>
              </a:rPr>
              <a:t>Every number the AI writes must match the engine, or the engine’s text is shown</a:t>
            </a:r>
            <a:endParaRPr lang="en-US" sz="1200" dirty="0"/>
          </a:p>
        </p:txBody>
      </p:sp>
      <p:sp>
        <p:nvSpPr>
          <p:cNvPr id="11" name="Shape 8"/>
          <p:cNvSpPr/>
          <p:nvPr/>
        </p:nvSpPr>
        <p:spPr>
          <a:xfrm>
            <a:off x="6583680" y="2971800"/>
            <a:ext cx="2423160" cy="1463040"/>
          </a:xfrm>
          <a:prstGeom prst="roundRect">
            <a:avLst>
              <a:gd name="adj" fmla="val 7500"/>
            </a:avLst>
          </a:prstGeom>
          <a:solidFill>
            <a:srgbClr val="F3F5F9"/>
          </a:solidFill>
          <a:ln/>
        </p:spPr>
      </p:sp>
      <p:sp>
        <p:nvSpPr>
          <p:cNvPr id="12" name="Text 9"/>
          <p:cNvSpPr txBox="1"/>
          <p:nvPr/>
        </p:nvSpPr>
        <p:spPr>
          <a:xfrm>
            <a:off x="6748272" y="3099816"/>
            <a:ext cx="2103120" cy="320040"/>
          </a:xfrm>
          <a:prstGeom prst="rect">
            <a:avLst/>
          </a:prstGeom>
          <a:noFill/>
          <a:ln/>
        </p:spPr>
        <p:txBody>
          <a:bodyPr wrap="square" lIns="0" tIns="0" rIns="0" bIns="0" rtlCol="0" anchor="t"/>
          <a:lstStyle/>
          <a:p>
            <a:pPr marL="0" indent="0">
              <a:buNone/>
            </a:pPr>
            <a:r>
              <a:rPr lang="en-US" sz="1400" b="1" dirty="0">
                <a:solidFill>
                  <a:srgbClr val="1F5FA8"/>
                </a:solidFill>
                <a:latin typeface="Calibri" pitchFamily="34" charset="0"/>
                <a:ea typeface="Calibri" pitchFamily="34" charset="-122"/>
                <a:cs typeface="Calibri" pitchFamily="34" charset="-120"/>
              </a:rPr>
              <a:t>Text scanner</a:t>
            </a:r>
            <a:endParaRPr lang="en-US" sz="1400" dirty="0"/>
          </a:p>
        </p:txBody>
      </p:sp>
      <p:sp>
        <p:nvSpPr>
          <p:cNvPr id="13" name="Text 10"/>
          <p:cNvSpPr txBox="1"/>
          <p:nvPr/>
        </p:nvSpPr>
        <p:spPr>
          <a:xfrm>
            <a:off x="6748272" y="3429000"/>
            <a:ext cx="2130552" cy="960120"/>
          </a:xfrm>
          <a:prstGeom prst="rect">
            <a:avLst/>
          </a:prstGeom>
          <a:noFill/>
          <a:ln/>
        </p:spPr>
        <p:txBody>
          <a:bodyPr wrap="square" lIns="0" tIns="0" rIns="0" bIns="0" rtlCol="0" anchor="t"/>
          <a:lstStyle/>
          <a:p>
            <a:pPr marL="0" indent="0">
              <a:buNone/>
            </a:pPr>
            <a:r>
              <a:rPr lang="en-US" sz="1200" dirty="0">
                <a:solidFill>
                  <a:srgbClr val="1F2A44"/>
                </a:solidFill>
                <a:latin typeface="Calibri" pitchFamily="34" charset="0"/>
                <a:ea typeface="Calibri" pitchFamily="34" charset="-122"/>
                <a:cs typeface="Calibri" pitchFamily="34" charset="-120"/>
              </a:rPr>
              <a:t>Flags injection, fake admin, payee change and pressure, even when disguised</a:t>
            </a:r>
            <a:endParaRPr lang="en-US" sz="1200" dirty="0"/>
          </a:p>
        </p:txBody>
      </p:sp>
      <p:sp>
        <p:nvSpPr>
          <p:cNvPr id="14" name="Shape 11"/>
          <p:cNvSpPr/>
          <p:nvPr/>
        </p:nvSpPr>
        <p:spPr>
          <a:xfrm>
            <a:off x="9144000" y="2971800"/>
            <a:ext cx="2423160" cy="1463040"/>
          </a:xfrm>
          <a:prstGeom prst="roundRect">
            <a:avLst>
              <a:gd name="adj" fmla="val 7500"/>
            </a:avLst>
          </a:prstGeom>
          <a:solidFill>
            <a:srgbClr val="F3F5F9"/>
          </a:solidFill>
          <a:ln/>
        </p:spPr>
      </p:sp>
      <p:sp>
        <p:nvSpPr>
          <p:cNvPr id="15" name="Text 12"/>
          <p:cNvSpPr txBox="1"/>
          <p:nvPr/>
        </p:nvSpPr>
        <p:spPr>
          <a:xfrm>
            <a:off x="9308592" y="3099816"/>
            <a:ext cx="2103120" cy="320040"/>
          </a:xfrm>
          <a:prstGeom prst="rect">
            <a:avLst/>
          </a:prstGeom>
          <a:noFill/>
          <a:ln/>
        </p:spPr>
        <p:txBody>
          <a:bodyPr wrap="square" lIns="0" tIns="0" rIns="0" bIns="0" rtlCol="0" anchor="t"/>
          <a:lstStyle/>
          <a:p>
            <a:pPr marL="0" indent="0">
              <a:buNone/>
            </a:pPr>
            <a:r>
              <a:rPr lang="en-US" sz="1400" b="1" dirty="0">
                <a:solidFill>
                  <a:srgbClr val="1F5FA8"/>
                </a:solidFill>
                <a:latin typeface="Calibri" pitchFamily="34" charset="0"/>
                <a:ea typeface="Calibri" pitchFamily="34" charset="-122"/>
                <a:cs typeface="Calibri" pitchFamily="34" charset="-120"/>
              </a:rPr>
              <a:t>Breaker + emergency stop</a:t>
            </a:r>
            <a:endParaRPr lang="en-US" sz="1400" dirty="0"/>
          </a:p>
        </p:txBody>
      </p:sp>
      <p:sp>
        <p:nvSpPr>
          <p:cNvPr id="16" name="Text 13"/>
          <p:cNvSpPr txBox="1"/>
          <p:nvPr/>
        </p:nvSpPr>
        <p:spPr>
          <a:xfrm>
            <a:off x="9308592" y="3429000"/>
            <a:ext cx="2130552" cy="960120"/>
          </a:xfrm>
          <a:prstGeom prst="rect">
            <a:avLst/>
          </a:prstGeom>
          <a:noFill/>
          <a:ln/>
        </p:spPr>
        <p:txBody>
          <a:bodyPr wrap="square" lIns="0" tIns="0" rIns="0" bIns="0" rtlCol="0" anchor="t"/>
          <a:lstStyle/>
          <a:p>
            <a:pPr marL="0" indent="0">
              <a:buNone/>
            </a:pPr>
            <a:r>
              <a:rPr lang="en-US" sz="1200" dirty="0">
                <a:solidFill>
                  <a:srgbClr val="1F2A44"/>
                </a:solidFill>
                <a:latin typeface="Calibri" pitchFamily="34" charset="0"/>
                <a:ea typeface="Calibri" pitchFamily="34" charset="-122"/>
                <a:cs typeface="Calibri" pitchFamily="34" charset="-120"/>
              </a:rPr>
              <a:t>Per-payment cap; 3 denied money actions freeze the agent until a PIN reset</a:t>
            </a:r>
            <a:endParaRPr lang="en-US" sz="1200" dirty="0"/>
          </a:p>
        </p:txBody>
      </p:sp>
      <p:sp>
        <p:nvSpPr>
          <p:cNvPr id="17" name="Shape 14"/>
          <p:cNvSpPr/>
          <p:nvPr/>
        </p:nvSpPr>
        <p:spPr>
          <a:xfrm>
            <a:off x="6583680" y="4572000"/>
            <a:ext cx="2423160" cy="1463040"/>
          </a:xfrm>
          <a:prstGeom prst="roundRect">
            <a:avLst>
              <a:gd name="adj" fmla="val 7500"/>
            </a:avLst>
          </a:prstGeom>
          <a:solidFill>
            <a:srgbClr val="F3F5F9"/>
          </a:solidFill>
          <a:ln/>
        </p:spPr>
      </p:sp>
      <p:sp>
        <p:nvSpPr>
          <p:cNvPr id="18" name="Text 15"/>
          <p:cNvSpPr txBox="1"/>
          <p:nvPr/>
        </p:nvSpPr>
        <p:spPr>
          <a:xfrm>
            <a:off x="6748272" y="4700016"/>
            <a:ext cx="2103120" cy="320040"/>
          </a:xfrm>
          <a:prstGeom prst="rect">
            <a:avLst/>
          </a:prstGeom>
          <a:noFill/>
          <a:ln/>
        </p:spPr>
        <p:txBody>
          <a:bodyPr wrap="square" lIns="0" tIns="0" rIns="0" bIns="0" rtlCol="0" anchor="t"/>
          <a:lstStyle/>
          <a:p>
            <a:pPr marL="0" indent="0">
              <a:buNone/>
            </a:pPr>
            <a:r>
              <a:rPr lang="en-US" sz="1400" b="1" dirty="0">
                <a:solidFill>
                  <a:srgbClr val="1F5FA8"/>
                </a:solidFill>
                <a:latin typeface="Calibri" pitchFamily="34" charset="0"/>
                <a:ea typeface="Calibri" pitchFamily="34" charset="-122"/>
                <a:cs typeface="Calibri" pitchFamily="34" charset="-120"/>
              </a:rPr>
              <a:t>Hash-chained audit log</a:t>
            </a:r>
            <a:endParaRPr lang="en-US" sz="1400" dirty="0"/>
          </a:p>
        </p:txBody>
      </p:sp>
      <p:sp>
        <p:nvSpPr>
          <p:cNvPr id="19" name="Text 16"/>
          <p:cNvSpPr txBox="1"/>
          <p:nvPr/>
        </p:nvSpPr>
        <p:spPr>
          <a:xfrm>
            <a:off x="6748272" y="5029200"/>
            <a:ext cx="2130552" cy="960120"/>
          </a:xfrm>
          <a:prstGeom prst="rect">
            <a:avLst/>
          </a:prstGeom>
          <a:noFill/>
          <a:ln/>
        </p:spPr>
        <p:txBody>
          <a:bodyPr wrap="square" lIns="0" tIns="0" rIns="0" bIns="0" rtlCol="0" anchor="t"/>
          <a:lstStyle/>
          <a:p>
            <a:pPr marL="0" indent="0">
              <a:buNone/>
            </a:pPr>
            <a:r>
              <a:rPr lang="en-US" sz="1200" dirty="0">
                <a:solidFill>
                  <a:srgbClr val="1F2A44"/>
                </a:solidFill>
                <a:latin typeface="Calibri" pitchFamily="34" charset="0"/>
                <a:ea typeface="Calibri" pitchFamily="34" charset="-122"/>
                <a:cs typeface="Calibri" pitchFamily="34" charset="-120"/>
              </a:rPr>
              <a:t>Each entry stores the hash of the one before; edits are detected</a:t>
            </a:r>
            <a:endParaRPr lang="en-US" sz="1200" dirty="0"/>
          </a:p>
        </p:txBody>
      </p:sp>
      <p:sp>
        <p:nvSpPr>
          <p:cNvPr id="20" name="Shape 17"/>
          <p:cNvSpPr/>
          <p:nvPr/>
        </p:nvSpPr>
        <p:spPr>
          <a:xfrm>
            <a:off x="9144000" y="4572000"/>
            <a:ext cx="2423160" cy="1463040"/>
          </a:xfrm>
          <a:prstGeom prst="roundRect">
            <a:avLst>
              <a:gd name="adj" fmla="val 7500"/>
            </a:avLst>
          </a:prstGeom>
          <a:solidFill>
            <a:srgbClr val="F3F5F9"/>
          </a:solidFill>
          <a:ln/>
        </p:spPr>
      </p:sp>
      <p:sp>
        <p:nvSpPr>
          <p:cNvPr id="21" name="Text 18"/>
          <p:cNvSpPr txBox="1"/>
          <p:nvPr/>
        </p:nvSpPr>
        <p:spPr>
          <a:xfrm>
            <a:off x="9308592" y="4700016"/>
            <a:ext cx="2103120" cy="320040"/>
          </a:xfrm>
          <a:prstGeom prst="rect">
            <a:avLst/>
          </a:prstGeom>
          <a:noFill/>
          <a:ln/>
        </p:spPr>
        <p:txBody>
          <a:bodyPr wrap="square" lIns="0" tIns="0" rIns="0" bIns="0" rtlCol="0" anchor="t"/>
          <a:lstStyle/>
          <a:p>
            <a:pPr marL="0" indent="0">
              <a:buNone/>
            </a:pPr>
            <a:r>
              <a:rPr lang="en-US" sz="1400" b="1" dirty="0">
                <a:solidFill>
                  <a:srgbClr val="1F5FA8"/>
                </a:solidFill>
                <a:latin typeface="Calibri" pitchFamily="34" charset="0"/>
                <a:ea typeface="Calibri" pitchFamily="34" charset="-122"/>
                <a:cs typeface="Calibri" pitchFamily="34" charset="-120"/>
              </a:rPr>
              <a:t>Encrypted family vault</a:t>
            </a:r>
            <a:endParaRPr lang="en-US" sz="1400" dirty="0"/>
          </a:p>
        </p:txBody>
      </p:sp>
      <p:sp>
        <p:nvSpPr>
          <p:cNvPr id="22" name="Text 19"/>
          <p:cNvSpPr txBox="1"/>
          <p:nvPr/>
        </p:nvSpPr>
        <p:spPr>
          <a:xfrm>
            <a:off x="9308592" y="5029200"/>
            <a:ext cx="2130552" cy="960120"/>
          </a:xfrm>
          <a:prstGeom prst="rect">
            <a:avLst/>
          </a:prstGeom>
          <a:noFill/>
          <a:ln/>
        </p:spPr>
        <p:txBody>
          <a:bodyPr wrap="square" lIns="0" tIns="0" rIns="0" bIns="0" rtlCol="0" anchor="t"/>
          <a:lstStyle/>
          <a:p>
            <a:pPr marL="0" indent="0">
              <a:buNone/>
            </a:pPr>
            <a:r>
              <a:rPr lang="en-US" sz="1200" dirty="0">
                <a:solidFill>
                  <a:srgbClr val="1F2A44"/>
                </a:solidFill>
                <a:latin typeface="Calibri" pitchFamily="34" charset="0"/>
                <a:ea typeface="Calibri" pitchFamily="34" charset="-122"/>
                <a:cs typeface="Calibri" pitchFamily="34" charset="-120"/>
              </a:rPr>
              <a:t>AES-256-GCM in the browser; keys locked per device (X25519); server sees ciphertext</a:t>
            </a:r>
            <a:endParaRPr lang="en-US" sz="12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3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Evidence: run it yourself, one command each</a:t>
            </a:r>
            <a:endParaRPr lang="en-US" sz="3000" dirty="0"/>
          </a:p>
        </p:txBody>
      </p:sp>
      <p:sp>
        <p:nvSpPr>
          <p:cNvPr id="3" name="Shape 1"/>
          <p:cNvSpPr/>
          <p:nvPr/>
        </p:nvSpPr>
        <p:spPr>
          <a:xfrm>
            <a:off x="548640" y="1371600"/>
            <a:ext cx="2651760" cy="1691640"/>
          </a:xfrm>
          <a:prstGeom prst="roundRect">
            <a:avLst>
              <a:gd name="adj" fmla="val 6486"/>
            </a:avLst>
          </a:prstGeom>
          <a:solidFill>
            <a:srgbClr val="1F2F52"/>
          </a:solidFill>
          <a:ln/>
        </p:spPr>
        <p:txBody>
          <a:bodyPr/>
          <a:lstStyle/>
          <a:p>
            <a:endParaRPr lang="en-IN"/>
          </a:p>
        </p:txBody>
      </p:sp>
      <p:sp>
        <p:nvSpPr>
          <p:cNvPr id="4" name="Text 2"/>
          <p:cNvSpPr txBox="1"/>
          <p:nvPr/>
        </p:nvSpPr>
        <p:spPr>
          <a:xfrm>
            <a:off x="777240" y="1481328"/>
            <a:ext cx="2286000" cy="868680"/>
          </a:xfrm>
          <a:prstGeom prst="rect">
            <a:avLst/>
          </a:prstGeom>
          <a:noFill/>
          <a:ln/>
        </p:spPr>
        <p:txBody>
          <a:bodyPr wrap="square" lIns="0" tIns="0" rIns="0" bIns="0" rtlCol="0" anchor="t"/>
          <a:lstStyle/>
          <a:p>
            <a:pPr marL="0" indent="0">
              <a:buNone/>
            </a:pPr>
            <a:r>
              <a:rPr lang="en-US" sz="4400" b="1">
                <a:solidFill>
                  <a:srgbClr val="8FBCF0"/>
                </a:solidFill>
                <a:latin typeface="Cambria" pitchFamily="34" charset="0"/>
                <a:ea typeface="Cambria" pitchFamily="34" charset="-122"/>
                <a:cs typeface="Cambria" pitchFamily="34" charset="-120"/>
              </a:rPr>
              <a:t>248</a:t>
            </a:r>
            <a:endParaRPr lang="en-US" sz="4400" dirty="0"/>
          </a:p>
        </p:txBody>
      </p:sp>
      <p:sp>
        <p:nvSpPr>
          <p:cNvPr id="5" name="Text 3"/>
          <p:cNvSpPr txBox="1"/>
          <p:nvPr/>
        </p:nvSpPr>
        <p:spPr>
          <a:xfrm>
            <a:off x="777240" y="2377440"/>
            <a:ext cx="2286000" cy="5943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tests pass</a:t>
            </a:r>
            <a:endParaRPr lang="en-US" sz="1400" dirty="0"/>
          </a:p>
        </p:txBody>
      </p:sp>
      <p:sp>
        <p:nvSpPr>
          <p:cNvPr id="6" name="Shape 4"/>
          <p:cNvSpPr/>
          <p:nvPr/>
        </p:nvSpPr>
        <p:spPr>
          <a:xfrm>
            <a:off x="3364992" y="1371600"/>
            <a:ext cx="2651760" cy="1691640"/>
          </a:xfrm>
          <a:prstGeom prst="roundRect">
            <a:avLst>
              <a:gd name="adj" fmla="val 6486"/>
            </a:avLst>
          </a:prstGeom>
          <a:solidFill>
            <a:srgbClr val="1F2F52"/>
          </a:solidFill>
          <a:ln/>
        </p:spPr>
        <p:txBody>
          <a:bodyPr/>
          <a:lstStyle/>
          <a:p>
            <a:endParaRPr lang="en-IN"/>
          </a:p>
        </p:txBody>
      </p:sp>
      <p:sp>
        <p:nvSpPr>
          <p:cNvPr id="7" name="Text 5"/>
          <p:cNvSpPr txBox="1"/>
          <p:nvPr/>
        </p:nvSpPr>
        <p:spPr>
          <a:xfrm>
            <a:off x="3593592" y="1481328"/>
            <a:ext cx="2286000" cy="868680"/>
          </a:xfrm>
          <a:prstGeom prst="rect">
            <a:avLst/>
          </a:prstGeom>
          <a:noFill/>
          <a:ln/>
        </p:spPr>
        <p:txBody>
          <a:bodyPr wrap="square" lIns="0" tIns="0" rIns="0" bIns="0" rtlCol="0" anchor="t"/>
          <a:lstStyle/>
          <a:p>
            <a:pPr marL="0" indent="0">
              <a:buNone/>
            </a:pPr>
            <a:r>
              <a:rPr lang="en-US" sz="4400" b="1" dirty="0">
                <a:solidFill>
                  <a:srgbClr val="8FBCF0"/>
                </a:solidFill>
                <a:latin typeface="Cambria" pitchFamily="34" charset="0"/>
                <a:ea typeface="Cambria" pitchFamily="34" charset="-122"/>
                <a:cs typeface="Cambria" pitchFamily="34" charset="-120"/>
              </a:rPr>
              <a:t>27 / 27</a:t>
            </a:r>
            <a:endParaRPr lang="en-US" sz="4400" dirty="0"/>
          </a:p>
        </p:txBody>
      </p:sp>
      <p:sp>
        <p:nvSpPr>
          <p:cNvPr id="8" name="Text 6"/>
          <p:cNvSpPr txBox="1"/>
          <p:nvPr/>
        </p:nvSpPr>
        <p:spPr>
          <a:xfrm>
            <a:off x="3593592" y="2377440"/>
            <a:ext cx="2286000" cy="5943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scenarios pass</a:t>
            </a:r>
            <a:endParaRPr lang="en-US" sz="1400" dirty="0"/>
          </a:p>
        </p:txBody>
      </p:sp>
      <p:sp>
        <p:nvSpPr>
          <p:cNvPr id="9" name="Shape 7"/>
          <p:cNvSpPr/>
          <p:nvPr/>
        </p:nvSpPr>
        <p:spPr>
          <a:xfrm>
            <a:off x="6181344" y="1371600"/>
            <a:ext cx="2651760" cy="1691640"/>
          </a:xfrm>
          <a:prstGeom prst="roundRect">
            <a:avLst>
              <a:gd name="adj" fmla="val 6486"/>
            </a:avLst>
          </a:prstGeom>
          <a:solidFill>
            <a:srgbClr val="1F2F52"/>
          </a:solidFill>
          <a:ln/>
        </p:spPr>
        <p:txBody>
          <a:bodyPr/>
          <a:lstStyle/>
          <a:p>
            <a:endParaRPr lang="en-IN"/>
          </a:p>
        </p:txBody>
      </p:sp>
      <p:sp>
        <p:nvSpPr>
          <p:cNvPr id="10" name="Text 8"/>
          <p:cNvSpPr txBox="1"/>
          <p:nvPr/>
        </p:nvSpPr>
        <p:spPr>
          <a:xfrm>
            <a:off x="6409944" y="1481328"/>
            <a:ext cx="2286000" cy="868680"/>
          </a:xfrm>
          <a:prstGeom prst="rect">
            <a:avLst/>
          </a:prstGeom>
          <a:noFill/>
          <a:ln/>
        </p:spPr>
        <p:txBody>
          <a:bodyPr wrap="square" lIns="0" tIns="0" rIns="0" bIns="0" rtlCol="0" anchor="t"/>
          <a:lstStyle/>
          <a:p>
            <a:pPr marL="0" indent="0">
              <a:buNone/>
            </a:pPr>
            <a:r>
              <a:rPr lang="en-US" sz="4400" b="1" dirty="0">
                <a:solidFill>
                  <a:srgbClr val="F2C38B"/>
                </a:solidFill>
                <a:latin typeface="Cambria" pitchFamily="34" charset="0"/>
                <a:ea typeface="Cambria" pitchFamily="34" charset="-122"/>
                <a:cs typeface="Cambria" pitchFamily="34" charset="-120"/>
              </a:rPr>
              <a:t>16 / 16</a:t>
            </a:r>
            <a:endParaRPr lang="en-US" sz="4400" dirty="0"/>
          </a:p>
        </p:txBody>
      </p:sp>
      <p:sp>
        <p:nvSpPr>
          <p:cNvPr id="11" name="Text 9"/>
          <p:cNvSpPr txBox="1"/>
          <p:nvPr/>
        </p:nvSpPr>
        <p:spPr>
          <a:xfrm>
            <a:off x="6409944" y="2377440"/>
            <a:ext cx="2286000" cy="5943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attacks stopped in the attack lab</a:t>
            </a:r>
            <a:endParaRPr lang="en-US" sz="1400" dirty="0"/>
          </a:p>
        </p:txBody>
      </p:sp>
      <p:sp>
        <p:nvSpPr>
          <p:cNvPr id="12" name="Shape 10"/>
          <p:cNvSpPr/>
          <p:nvPr/>
        </p:nvSpPr>
        <p:spPr>
          <a:xfrm>
            <a:off x="8997696" y="1371600"/>
            <a:ext cx="2651760" cy="1691640"/>
          </a:xfrm>
          <a:prstGeom prst="roundRect">
            <a:avLst>
              <a:gd name="adj" fmla="val 6486"/>
            </a:avLst>
          </a:prstGeom>
          <a:solidFill>
            <a:srgbClr val="1F2F52"/>
          </a:solidFill>
          <a:ln/>
        </p:spPr>
        <p:txBody>
          <a:bodyPr/>
          <a:lstStyle/>
          <a:p>
            <a:endParaRPr lang="en-IN"/>
          </a:p>
        </p:txBody>
      </p:sp>
      <p:sp>
        <p:nvSpPr>
          <p:cNvPr id="13" name="Text 11"/>
          <p:cNvSpPr txBox="1"/>
          <p:nvPr/>
        </p:nvSpPr>
        <p:spPr>
          <a:xfrm>
            <a:off x="9226296" y="1481328"/>
            <a:ext cx="2286000" cy="868680"/>
          </a:xfrm>
          <a:prstGeom prst="rect">
            <a:avLst/>
          </a:prstGeom>
          <a:noFill/>
          <a:ln/>
        </p:spPr>
        <p:txBody>
          <a:bodyPr wrap="square" lIns="0" tIns="0" rIns="0" bIns="0" rtlCol="0" anchor="t"/>
          <a:lstStyle/>
          <a:p>
            <a:pPr marL="0" indent="0">
              <a:buNone/>
            </a:pPr>
            <a:r>
              <a:rPr lang="en-US" sz="4400" b="1" dirty="0">
                <a:solidFill>
                  <a:srgbClr val="8FBCF0"/>
                </a:solidFill>
                <a:latin typeface="Cambria" pitchFamily="34" charset="0"/>
                <a:ea typeface="Cambria" pitchFamily="34" charset="-122"/>
                <a:cs typeface="Cambria" pitchFamily="34" charset="-120"/>
              </a:rPr>
              <a:t>153</a:t>
            </a:r>
            <a:endParaRPr lang="en-US" sz="4400" dirty="0"/>
          </a:p>
        </p:txBody>
      </p:sp>
      <p:sp>
        <p:nvSpPr>
          <p:cNvPr id="14" name="Text 12"/>
          <p:cNvSpPr txBox="1"/>
          <p:nvPr/>
        </p:nvSpPr>
        <p:spPr>
          <a:xfrm>
            <a:off x="9226296" y="2377440"/>
            <a:ext cx="2286000" cy="5943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audit entries; the hash chain verifies</a:t>
            </a:r>
            <a:endParaRPr lang="en-US" sz="1400" dirty="0"/>
          </a:p>
        </p:txBody>
      </p:sp>
      <p:sp>
        <p:nvSpPr>
          <p:cNvPr id="15" name="Text 13"/>
          <p:cNvSpPr txBox="1"/>
          <p:nvPr/>
        </p:nvSpPr>
        <p:spPr>
          <a:xfrm>
            <a:off x="548640" y="3337560"/>
            <a:ext cx="530352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Scenarios by group</a:t>
            </a:r>
            <a:endParaRPr lang="en-US" sz="1600" dirty="0"/>
          </a:p>
        </p:txBody>
      </p:sp>
      <p:sp>
        <p:nvSpPr>
          <p:cNvPr id="16" name="Text 14"/>
          <p:cNvSpPr txBox="1"/>
          <p:nvPr/>
        </p:nvSpPr>
        <p:spPr>
          <a:xfrm>
            <a:off x="548640" y="3794760"/>
            <a:ext cx="438912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A  Task completion</a:t>
            </a:r>
            <a:endParaRPr lang="en-US" sz="1400" dirty="0"/>
          </a:p>
        </p:txBody>
      </p:sp>
      <p:sp>
        <p:nvSpPr>
          <p:cNvPr id="17" name="Text 15"/>
          <p:cNvSpPr txBox="1"/>
          <p:nvPr/>
        </p:nvSpPr>
        <p:spPr>
          <a:xfrm>
            <a:off x="4572000" y="3794760"/>
            <a:ext cx="1280160" cy="365760"/>
          </a:xfrm>
          <a:prstGeom prst="rect">
            <a:avLst/>
          </a:prstGeom>
          <a:noFill/>
          <a:ln/>
        </p:spPr>
        <p:txBody>
          <a:bodyPr wrap="square" lIns="0" tIns="0" rIns="0" bIns="0" rtlCol="0" anchor="t"/>
          <a:lstStyle/>
          <a:p>
            <a:pPr marL="0" indent="0" algn="r">
              <a:buNone/>
            </a:pPr>
            <a:r>
              <a:rPr lang="en-US" sz="1400" b="1" dirty="0">
                <a:solidFill>
                  <a:srgbClr val="8FBCF0"/>
                </a:solidFill>
                <a:latin typeface="Calibri" pitchFamily="34" charset="0"/>
                <a:ea typeface="Calibri" pitchFamily="34" charset="-122"/>
                <a:cs typeface="Calibri" pitchFamily="34" charset="-120"/>
              </a:rPr>
              <a:t>10 / 10 pass</a:t>
            </a:r>
            <a:endParaRPr lang="en-US" sz="1400" dirty="0"/>
          </a:p>
        </p:txBody>
      </p:sp>
      <p:sp>
        <p:nvSpPr>
          <p:cNvPr id="18" name="Shape 16"/>
          <p:cNvSpPr/>
          <p:nvPr/>
        </p:nvSpPr>
        <p:spPr>
          <a:xfrm>
            <a:off x="548640" y="4197096"/>
            <a:ext cx="5303520" cy="0"/>
          </a:xfrm>
          <a:prstGeom prst="line">
            <a:avLst/>
          </a:prstGeom>
          <a:noFill/>
          <a:ln w="9525">
            <a:solidFill>
              <a:srgbClr val="3A4A6E"/>
            </a:solidFill>
            <a:prstDash val="solid"/>
          </a:ln>
        </p:spPr>
        <p:txBody>
          <a:bodyPr/>
          <a:lstStyle/>
          <a:p>
            <a:endParaRPr lang="en-IN"/>
          </a:p>
        </p:txBody>
      </p:sp>
      <p:sp>
        <p:nvSpPr>
          <p:cNvPr id="19" name="Text 17"/>
          <p:cNvSpPr txBox="1"/>
          <p:nvPr/>
        </p:nvSpPr>
        <p:spPr>
          <a:xfrm>
            <a:off x="548640" y="4251960"/>
            <a:ext cx="438912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B  Safe execution</a:t>
            </a:r>
            <a:endParaRPr lang="en-US" sz="1400" dirty="0"/>
          </a:p>
        </p:txBody>
      </p:sp>
      <p:sp>
        <p:nvSpPr>
          <p:cNvPr id="20" name="Text 18"/>
          <p:cNvSpPr txBox="1"/>
          <p:nvPr/>
        </p:nvSpPr>
        <p:spPr>
          <a:xfrm>
            <a:off x="4572000" y="4251960"/>
            <a:ext cx="1280160" cy="365760"/>
          </a:xfrm>
          <a:prstGeom prst="rect">
            <a:avLst/>
          </a:prstGeom>
          <a:noFill/>
          <a:ln/>
        </p:spPr>
        <p:txBody>
          <a:bodyPr wrap="square" lIns="0" tIns="0" rIns="0" bIns="0" rtlCol="0" anchor="t"/>
          <a:lstStyle/>
          <a:p>
            <a:pPr marL="0" indent="0" algn="r">
              <a:buNone/>
            </a:pPr>
            <a:r>
              <a:rPr lang="en-US" sz="1400" b="1" dirty="0">
                <a:solidFill>
                  <a:srgbClr val="8FBCF0"/>
                </a:solidFill>
                <a:latin typeface="Calibri" pitchFamily="34" charset="0"/>
                <a:ea typeface="Calibri" pitchFamily="34" charset="-122"/>
                <a:cs typeface="Calibri" pitchFamily="34" charset="-120"/>
              </a:rPr>
              <a:t>6 / 6 pass</a:t>
            </a:r>
            <a:endParaRPr lang="en-US" sz="1400" dirty="0"/>
          </a:p>
        </p:txBody>
      </p:sp>
      <p:sp>
        <p:nvSpPr>
          <p:cNvPr id="21" name="Shape 19"/>
          <p:cNvSpPr/>
          <p:nvPr/>
        </p:nvSpPr>
        <p:spPr>
          <a:xfrm>
            <a:off x="548640" y="4654296"/>
            <a:ext cx="5303520" cy="0"/>
          </a:xfrm>
          <a:prstGeom prst="line">
            <a:avLst/>
          </a:prstGeom>
          <a:noFill/>
          <a:ln w="9525">
            <a:solidFill>
              <a:srgbClr val="3A4A6E"/>
            </a:solidFill>
            <a:prstDash val="solid"/>
          </a:ln>
        </p:spPr>
        <p:txBody>
          <a:bodyPr/>
          <a:lstStyle/>
          <a:p>
            <a:endParaRPr lang="en-IN"/>
          </a:p>
        </p:txBody>
      </p:sp>
      <p:sp>
        <p:nvSpPr>
          <p:cNvPr id="22" name="Text 20"/>
          <p:cNvSpPr txBox="1"/>
          <p:nvPr/>
        </p:nvSpPr>
        <p:spPr>
          <a:xfrm>
            <a:off x="548640" y="4709160"/>
            <a:ext cx="438912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C  Attacks, incl. forged approval and revoked key</a:t>
            </a:r>
            <a:endParaRPr lang="en-US" sz="1400" dirty="0"/>
          </a:p>
        </p:txBody>
      </p:sp>
      <p:sp>
        <p:nvSpPr>
          <p:cNvPr id="23" name="Text 21"/>
          <p:cNvSpPr txBox="1"/>
          <p:nvPr/>
        </p:nvSpPr>
        <p:spPr>
          <a:xfrm>
            <a:off x="4572000" y="4709160"/>
            <a:ext cx="1280160" cy="365760"/>
          </a:xfrm>
          <a:prstGeom prst="rect">
            <a:avLst/>
          </a:prstGeom>
          <a:noFill/>
          <a:ln/>
        </p:spPr>
        <p:txBody>
          <a:bodyPr wrap="square" lIns="0" tIns="0" rIns="0" bIns="0" rtlCol="0" anchor="t"/>
          <a:lstStyle/>
          <a:p>
            <a:pPr marL="0" indent="0" algn="r">
              <a:buNone/>
            </a:pPr>
            <a:r>
              <a:rPr lang="en-US" sz="1400" b="1" dirty="0">
                <a:solidFill>
                  <a:srgbClr val="8FBCF0"/>
                </a:solidFill>
                <a:latin typeface="Calibri" pitchFamily="34" charset="0"/>
                <a:ea typeface="Calibri" pitchFamily="34" charset="-122"/>
                <a:cs typeface="Calibri" pitchFamily="34" charset="-120"/>
              </a:rPr>
              <a:t>9 / 9 pass</a:t>
            </a:r>
            <a:endParaRPr lang="en-US" sz="1400" dirty="0"/>
          </a:p>
        </p:txBody>
      </p:sp>
      <p:sp>
        <p:nvSpPr>
          <p:cNvPr id="24" name="Shape 22"/>
          <p:cNvSpPr/>
          <p:nvPr/>
        </p:nvSpPr>
        <p:spPr>
          <a:xfrm>
            <a:off x="548640" y="5111496"/>
            <a:ext cx="5303520" cy="0"/>
          </a:xfrm>
          <a:prstGeom prst="line">
            <a:avLst/>
          </a:prstGeom>
          <a:noFill/>
          <a:ln w="9525">
            <a:solidFill>
              <a:srgbClr val="3A4A6E"/>
            </a:solidFill>
            <a:prstDash val="solid"/>
          </a:ln>
        </p:spPr>
        <p:txBody>
          <a:bodyPr/>
          <a:lstStyle/>
          <a:p>
            <a:endParaRPr lang="en-IN"/>
          </a:p>
        </p:txBody>
      </p:sp>
      <p:sp>
        <p:nvSpPr>
          <p:cNvPr id="25" name="Text 23"/>
          <p:cNvSpPr txBox="1"/>
          <p:nvPr/>
        </p:nvSpPr>
        <p:spPr>
          <a:xfrm>
            <a:off x="548640" y="5166360"/>
            <a:ext cx="438912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D  Privacy</a:t>
            </a:r>
            <a:endParaRPr lang="en-US" sz="1400" dirty="0"/>
          </a:p>
        </p:txBody>
      </p:sp>
      <p:sp>
        <p:nvSpPr>
          <p:cNvPr id="26" name="Text 24"/>
          <p:cNvSpPr txBox="1"/>
          <p:nvPr/>
        </p:nvSpPr>
        <p:spPr>
          <a:xfrm>
            <a:off x="4572000" y="5166360"/>
            <a:ext cx="1280160" cy="365760"/>
          </a:xfrm>
          <a:prstGeom prst="rect">
            <a:avLst/>
          </a:prstGeom>
          <a:noFill/>
          <a:ln/>
        </p:spPr>
        <p:txBody>
          <a:bodyPr wrap="square" lIns="0" tIns="0" rIns="0" bIns="0" rtlCol="0" anchor="t"/>
          <a:lstStyle/>
          <a:p>
            <a:pPr marL="0" indent="0" algn="r">
              <a:buNone/>
            </a:pPr>
            <a:r>
              <a:rPr lang="en-US" sz="1400" b="1" dirty="0">
                <a:solidFill>
                  <a:srgbClr val="8FBCF0"/>
                </a:solidFill>
                <a:latin typeface="Calibri" pitchFamily="34" charset="0"/>
                <a:ea typeface="Calibri" pitchFamily="34" charset="-122"/>
                <a:cs typeface="Calibri" pitchFamily="34" charset="-120"/>
              </a:rPr>
              <a:t>2 / 2 pass</a:t>
            </a:r>
            <a:endParaRPr lang="en-US" sz="1400" dirty="0"/>
          </a:p>
        </p:txBody>
      </p:sp>
      <p:sp>
        <p:nvSpPr>
          <p:cNvPr id="27" name="Shape 25"/>
          <p:cNvSpPr/>
          <p:nvPr/>
        </p:nvSpPr>
        <p:spPr>
          <a:xfrm>
            <a:off x="548640" y="5568696"/>
            <a:ext cx="5303520" cy="0"/>
          </a:xfrm>
          <a:prstGeom prst="line">
            <a:avLst/>
          </a:prstGeom>
          <a:noFill/>
          <a:ln w="9525">
            <a:solidFill>
              <a:srgbClr val="3A4A6E"/>
            </a:solidFill>
            <a:prstDash val="solid"/>
          </a:ln>
        </p:spPr>
        <p:txBody>
          <a:bodyPr/>
          <a:lstStyle/>
          <a:p>
            <a:endParaRPr lang="en-IN"/>
          </a:p>
        </p:txBody>
      </p:sp>
      <p:sp>
        <p:nvSpPr>
          <p:cNvPr id="28" name="Shape 26"/>
          <p:cNvSpPr/>
          <p:nvPr/>
        </p:nvSpPr>
        <p:spPr>
          <a:xfrm>
            <a:off x="6263640" y="3337560"/>
            <a:ext cx="5349240" cy="2331720"/>
          </a:xfrm>
          <a:prstGeom prst="roundRect">
            <a:avLst>
              <a:gd name="adj" fmla="val 4706"/>
            </a:avLst>
          </a:prstGeom>
          <a:solidFill>
            <a:srgbClr val="1F2F52"/>
          </a:solidFill>
          <a:ln/>
        </p:spPr>
        <p:txBody>
          <a:bodyPr/>
          <a:lstStyle/>
          <a:p>
            <a:endParaRPr lang="en-IN"/>
          </a:p>
        </p:txBody>
      </p:sp>
      <p:sp>
        <p:nvSpPr>
          <p:cNvPr id="29" name="Text 27"/>
          <p:cNvSpPr txBox="1"/>
          <p:nvPr/>
        </p:nvSpPr>
        <p:spPr>
          <a:xfrm>
            <a:off x="6492240" y="3474720"/>
            <a:ext cx="493776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Finance audit: 400 random cases</a:t>
            </a:r>
            <a:endParaRPr lang="en-US" sz="1600" dirty="0"/>
          </a:p>
        </p:txBody>
      </p:sp>
      <p:sp>
        <p:nvSpPr>
          <p:cNvPr id="30" name="Text 28"/>
          <p:cNvSpPr txBox="1"/>
          <p:nvPr/>
        </p:nvSpPr>
        <p:spPr>
          <a:xfrm>
            <a:off x="6492240" y="3886200"/>
            <a:ext cx="4937760" cy="1737360"/>
          </a:xfrm>
          <a:prstGeom prst="rect">
            <a:avLst/>
          </a:prstGeom>
          <a:noFill/>
          <a:ln/>
        </p:spPr>
        <p:txBody>
          <a:bodyPr wrap="square" lIns="0" tIns="0" rIns="0" bIns="0" rtlCol="0" anchor="t"/>
          <a:lstStyle/>
          <a:p>
            <a:pPr marL="0" indent="0">
              <a:spcAft>
                <a:spcPts val="300"/>
              </a:spcAft>
              <a:buNone/>
            </a:pPr>
            <a:r>
              <a:rPr lang="en-US" sz="1400" dirty="0">
                <a:solidFill>
                  <a:srgbClr val="C9D3E6"/>
                </a:solidFill>
                <a:latin typeface="Calibri" pitchFamily="34" charset="0"/>
                <a:ea typeface="Calibri" pitchFamily="34" charset="-122"/>
                <a:cs typeface="Calibri" pitchFamily="34" charset="-120"/>
              </a:rPr>
              <a:t>The engine matched an independent formula in every case. The audit found 3 agent bugs, all fixed with tests:</a:t>
            </a:r>
            <a:endParaRPr lang="en-US" sz="1400" dirty="0"/>
          </a:p>
          <a:p>
            <a:pPr marL="342900" indent="-342900">
              <a:spcAft>
                <a:spcPts val="300"/>
              </a:spcAft>
              <a:buSzPct val="100000"/>
              <a:buChar char="•"/>
            </a:pPr>
            <a:r>
              <a:rPr lang="en-US" sz="1400" dirty="0">
                <a:solidFill>
                  <a:srgbClr val="C9D3E6"/>
                </a:solidFill>
                <a:latin typeface="Calibri" pitchFamily="34" charset="0"/>
                <a:ea typeface="Calibri" pitchFamily="34" charset="-122"/>
                <a:cs typeface="Calibri" pitchFamily="34" charset="-120"/>
              </a:rPr>
              <a:t>an earlier in-app payment was not counted</a:t>
            </a:r>
            <a:endParaRPr lang="en-US" sz="1400" dirty="0"/>
          </a:p>
          <a:p>
            <a:pPr marL="342900" indent="-342900">
              <a:spcAft>
                <a:spcPts val="300"/>
              </a:spcAft>
              <a:buSzPct val="100000"/>
              <a:buChar char="•"/>
            </a:pPr>
            <a:r>
              <a:rPr lang="en-US" sz="1400" dirty="0">
                <a:solidFill>
                  <a:srgbClr val="C9D3E6"/>
                </a:solidFill>
                <a:latin typeface="Calibri" pitchFamily="34" charset="0"/>
                <a:ea typeface="Calibri" pitchFamily="34" charset="-122"/>
                <a:cs typeface="Calibri" pitchFamily="34" charset="-120"/>
              </a:rPr>
              <a:t>inconsistent USD answers were accepted</a:t>
            </a:r>
            <a:endParaRPr lang="en-US" sz="1400" dirty="0"/>
          </a:p>
          <a:p>
            <a:pPr marL="342900" indent="-342900">
              <a:spcAft>
                <a:spcPts val="300"/>
              </a:spcAft>
              <a:buSzPct val="100000"/>
              <a:buChar char="•"/>
            </a:pPr>
            <a:r>
              <a:rPr lang="en-US" sz="1400" dirty="0">
                <a:solidFill>
                  <a:srgbClr val="C9D3E6"/>
                </a:solidFill>
                <a:latin typeface="Calibri" pitchFamily="34" charset="0"/>
                <a:ea typeface="Calibri" pitchFamily="34" charset="-122"/>
                <a:cs typeface="Calibri" pitchFamily="34" charset="-120"/>
              </a:rPr>
              <a:t>no PAN + loan applied 0% silently (now a warning)</a:t>
            </a:r>
            <a:endParaRPr lang="en-US" sz="1400" dirty="0"/>
          </a:p>
        </p:txBody>
      </p:sp>
      <p:sp>
        <p:nvSpPr>
          <p:cNvPr id="31" name="Text 29"/>
          <p:cNvSpPr txBox="1"/>
          <p:nvPr/>
        </p:nvSpPr>
        <p:spPr>
          <a:xfrm>
            <a:off x="548640" y="5897880"/>
            <a:ext cx="11064240" cy="320040"/>
          </a:xfrm>
          <a:prstGeom prst="rect">
            <a:avLst/>
          </a:prstGeom>
          <a:noFill/>
          <a:ln/>
        </p:spPr>
        <p:txBody>
          <a:bodyPr wrap="square" lIns="0" tIns="0" rIns="0" bIns="0" rtlCol="0" anchor="t"/>
          <a:lstStyle/>
          <a:p>
            <a:pPr marL="0" indent="0">
              <a:buNone/>
            </a:pPr>
            <a:r>
              <a:rPr lang="en-US" sz="1100" dirty="0">
                <a:solidFill>
                  <a:srgbClr val="A9B6CF"/>
                </a:solidFill>
                <a:latin typeface="Courier New" pitchFamily="34" charset="0"/>
                <a:ea typeface="Courier New" pitchFamily="34" charset="-122"/>
                <a:cs typeface="Courier New" pitchFamily="34" charset="-120"/>
              </a:rPr>
              <a:t>python -m unittest discover -s tests -t .   ·   python -m scenarios.runner   ·   python -m app.demo_run</a:t>
            </a:r>
            <a:endParaRPr lang="en-US" sz="1100" dirty="0"/>
          </a:p>
        </p:txBody>
      </p:sp>
      <p:sp>
        <p:nvSpPr>
          <p:cNvPr id="32" name="Text 30"/>
          <p:cNvSpPr txBox="1"/>
          <p:nvPr/>
        </p:nvSpPr>
        <p:spPr>
          <a:xfrm>
            <a:off x="548640" y="6355080"/>
            <a:ext cx="9144000" cy="274320"/>
          </a:xfrm>
          <a:prstGeom prst="rect">
            <a:avLst/>
          </a:prstGeom>
          <a:noFill/>
          <a:ln/>
        </p:spPr>
        <p:txBody>
          <a:bodyPr wrap="square" lIns="0" tIns="0" rIns="0" bIns="0" rtlCol="0" anchor="t"/>
          <a:lstStyle/>
          <a:p>
            <a:pPr marL="0" indent="0">
              <a:buNone/>
            </a:pPr>
            <a:r>
              <a:rPr lang="en-US" sz="1000" dirty="0">
                <a:solidFill>
                  <a:srgbClr val="A9B6CF"/>
                </a:solidFill>
                <a:latin typeface="Calibri" pitchFamily="34" charset="0"/>
                <a:ea typeface="Calibri" pitchFamily="34" charset="-122"/>
                <a:cs typeface="Calibri" pitchFamily="34" charset="-120"/>
              </a:rPr>
              <a:t>TuitionPilot · 2026 Shenzhen FinTechathon · Synthetic data · Not tax advice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000" b="1" dirty="0">
                <a:solidFill>
                  <a:srgbClr val="14213D"/>
                </a:solidFill>
                <a:latin typeface="Cambria" pitchFamily="34" charset="0"/>
                <a:ea typeface="Cambria" pitchFamily="34" charset="-122"/>
                <a:cs typeface="Cambria" pitchFamily="34" charset="-120"/>
              </a:rPr>
              <a:t>Honest limits, and what comes next</a:t>
            </a:r>
            <a:endParaRPr lang="en-US" sz="3000" dirty="0"/>
          </a:p>
        </p:txBody>
      </p:sp>
      <p:sp>
        <p:nvSpPr>
          <p:cNvPr id="3" name="Shape 1"/>
          <p:cNvSpPr/>
          <p:nvPr/>
        </p:nvSpPr>
        <p:spPr>
          <a:xfrm>
            <a:off x="548640" y="1371600"/>
            <a:ext cx="3566160" cy="3749040"/>
          </a:xfrm>
          <a:prstGeom prst="roundRect">
            <a:avLst>
              <a:gd name="adj" fmla="val 3077"/>
            </a:avLst>
          </a:prstGeom>
          <a:solidFill>
            <a:srgbClr val="FBEFE3"/>
          </a:solidFill>
          <a:ln w="15875">
            <a:solidFill>
              <a:srgbClr val="B4561F"/>
            </a:solidFill>
            <a:prstDash val="solid"/>
          </a:ln>
        </p:spPr>
      </p:sp>
      <p:sp>
        <p:nvSpPr>
          <p:cNvPr id="4" name="Text 2"/>
          <p:cNvSpPr txBox="1"/>
          <p:nvPr/>
        </p:nvSpPr>
        <p:spPr>
          <a:xfrm>
            <a:off x="777240" y="1554480"/>
            <a:ext cx="3108960" cy="365760"/>
          </a:xfrm>
          <a:prstGeom prst="rect">
            <a:avLst/>
          </a:prstGeom>
          <a:noFill/>
          <a:ln/>
        </p:spPr>
        <p:txBody>
          <a:bodyPr wrap="square" lIns="0" tIns="0" rIns="0" bIns="0" rtlCol="0" anchor="t"/>
          <a:lstStyle/>
          <a:p>
            <a:pPr marL="0" indent="0">
              <a:buNone/>
            </a:pPr>
            <a:r>
              <a:rPr lang="en-US" sz="1700" b="1">
                <a:solidFill>
                  <a:srgbClr val="B4561F"/>
                </a:solidFill>
                <a:latin typeface="Calibri" pitchFamily="34" charset="0"/>
                <a:ea typeface="Calibri" pitchFamily="34" charset="-122"/>
                <a:cs typeface="Calibri" pitchFamily="34" charset="-120"/>
              </a:rPr>
              <a:t>Tax rules: what is still open</a:t>
            </a:r>
            <a:endParaRPr lang="en-US" sz="1700" dirty="0"/>
          </a:p>
        </p:txBody>
      </p:sp>
      <p:sp>
        <p:nvSpPr>
          <p:cNvPr id="5" name="Text 3"/>
          <p:cNvSpPr txBox="1"/>
          <p:nvPr/>
        </p:nvSpPr>
        <p:spPr>
          <a:xfrm>
            <a:off x="777240" y="2057400"/>
            <a:ext cx="3154680" cy="3017520"/>
          </a:xfrm>
          <a:prstGeom prst="rect">
            <a:avLst/>
          </a:prstGeom>
          <a:noFill/>
          <a:ln/>
        </p:spPr>
        <p:txBody>
          <a:bodyPr wrap="square" lIns="0" tIns="0" rIns="0" bIns="0" rtlCol="0" anchor="t"/>
          <a:lstStyle/>
          <a:p>
            <a:pPr marL="342900" indent="-342900">
              <a:spcAft>
                <a:spcPts val="800"/>
              </a:spcAft>
              <a:buSzPct val="100000"/>
              <a:buChar char="•"/>
            </a:pPr>
            <a:r>
              <a:rPr lang="en-US" sz="1400">
                <a:solidFill>
                  <a:srgbClr val="1F2A44"/>
                </a:solidFill>
                <a:latin typeface="Calibri" pitchFamily="34" charset="0"/>
                <a:ea typeface="Calibri" pitchFamily="34" charset="-122"/>
                <a:cs typeface="Calibri" pitchFamily="34" charset="-120"/>
              </a:rPr>
              <a:t>Verified 18 Oct: LRS cap, Rs 10 lakh threshold, 2% and loan-free education rates, 5% without PAN</a:t>
            </a:r>
          </a:p>
          <a:p>
            <a:pPr marL="342900" indent="-342900">
              <a:spcAft>
                <a:spcPts val="800"/>
              </a:spcAft>
              <a:buSzPct val="100000"/>
              <a:buChar char="•"/>
            </a:pPr>
            <a:r>
              <a:rPr lang="en-US" sz="1400">
                <a:solidFill>
                  <a:srgbClr val="1F2A44"/>
                </a:solidFill>
                <a:latin typeface="Calibri" pitchFamily="34" charset="0"/>
                <a:ea typeface="Calibri" pitchFamily="34" charset="-122"/>
                <a:cs typeface="Calibri" pitchFamily="34" charset="-120"/>
              </a:rPr>
              <a:t>Still open: earlier other-purpose payments using up the threshold; TCS on the amount sent, not fees</a:t>
            </a:r>
          </a:p>
          <a:p>
            <a:pPr marL="342900" indent="-342900">
              <a:spcAft>
                <a:spcPts val="800"/>
              </a:spcAft>
              <a:buSzPct val="100000"/>
              <a:buChar char="•"/>
            </a:pPr>
            <a:r>
              <a:rPr lang="en-US" sz="1400">
                <a:solidFill>
                  <a:srgbClr val="1F2A44"/>
                </a:solidFill>
                <a:latin typeface="Calibri" pitchFamily="34" charset="0"/>
                <a:ea typeface="Calibri" pitchFamily="34" charset="-122"/>
                <a:cs typeface="Calibri" pitchFamily="34" charset="-120"/>
              </a:rPr>
              <a:t>Not modelled: GST on the currency conversion itself</a:t>
            </a:r>
            <a:endParaRPr lang="en-US" sz="1400" dirty="0"/>
          </a:p>
        </p:txBody>
      </p:sp>
      <p:sp>
        <p:nvSpPr>
          <p:cNvPr id="6" name="Shape 4"/>
          <p:cNvSpPr/>
          <p:nvPr/>
        </p:nvSpPr>
        <p:spPr>
          <a:xfrm>
            <a:off x="4297680" y="1371600"/>
            <a:ext cx="3566160" cy="3749040"/>
          </a:xfrm>
          <a:prstGeom prst="roundRect">
            <a:avLst>
              <a:gd name="adj" fmla="val 3077"/>
            </a:avLst>
          </a:prstGeom>
          <a:solidFill>
            <a:srgbClr val="F3F5F9"/>
          </a:solidFill>
          <a:ln/>
        </p:spPr>
      </p:sp>
      <p:sp>
        <p:nvSpPr>
          <p:cNvPr id="7" name="Text 5"/>
          <p:cNvSpPr txBox="1"/>
          <p:nvPr/>
        </p:nvSpPr>
        <p:spPr>
          <a:xfrm>
            <a:off x="4526280" y="1554480"/>
            <a:ext cx="3108960" cy="365760"/>
          </a:xfrm>
          <a:prstGeom prst="rect">
            <a:avLst/>
          </a:prstGeom>
          <a:noFill/>
          <a:ln/>
        </p:spPr>
        <p:txBody>
          <a:bodyPr wrap="square" lIns="0" tIns="0" rIns="0" bIns="0" rtlCol="0" anchor="t"/>
          <a:lstStyle/>
          <a:p>
            <a:pPr marL="0" indent="0">
              <a:buNone/>
            </a:pPr>
            <a:r>
              <a:rPr lang="en-US" sz="1700" b="1" dirty="0">
                <a:solidFill>
                  <a:srgbClr val="14213D"/>
                </a:solidFill>
                <a:latin typeface="Calibri" pitchFamily="34" charset="0"/>
                <a:ea typeface="Calibri" pitchFamily="34" charset="-122"/>
                <a:cs typeface="Calibri" pitchFamily="34" charset="-120"/>
              </a:rPr>
              <a:t>Prototype limits</a:t>
            </a:r>
            <a:endParaRPr lang="en-US" sz="1700" dirty="0"/>
          </a:p>
        </p:txBody>
      </p:sp>
      <p:sp>
        <p:nvSpPr>
          <p:cNvPr id="8" name="Text 6"/>
          <p:cNvSpPr txBox="1"/>
          <p:nvPr/>
        </p:nvSpPr>
        <p:spPr>
          <a:xfrm>
            <a:off x="4526280" y="2057400"/>
            <a:ext cx="3154680" cy="3017520"/>
          </a:xfrm>
          <a:prstGeom prst="rect">
            <a:avLst/>
          </a:prstGeom>
          <a:noFill/>
          <a:ln/>
        </p:spPr>
        <p:txBody>
          <a:bodyPr wrap="square" lIns="0" tIns="0" rIns="0" bIns="0" rtlCol="0" anchor="t"/>
          <a:lstStyle/>
          <a:p>
            <a:pPr marL="342900" indent="-342900">
              <a:spcAft>
                <a:spcPts val="800"/>
              </a:spcAft>
              <a:buSzPct val="100000"/>
              <a:buChar char="•"/>
            </a:pPr>
            <a:r>
              <a:rPr lang="en-US" sz="1400">
                <a:solidFill>
                  <a:srgbClr val="1F2A44"/>
                </a:solidFill>
                <a:latin typeface="Calibri" pitchFamily="34" charset="0"/>
                <a:ea typeface="Calibri" pitchFamily="34" charset="-122"/>
                <a:cs typeface="Calibri" pitchFamily="34" charset="-120"/>
              </a:rPr>
              <a:t>Hosted Claude is optional; the default AI step is offline</a:t>
            </a:r>
          </a:p>
          <a:p>
            <a:pPr marL="342900" indent="-342900">
              <a:spcAft>
                <a:spcPts val="800"/>
              </a:spcAft>
              <a:buSzPct val="100000"/>
              <a:buChar char="•"/>
            </a:pPr>
            <a:r>
              <a:rPr lang="en-US" sz="1400">
                <a:solidFill>
                  <a:srgbClr val="1F2A44"/>
                </a:solidFill>
                <a:latin typeface="Calibri" pitchFamily="34" charset="0"/>
                <a:ea typeface="Calibri" pitchFamily="34" charset="-122"/>
                <a:cs typeface="Calibri" pitchFamily="34" charset="-120"/>
              </a:rPr>
              <a:t>Ed25519 code is not hardened (not constant-time, not audited)</a:t>
            </a:r>
          </a:p>
          <a:p>
            <a:pPr marL="342900" indent="-342900">
              <a:spcAft>
                <a:spcPts val="800"/>
              </a:spcAft>
              <a:buSzPct val="100000"/>
              <a:buChar char="•"/>
            </a:pPr>
            <a:r>
              <a:rPr lang="en-US" sz="1400">
                <a:solidFill>
                  <a:srgbClr val="1F2A44"/>
                </a:solidFill>
                <a:latin typeface="Calibri" pitchFamily="34" charset="0"/>
                <a:ea typeface="Calibri" pitchFamily="34" charset="-122"/>
                <a:cs typeface="Calibri" pitchFamily="34" charset="-120"/>
              </a:rPr>
              <a:t>Demo keys are synthetic; one trust root</a:t>
            </a:r>
          </a:p>
          <a:p>
            <a:pPr marL="342900" indent="-342900">
              <a:spcAft>
                <a:spcPts val="800"/>
              </a:spcAft>
              <a:buSzPct val="100000"/>
              <a:buChar char="•"/>
            </a:pPr>
            <a:r>
              <a:rPr lang="en-US" sz="1400">
                <a:solidFill>
                  <a:srgbClr val="1F2A44"/>
                </a:solidFill>
                <a:latin typeface="Calibri" pitchFamily="34" charset="0"/>
                <a:ea typeface="Calibri" pitchFamily="34" charset="-122"/>
                <a:cs typeface="Calibri" pitchFamily="34" charset="-120"/>
              </a:rPr>
              <a:t>Demo PIN is fixed; scanned PDFs need OCR</a:t>
            </a:r>
            <a:endParaRPr lang="en-US" sz="1400" dirty="0"/>
          </a:p>
        </p:txBody>
      </p:sp>
      <p:sp>
        <p:nvSpPr>
          <p:cNvPr id="9" name="Shape 7"/>
          <p:cNvSpPr/>
          <p:nvPr/>
        </p:nvSpPr>
        <p:spPr>
          <a:xfrm>
            <a:off x="8046720" y="1371600"/>
            <a:ext cx="3566160" cy="3749040"/>
          </a:xfrm>
          <a:prstGeom prst="roundRect">
            <a:avLst>
              <a:gd name="adj" fmla="val 3077"/>
            </a:avLst>
          </a:prstGeom>
          <a:solidFill>
            <a:srgbClr val="F3F5F9"/>
          </a:solidFill>
          <a:ln/>
        </p:spPr>
      </p:sp>
      <p:sp>
        <p:nvSpPr>
          <p:cNvPr id="10" name="Text 8"/>
          <p:cNvSpPr txBox="1"/>
          <p:nvPr/>
        </p:nvSpPr>
        <p:spPr>
          <a:xfrm>
            <a:off x="8275320" y="1554480"/>
            <a:ext cx="3108960" cy="365760"/>
          </a:xfrm>
          <a:prstGeom prst="rect">
            <a:avLst/>
          </a:prstGeom>
          <a:noFill/>
          <a:ln/>
        </p:spPr>
        <p:txBody>
          <a:bodyPr wrap="square" lIns="0" tIns="0" rIns="0" bIns="0" rtlCol="0" anchor="t"/>
          <a:lstStyle/>
          <a:p>
            <a:pPr marL="0" indent="0">
              <a:buNone/>
            </a:pPr>
            <a:r>
              <a:rPr lang="en-US" sz="1700" b="1" dirty="0">
                <a:solidFill>
                  <a:srgbClr val="1F5FA8"/>
                </a:solidFill>
                <a:latin typeface="Calibri" pitchFamily="34" charset="0"/>
                <a:ea typeface="Calibri" pitchFamily="34" charset="-122"/>
                <a:cs typeface="Calibri" pitchFamily="34" charset="-120"/>
              </a:rPr>
              <a:t>Next steps</a:t>
            </a:r>
            <a:endParaRPr lang="en-US" sz="1700" dirty="0"/>
          </a:p>
        </p:txBody>
      </p:sp>
      <p:sp>
        <p:nvSpPr>
          <p:cNvPr id="11" name="Text 9"/>
          <p:cNvSpPr txBox="1"/>
          <p:nvPr/>
        </p:nvSpPr>
        <p:spPr>
          <a:xfrm>
            <a:off x="8275320" y="2057400"/>
            <a:ext cx="3154680" cy="3017520"/>
          </a:xfrm>
          <a:prstGeom prst="rect">
            <a:avLst/>
          </a:prstGeom>
          <a:noFill/>
          <a:ln/>
        </p:spPr>
        <p:txBody>
          <a:bodyPr wrap="square" lIns="0" tIns="0" rIns="0" bIns="0" rtlCol="0" anchor="t"/>
          <a:lstStyle/>
          <a:p>
            <a:pPr marL="342900" indent="-342900">
              <a:spcAft>
                <a:spcPts val="800"/>
              </a:spcAft>
              <a:buSzPct val="100000"/>
              <a:buChar char="•"/>
            </a:pPr>
            <a:r>
              <a:rPr lang="en-US" sz="1400">
                <a:solidFill>
                  <a:srgbClr val="1F2A44"/>
                </a:solidFill>
                <a:latin typeface="Calibri" pitchFamily="34" charset="0"/>
                <a:ea typeface="Calibri" pitchFamily="34" charset="-122"/>
                <a:cs typeface="Calibri" pitchFamily="34" charset="-120"/>
              </a:rPr>
              <a:t>A bank's confirmation for the two open rules</a:t>
            </a:r>
          </a:p>
          <a:p>
            <a:pPr marL="342900" indent="-342900">
              <a:spcAft>
                <a:spcPts val="800"/>
              </a:spcAft>
              <a:buSzPct val="100000"/>
              <a:buChar char="•"/>
            </a:pPr>
            <a:r>
              <a:rPr lang="en-US" sz="1400">
                <a:solidFill>
                  <a:srgbClr val="1F2A44"/>
                </a:solidFill>
                <a:latin typeface="Calibri" pitchFamily="34" charset="0"/>
                <a:ea typeface="Calibri" pitchFamily="34" charset="-122"/>
                <a:cs typeface="Calibri" pitchFamily="34" charset="-120"/>
              </a:rPr>
              <a:t>Credit building and more destination countries for students</a:t>
            </a:r>
          </a:p>
          <a:p>
            <a:pPr marL="342900" indent="-342900">
              <a:spcAft>
                <a:spcPts val="800"/>
              </a:spcAft>
              <a:buSzPct val="100000"/>
              <a:buChar char="•"/>
            </a:pPr>
            <a:r>
              <a:rPr lang="en-US" sz="1400">
                <a:solidFill>
                  <a:srgbClr val="1F2A44"/>
                </a:solidFill>
                <a:latin typeface="Calibri" pitchFamily="34" charset="0"/>
                <a:ea typeface="Calibri" pitchFamily="34" charset="-122"/>
                <a:cs typeface="Calibri" pitchFamily="34" charset="-120"/>
              </a:rPr>
              <a:t>Vetted crypto library or hardware keys; offline parent recovery key</a:t>
            </a:r>
          </a:p>
          <a:p>
            <a:pPr marL="342900" indent="-342900">
              <a:spcAft>
                <a:spcPts val="800"/>
              </a:spcAft>
              <a:buSzPct val="100000"/>
              <a:buChar char="•"/>
            </a:pPr>
            <a:r>
              <a:rPr lang="en-US" sz="1400">
                <a:solidFill>
                  <a:srgbClr val="1F2A44"/>
                </a:solidFill>
                <a:latin typeface="Calibri" pitchFamily="34" charset="0"/>
                <a:ea typeface="Calibri" pitchFamily="34" charset="-122"/>
                <a:cs typeface="Calibri" pitchFamily="34" charset="-120"/>
              </a:rPr>
              <a:t>Cookie sessions with idle timeouts</a:t>
            </a:r>
            <a:endParaRPr lang="en-US" sz="1400" dirty="0"/>
          </a:p>
        </p:txBody>
      </p:sp>
      <p:sp>
        <p:nvSpPr>
          <p:cNvPr id="12" name="Shape 10"/>
          <p:cNvSpPr/>
          <p:nvPr/>
        </p:nvSpPr>
        <p:spPr>
          <a:xfrm>
            <a:off x="548640" y="5394960"/>
            <a:ext cx="11064240" cy="548640"/>
          </a:xfrm>
          <a:prstGeom prst="roundRect">
            <a:avLst>
              <a:gd name="adj" fmla="val 20000"/>
            </a:avLst>
          </a:prstGeom>
          <a:solidFill>
            <a:srgbClr val="14213D"/>
          </a:solidFill>
          <a:ln/>
        </p:spPr>
      </p:sp>
      <p:sp>
        <p:nvSpPr>
          <p:cNvPr id="13" name="Text 11"/>
          <p:cNvSpPr txBox="1"/>
          <p:nvPr/>
        </p:nvSpPr>
        <p:spPr>
          <a:xfrm>
            <a:off x="777240" y="5394960"/>
            <a:ext cx="1069848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Synthetic data only · Sandbox bank, no real money · Drafts, not official RBI or bank forms · Not tax advice</a:t>
            </a:r>
            <a:endParaRPr lang="en-US" sz="1400" dirty="0"/>
          </a:p>
        </p:txBody>
      </p:sp>
      <p:sp>
        <p:nvSpPr>
          <p:cNvPr id="25" name="Slide Number Placeholder 0"/>
          <p:cNvSpPr>
            <a:spLocks noGrp="1"/>
          </p:cNvSpPr>
          <p:nvPr>
            <p:ph type="sldNum" sz="quarter" idx="4294967295"/>
          </p:nvPr>
        </p:nvSpPr>
        <p:spPr>
          <a:xfrm>
            <a:off x="11247120" y="63550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A6378"/>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2888</Words>
  <Application>Microsoft Office PowerPoint</Application>
  <PresentationFormat>Widescreen</PresentationFormat>
  <Paragraphs>244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Paying fees abroad: four hard questions, one big fraud risk</vt:lpstr>
      <vt:lpstr>One guided flow, from invoice to receipt</vt:lpstr>
      <vt:lpstr>Student prepares, parent signs: the real app</vt:lpstr>
      <vt:lpstr>Architecture: keys with people, money in the sandbox</vt:lpstr>
      <vt:lpstr>India’s LRS and TCS rules, turned into tested code</vt:lpstr>
      <vt:lpstr>Route comparison: the lowest fee is not the cheapest</vt:lpstr>
      <vt:lpstr>Security: signatures instead of payee lists</vt:lpstr>
      <vt:lpstr>Defence in depth: each layer assumes the one before can fail</vt:lpstr>
      <vt:lpstr>PowerPoint Presentation</vt:lpstr>
      <vt:lpstr>Honest limits, and what comes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TuitionPilot</dc:title>
  <dc:subject>PptxGenJS Presentation</dc:subject>
  <dc:creator>Chandan and Nishanth</dc:creator>
  <cp:lastModifiedBy>thescienceworker@gmail.com</cp:lastModifiedBy>
  <cp:revision>4</cp:revision>
  <dcterms:created xsi:type="dcterms:W3CDTF">2026-10-18T05:26:24Z</dcterms:created>
  <dcterms:modified xsi:type="dcterms:W3CDTF">2026-10-19T04:02:24Z</dcterms:modified>
</cp:coreProperties>
</file>