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nd what" id="{9d2b21ec-8548-15c2-2f91-b67ea3e9f932}">
          <p14:sldIdLst>
            <p14:sldId id="256"/>
            <p14:sldId id="257"/>
            <p14:sldId id="258"/>
          </p14:sldIdLst>
        </p14:section>
        <p14:section name="How it works" id="{ec9c4240-00aa-2043-9398-fc54007919d6}">
          <p14:sldIdLst>
            <p14:sldId id="259"/>
            <p14:sldId id="260"/>
            <p14:sldId id="261"/>
          </p14:sldIdLst>
        </p14:section>
        <p14:section name="Security" id="{e8a7e532-d253-719d-bb2d-21056846d3f6}">
          <p14:sldIdLst>
            <p14:sldId id="262"/>
            <p14:sldId id="263"/>
          </p14:sldIdLst>
        </p14:section>
        <p14:section name="Proof and limits" id="{80149092-e3b3-3589-9947-7b98f2ca5581}">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What each route costs on top of the mid-market value (Rs, USD 20,000)</a:t>
            </a:r>
          </a:p>
        </c:rich>
      </c:tx>
      <c:layout/>
      <c:overlay val="0"/>
    </c:title>
    <c:autoTitleDeleted val="0"/>
    <c:plotArea>
      <c:layout/>
      <c:barChart>
        <c:barDir val="bar"/>
        <c:grouping val="stacked"/>
        <c:varyColors val="0"/>
        <c:ser>
          <c:idx val="0"/>
          <c:order val="0"/>
          <c:tx>
            <c:strRef>
              <c:f>Sheet1!$B$1</c:f>
              <c:strCache>
                <c:ptCount val="1"/>
                <c:pt idx="0">
                  <c:v>Hidden markup in the rate</c:v>
                </c:pt>
              </c:strCache>
            </c:strRef>
          </c:tx>
          <c:spPr>
            <a:solidFill>
              <a:srgbClr val="B4561F"/>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Provider B</c:v>
                  </c:pt>
                  <c:pt idx="1">
                    <c:v>Provider A</c:v>
                  </c:pt>
                </c:lvl>
              </c:multiLvlStrCache>
            </c:multiLvlStrRef>
          </c:cat>
          <c:val>
            <c:numRef>
              <c:f>Sheet1!$B$2:$B$3</c:f>
              <c:numCache>
                <c:formatCode>General</c:formatCode>
                <c:ptCount val="2"/>
                <c:pt idx="0">
                  <c:v>4000</c:v>
                </c:pt>
                <c:pt idx="1">
                  <c:v>10000</c:v>
                </c:pt>
              </c:numCache>
            </c:numRef>
          </c:val>
        </c:ser>
        <c:ser>
          <c:idx val="1"/>
          <c:order val="1"/>
          <c:tx>
            <c:strRef>
              <c:f>Sheet1!$C$1</c:f>
              <c:strCache>
                <c:ptCount val="1"/>
                <c:pt idx="0">
                  <c:v>Provider fee</c:v>
                </c:pt>
              </c:strCache>
            </c:strRef>
          </c:tx>
          <c:spPr>
            <a:solidFill>
              <a:srgbClr val="8A93A6"/>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Provider B</c:v>
                  </c:pt>
                  <c:pt idx="1">
                    <c:v>Provider A</c:v>
                  </c:pt>
                </c:lvl>
              </c:multiLvlStrCache>
            </c:multiLvlStrRef>
          </c:cat>
          <c:val>
            <c:numRef>
              <c:f>Sheet1!$C$2:$C$3</c:f>
              <c:numCache>
                <c:formatCode>General</c:formatCode>
                <c:ptCount val="2"/>
                <c:pt idx="0">
                  <c:v>3000</c:v>
                </c:pt>
                <c:pt idx="1">
                  <c:v>1500</c:v>
                </c:pt>
              </c:numCache>
            </c:numRef>
          </c:val>
        </c:ser>
        <c:ser>
          <c:idx val="2"/>
          <c:order val="2"/>
          <c:tx>
            <c:strRef>
              <c:f>Sheet1!$D$1</c:f>
              <c:strCache>
                <c:ptCount val="1"/>
                <c:pt idx="0">
                  <c:v>TCS at 2%</c:v>
                </c:pt>
              </c:strCache>
            </c:strRef>
          </c:tx>
          <c:spPr>
            <a:solidFill>
              <a:srgbClr val="1F5FA8"/>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Provider B</c:v>
                  </c:pt>
                  <c:pt idx="1">
                    <c:v>Provider A</c:v>
                  </c:pt>
                </c:lvl>
              </c:multiLvlStrCache>
            </c:multiLvlStrRef>
          </c:cat>
          <c:val>
            <c:numRef>
              <c:f>Sheet1!$D$2:$D$3</c:f>
              <c:numCache>
                <c:formatCode>General</c:formatCode>
                <c:ptCount val="2"/>
                <c:pt idx="0">
                  <c:v>16080</c:v>
                </c:pt>
                <c:pt idx="1">
                  <c:v>16200</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A44"/>
                </a:solidFill>
                <a:latin typeface="+mn-lt"/>
              </a:defRPr>
            </a:pPr>
            <a:endParaRPr lang="en-US"/>
          </a:p>
        </c:txPr>
        <c:crossAx val="2094734552"/>
        <c:crosses val="autoZero"/>
        <c:auto val="1"/>
        <c:lblAlgn val="ctr"/>
        <c:noMultiLvlLbl val="1"/>
      </c:catAx>
      <c:valAx>
        <c:axId val="2094734552"/>
        <c:scaling>
          <c:orientation val="minMax"/>
          <c:max val="30000"/>
          <c:min val="0"/>
        </c:scaling>
        <c:delete val="0"/>
        <c:axPos val="b"/>
        <c:majorGridlines>
          <c:spPr>
            <a:ln w="9525" cap="flat">
              <a:solidFill>
                <a:srgbClr val="E3E7EE"/>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378"/>
                </a:solidFill>
                <a:latin typeface="+mn-lt"/>
              </a:defRPr>
            </a:pPr>
            <a:endParaRPr lang="en-US"/>
          </a:p>
        </c:txPr>
        <c:crossAx val="2094734554"/>
        <c:crosses val="autoZero"/>
        <c:crossBetween val="between"/>
        <c:majorUnit val="5000"/>
      </c:valAx>
      <c:spPr>
        <a:noFill/>
        <a:ln>
          <a:noFill/>
        </a:ln>
        <a:effectLst/>
      </c:spPr>
    </c:plotArea>
    <c:legend>
      <c:legendPos val="b"/>
      <c:overlay val="0"/>
      <c:txPr>
        <a:bodyPr/>
        <a:lstStyle/>
        <a:p>
          <a:pPr>
            <a:defRPr sz="1200">
              <a:solidFill>
                <a:srgbClr val="1F2A4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TuitionPilot is an AI agent for Indian families who pay university fees abroad. It does three things that matter: it proves the invoice really comes from the university and its real bank account, it explains every rupee of tax and cost, and it can pay only after the parent's own device signs the exact plan. Everything you will see uses synthetic data and a simulated bank. It is not tax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Before paying, a family has to answer four questions on their own: how much of the yearly LRS limit is left, how much TCS tax the bank will add, which bank or provider is really cheapest once the exchange-rate markup is counted, and which papers the bank wants. One mistake costs money. And there is a fraud risk: an e-mail saying the university's bank details have changed is a classic way to steal fees. TuitionPilot is built so that this attack fails by design. Note the LRS cap is still marked unverified in our rule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The app tells the payment as a guided six-step story: welcome and consent, the invoice with an animated signature check, one question at a time, the best route with a cost chart, what-if sliders and the LRS gauge, review and sign with a PIN while the parent's device signs the plan, and the receipt. Beside it, a live agent panel shows every decision and exactly what the AI saw, and an attack lab runs 16 attacks live. Our design rule is that code computes and the AI explains. To be honest, the AI step today is an offline, deterministic stand-in.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Orange is outside our server: the university, the parent's and student's browsers, and the trust root. Every private key lives there, never on the server. Blue is the agent pipeline from intake to plan; the dashed box is the only step that uses an AI model, and it sees masked text only. White boxes are guards: the text scanner, the grounding check, the versioned rule pack and the message contract. Navy is the money path: every tool call goes through the policy gate, then the sandbox bank, then a hash-chained audit log and receipt. The whole server is Python standard library and listens only on this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15. The rules engine stores every rate in a versioned rule pack with its value, start date, source and status. No TCS on the first 10 lakh rupees a person sends in a year; above that, 2 percent for self-funded education from 1 April 2026, and zero with an education loan. Worked example A2: 15 lakh self-funded, so 5 lakh is taxable and TCS is 10,000 rupees. With a loan, zero. We are honest about sources: the threshold and education rates come from secondary sources, and the LRS cap and no-PAN rate are still unverified, so every output that uses them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15. Same USD 20,000, two providers. Provider A has the lower fee, so most people pick A. But B is 4,620 rupees cheaper. The chart shows what each route costs on top of the real exchange value: A hides 10,000 rupees inside its exchange rate, B only 4,000. The why breakdown, written by code, adds up exactly: B's better rate saves 6,000, A's fee is 1,500 lower, and TCS is 120 less with B. The mid-market rate of 90.00 is an example value from our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15. We keep no list of good payees. One trust root certifies each university together with its bank account, and the university signs every invoice. The agent checks every link: certificate from the root and not revoked, invoice signature valid, bank details equal to the certificate, printed text equal to the signed data. Change the bank account and the signature breaks. For payments, the parent's browser makes its own key that cannot be exported, registers only the public half with the PIN, recomputes the plan hash itself and signs that exact plan. The policy gate checks the signature before any payment, so the agent can neither forge an approval nor change the plan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Security is 30 percent of the score, so we layered it. Every action has a permission tier. Reading and computing need no approval, saving needs a click, a sandbox payment needs the PIN plus the parent device's signature over the plan hash, and tier 4 is never allowed. The AI model has no payment tool at all. Around that: masking before the model sees anything, a grounding check on every number it writes, a text scanner for injection and fake-admin tricks, a cap, emergency stop and circuit breaker, a hash-chained audit log, and a family vault where documents are encrypted in the browser so the server only ever holds ciphertext.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Everything here can be rerun with one command each. 227 tests pass. All 27 scenarios pass: ten task-completion, six safe-execution, nine attacks including a forged approval and a revoked university key, and two privacy scenarios. The attack lab stops all 16 attacks. The scripted sandbox run writes a ledger, the log of what the AI saw, and an audit log of 153 entries whose hash chain verifies. A finance audit of 400 random cases matched an independent formula, and it found three bugs in the agent, which we fixed with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We want to be plain about limits. Some tax rules are still unverified or from secondary sources, and every output that uses them says so; GST on the currency conversion itself is not modelled. The AI step is an offline stand-in, our signature code is not hardened, the demo keys are synthetic, and the local server still lacks an origin check. Next, we verify every rule against the RBI Master Direction and the Income-tax Act, connect a hosted model behind the same guards, move to a vetted crypto library or hardware keys, and harden the server.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0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355080"/>
            <a:ext cx="9144000" cy="274320"/>
          </a:xfrm>
          <a:prstGeom prst="rect">
            <a:avLst/>
          </a:prstGeom>
          <a:noFill/>
          <a:ln/>
        </p:spPr>
        <p:txBody>
          <a:bodyPr wrap="square" lIns="0" tIns="0" rIns="0" bIns="0" rtlCol="0" anchor="ctr"/>
          <a:lstStyle/>
          <a:p>
            <a:pPr indent="0" marL="0">
              <a:buNone/>
            </a:pPr>
            <a:r>
              <a:rPr lang="en-US" sz="1000" dirty="0">
                <a:solidFill>
                  <a:srgbClr val="5A6378"/>
                </a:solidFill>
                <a:latin typeface="Calibri" pitchFamily="34" charset="0"/>
                <a:ea typeface="Calibri" pitchFamily="34" charset="-122"/>
                <a:cs typeface="Calibri" pitchFamily="34" charset="-120"/>
              </a:rPr>
              <a:t>TuitionPilot · 2026 Shenzhen FinTechathon · Synthetic data · Not tax advice</a:t>
            </a:r>
            <a:endParaRPr lang="en-US" sz="10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22960"/>
            <a:ext cx="10698480" cy="365760"/>
          </a:xfrm>
          <a:prstGeom prst="rect">
            <a:avLst/>
          </a:prstGeom>
          <a:noFill/>
          <a:ln/>
        </p:spPr>
        <p:txBody>
          <a:bodyPr wrap="square" lIns="0" tIns="0" rIns="0" bIns="0" rtlCol="0" anchor="t"/>
          <a:lstStyle/>
          <a:p>
            <a:pPr indent="0" marL="0">
              <a:buNone/>
            </a:pPr>
            <a:r>
              <a:rPr lang="en-US" sz="1400" b="1" spc="200" kern="0" dirty="0">
                <a:solidFill>
                  <a:srgbClr val="F2C38B"/>
                </a:solidFill>
                <a:latin typeface="Calibri" pitchFamily="34" charset="0"/>
                <a:ea typeface="Calibri" pitchFamily="34" charset="-122"/>
                <a:cs typeface="Calibri" pitchFamily="34" charset="-120"/>
              </a:rPr>
              <a:t>2026 SHENZHEN FINTECHATHON · INTERNATIONAL TRACK · TOPIC C</a:t>
            </a:r>
            <a:endParaRPr lang="en-US" sz="1400" dirty="0"/>
          </a:p>
        </p:txBody>
      </p:sp>
      <p:sp>
        <p:nvSpPr>
          <p:cNvPr id="3" name="Text 1"/>
          <p:cNvSpPr txBox="1"/>
          <p:nvPr/>
        </p:nvSpPr>
        <p:spPr>
          <a:xfrm>
            <a:off x="731520" y="1325880"/>
            <a:ext cx="10698480" cy="1188720"/>
          </a:xfrm>
          <a:prstGeom prst="rect">
            <a:avLst/>
          </a:prstGeom>
          <a:noFill/>
          <a:ln/>
        </p:spPr>
        <p:txBody>
          <a:bodyPr wrap="square" lIns="0" tIns="0" rIns="0" bIns="0" rtlCol="0" anchor="t"/>
          <a:lstStyle/>
          <a:p>
            <a:pPr indent="0" marL="0">
              <a:buNone/>
            </a:pPr>
            <a:r>
              <a:rPr lang="en-US" sz="6600" b="1" dirty="0">
                <a:solidFill>
                  <a:srgbClr val="FFFFFF"/>
                </a:solidFill>
                <a:latin typeface="Cambria" pitchFamily="34" charset="0"/>
                <a:ea typeface="Cambria" pitchFamily="34" charset="-122"/>
                <a:cs typeface="Cambria" pitchFamily="34" charset="-120"/>
              </a:rPr>
              <a:t>TuitionPilot</a:t>
            </a:r>
            <a:endParaRPr lang="en-US" sz="6600" dirty="0"/>
          </a:p>
        </p:txBody>
      </p:sp>
      <p:sp>
        <p:nvSpPr>
          <p:cNvPr id="4" name="Text 2"/>
          <p:cNvSpPr txBox="1"/>
          <p:nvPr/>
        </p:nvSpPr>
        <p:spPr>
          <a:xfrm>
            <a:off x="731520" y="2651760"/>
            <a:ext cx="9692640" cy="1188720"/>
          </a:xfrm>
          <a:prstGeom prst="rect">
            <a:avLst/>
          </a:prstGeom>
          <a:noFill/>
          <a:ln/>
        </p:spPr>
        <p:txBody>
          <a:bodyPr wrap="square" lIns="0" tIns="0" rIns="0" bIns="0" rtlCol="0" anchor="t"/>
          <a:lstStyle/>
          <a:p>
            <a:pPr indent="0" marL="0">
              <a:buNone/>
            </a:pPr>
            <a:r>
              <a:rPr lang="en-US" sz="2200" dirty="0">
                <a:solidFill>
                  <a:srgbClr val="C9D3E6"/>
                </a:solidFill>
                <a:latin typeface="Calibri" pitchFamily="34" charset="0"/>
                <a:ea typeface="Calibri" pitchFamily="34" charset="-122"/>
                <a:cs typeface="Calibri" pitchFamily="34" charset="-120"/>
              </a:rPr>
              <a:t>An AI agent that helps Indian families pay university fees abroad: it checks the invoice is genuine, explains every rupee, and pays only after the parent’s own device signs the exact plan.</a:t>
            </a:r>
            <a:endParaRPr lang="en-US" sz="2200" dirty="0"/>
          </a:p>
        </p:txBody>
      </p:sp>
      <p:sp>
        <p:nvSpPr>
          <p:cNvPr id="5" name="Shape 3"/>
          <p:cNvSpPr/>
          <p:nvPr/>
        </p:nvSpPr>
        <p:spPr>
          <a:xfrm>
            <a:off x="731520" y="4343400"/>
            <a:ext cx="3383280" cy="914400"/>
          </a:xfrm>
          <a:prstGeom prst="roundRect">
            <a:avLst>
              <a:gd name="adj" fmla="val 12000"/>
            </a:avLst>
          </a:prstGeom>
          <a:solidFill>
            <a:srgbClr val="1F2F52"/>
          </a:solidFill>
          <a:ln/>
        </p:spPr>
      </p:sp>
      <p:sp>
        <p:nvSpPr>
          <p:cNvPr id="6" name="Shape 4"/>
          <p:cNvSpPr/>
          <p:nvPr/>
        </p:nvSpPr>
        <p:spPr>
          <a:xfrm>
            <a:off x="960120" y="4572000"/>
            <a:ext cx="457200" cy="457200"/>
          </a:xfrm>
          <a:prstGeom prst="ellipse">
            <a:avLst/>
          </a:prstGeom>
          <a:solidFill>
            <a:srgbClr val="F2C38B"/>
          </a:solidFill>
          <a:ln/>
        </p:spPr>
      </p:sp>
      <p:sp>
        <p:nvSpPr>
          <p:cNvPr id="7" name="Text 5"/>
          <p:cNvSpPr txBox="1"/>
          <p:nvPr/>
        </p:nvSpPr>
        <p:spPr>
          <a:xfrm>
            <a:off x="960120" y="4572000"/>
            <a:ext cx="457200" cy="457200"/>
          </a:xfrm>
          <a:prstGeom prst="rect">
            <a:avLst/>
          </a:prstGeom>
          <a:noFill/>
          <a:ln/>
        </p:spPr>
        <p:txBody>
          <a:bodyPr wrap="square" lIns="0" tIns="0" rIns="0" bIns="0" rtlCol="0" anchor="ctr"/>
          <a:lstStyle/>
          <a:p>
            <a:pPr algn="ctr" indent="0" marL="0">
              <a:buNone/>
            </a:pPr>
            <a:r>
              <a:rPr lang="en-US" sz="1400" b="1" dirty="0">
                <a:solidFill>
                  <a:srgbClr val="14213D"/>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554480" y="4434840"/>
            <a:ext cx="242316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Signed invoices instead of payee lists</a:t>
            </a:r>
            <a:endParaRPr lang="en-US" sz="1500" dirty="0"/>
          </a:p>
        </p:txBody>
      </p:sp>
      <p:sp>
        <p:nvSpPr>
          <p:cNvPr id="9" name="Shape 7"/>
          <p:cNvSpPr/>
          <p:nvPr/>
        </p:nvSpPr>
        <p:spPr>
          <a:xfrm>
            <a:off x="4343400" y="4343400"/>
            <a:ext cx="3383280" cy="914400"/>
          </a:xfrm>
          <a:prstGeom prst="roundRect">
            <a:avLst>
              <a:gd name="adj" fmla="val 12000"/>
            </a:avLst>
          </a:prstGeom>
          <a:solidFill>
            <a:srgbClr val="1F2F52"/>
          </a:solidFill>
          <a:ln/>
        </p:spPr>
      </p:sp>
      <p:sp>
        <p:nvSpPr>
          <p:cNvPr id="10" name="Shape 8"/>
          <p:cNvSpPr/>
          <p:nvPr/>
        </p:nvSpPr>
        <p:spPr>
          <a:xfrm>
            <a:off x="4572000" y="4572000"/>
            <a:ext cx="457200" cy="457200"/>
          </a:xfrm>
          <a:prstGeom prst="ellipse">
            <a:avLst/>
          </a:prstGeom>
          <a:solidFill>
            <a:srgbClr val="F2C38B"/>
          </a:solidFill>
          <a:ln/>
        </p:spPr>
      </p:sp>
      <p:sp>
        <p:nvSpPr>
          <p:cNvPr id="11" name="Text 9"/>
          <p:cNvSpPr txBox="1"/>
          <p:nvPr/>
        </p:nvSpPr>
        <p:spPr>
          <a:xfrm>
            <a:off x="4572000" y="4572000"/>
            <a:ext cx="457200" cy="457200"/>
          </a:xfrm>
          <a:prstGeom prst="rect">
            <a:avLst/>
          </a:prstGeom>
          <a:noFill/>
          <a:ln/>
        </p:spPr>
        <p:txBody>
          <a:bodyPr wrap="square" lIns="0" tIns="0" rIns="0" bIns="0" rtlCol="0" anchor="ctr"/>
          <a:lstStyle/>
          <a:p>
            <a:pPr algn="ctr" indent="0" marL="0">
              <a:buNone/>
            </a:pPr>
            <a:r>
              <a:rPr lang="en-US" sz="1400" b="1" dirty="0">
                <a:solidFill>
                  <a:srgbClr val="14213D"/>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5166360" y="4434840"/>
            <a:ext cx="242316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parent’s device signs every payment</a:t>
            </a:r>
            <a:endParaRPr lang="en-US" sz="1500" dirty="0"/>
          </a:p>
        </p:txBody>
      </p:sp>
      <p:sp>
        <p:nvSpPr>
          <p:cNvPr id="13" name="Shape 11"/>
          <p:cNvSpPr/>
          <p:nvPr/>
        </p:nvSpPr>
        <p:spPr>
          <a:xfrm>
            <a:off x="7955280" y="4343400"/>
            <a:ext cx="3383280" cy="914400"/>
          </a:xfrm>
          <a:prstGeom prst="roundRect">
            <a:avLst>
              <a:gd name="adj" fmla="val 12000"/>
            </a:avLst>
          </a:prstGeom>
          <a:solidFill>
            <a:srgbClr val="1F2F52"/>
          </a:solidFill>
          <a:ln/>
        </p:spPr>
      </p:sp>
      <p:sp>
        <p:nvSpPr>
          <p:cNvPr id="14" name="Shape 12"/>
          <p:cNvSpPr/>
          <p:nvPr/>
        </p:nvSpPr>
        <p:spPr>
          <a:xfrm>
            <a:off x="8183880" y="4572000"/>
            <a:ext cx="457200" cy="457200"/>
          </a:xfrm>
          <a:prstGeom prst="ellipse">
            <a:avLst/>
          </a:prstGeom>
          <a:solidFill>
            <a:srgbClr val="F2C38B"/>
          </a:solidFill>
          <a:ln/>
        </p:spPr>
      </p:sp>
      <p:sp>
        <p:nvSpPr>
          <p:cNvPr id="15" name="Text 13"/>
          <p:cNvSpPr txBox="1"/>
          <p:nvPr/>
        </p:nvSpPr>
        <p:spPr>
          <a:xfrm>
            <a:off x="8183880" y="4572000"/>
            <a:ext cx="457200" cy="457200"/>
          </a:xfrm>
          <a:prstGeom prst="rect">
            <a:avLst/>
          </a:prstGeom>
          <a:noFill/>
          <a:ln/>
        </p:spPr>
        <p:txBody>
          <a:bodyPr wrap="square" lIns="0" tIns="0" rIns="0" bIns="0" rtlCol="0" anchor="ctr"/>
          <a:lstStyle/>
          <a:p>
            <a:pPr algn="ctr" indent="0" marL="0">
              <a:buNone/>
            </a:pPr>
            <a:r>
              <a:rPr lang="en-US" sz="1400" b="1" dirty="0">
                <a:solidFill>
                  <a:srgbClr val="14213D"/>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8778240" y="4434840"/>
            <a:ext cx="2423160" cy="7315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Every number traced to a rule and source</a:t>
            </a:r>
            <a:endParaRPr lang="en-US" sz="1500" dirty="0"/>
          </a:p>
        </p:txBody>
      </p:sp>
      <p:sp>
        <p:nvSpPr>
          <p:cNvPr id="17" name="Text 15"/>
          <p:cNvSpPr txBox="1"/>
          <p:nvPr/>
        </p:nvSpPr>
        <p:spPr>
          <a:xfrm>
            <a:off x="731520" y="6172200"/>
            <a:ext cx="10698480" cy="320040"/>
          </a:xfrm>
          <a:prstGeom prst="rect">
            <a:avLst/>
          </a:prstGeom>
          <a:noFill/>
          <a:ln/>
        </p:spPr>
        <p:txBody>
          <a:bodyPr wrap="square" lIns="0" tIns="0" rIns="0" bIns="0" rtlCol="0" anchor="t"/>
          <a:lstStyle/>
          <a:p>
            <a:pPr indent="0" marL="0">
              <a:buNone/>
            </a:pPr>
            <a:r>
              <a:rPr lang="en-US" sz="1200" dirty="0">
                <a:solidFill>
                  <a:srgbClr val="A9B6CF"/>
                </a:solidFill>
                <a:latin typeface="Calibri" pitchFamily="34" charset="0"/>
                <a:ea typeface="Calibri" pitchFamily="34" charset="-122"/>
                <a:cs typeface="Calibri" pitchFamily="34" charset="-120"/>
              </a:rPr>
              <a:t>Chandan · Nishanth   |   Synthetic data only · Sandbox bank, no real money · Not tax advice · Not RBI-approved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rgbClr val="14213D"/>
                </a:solidFill>
                <a:latin typeface="Cambria" pitchFamily="34" charset="0"/>
                <a:ea typeface="Cambria" pitchFamily="34" charset="-122"/>
                <a:cs typeface="Cambria" pitchFamily="34" charset="-120"/>
              </a:rPr>
              <a:t>Paying fees abroad: four hard questions, one big fraud risk</a:t>
            </a:r>
            <a:endParaRPr lang="en-US" sz="3000" dirty="0"/>
          </a:p>
        </p:txBody>
      </p:sp>
      <p:sp>
        <p:nvSpPr>
          <p:cNvPr id="3" name="Shape 1"/>
          <p:cNvSpPr/>
          <p:nvPr/>
        </p:nvSpPr>
        <p:spPr>
          <a:xfrm>
            <a:off x="548640" y="1371600"/>
            <a:ext cx="3429000" cy="2148840"/>
          </a:xfrm>
          <a:prstGeom prst="roundRect">
            <a:avLst>
              <a:gd name="adj" fmla="val 5106"/>
            </a:avLst>
          </a:prstGeom>
          <a:solidFill>
            <a:srgbClr val="F3F5F9"/>
          </a:solidFill>
          <a:ln/>
        </p:spPr>
      </p:sp>
      <p:sp>
        <p:nvSpPr>
          <p:cNvPr id="4" name="Shape 2"/>
          <p:cNvSpPr/>
          <p:nvPr/>
        </p:nvSpPr>
        <p:spPr>
          <a:xfrm>
            <a:off x="822960" y="1645920"/>
            <a:ext cx="502920" cy="502920"/>
          </a:xfrm>
          <a:prstGeom prst="ellipse">
            <a:avLst/>
          </a:prstGeom>
          <a:solidFill>
            <a:srgbClr val="1F5FA8"/>
          </a:solidFill>
          <a:ln/>
        </p:spPr>
      </p:sp>
      <p:sp>
        <p:nvSpPr>
          <p:cNvPr id="5" name="Text 3"/>
          <p:cNvSpPr txBox="1"/>
          <p:nvPr/>
        </p:nvSpPr>
        <p:spPr>
          <a:xfrm>
            <a:off x="822960" y="1645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822960" y="2286000"/>
            <a:ext cx="2926080" cy="5943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How much of the yearly LRS limit is left?</a:t>
            </a:r>
            <a:endParaRPr lang="en-US" sz="1600" dirty="0"/>
          </a:p>
        </p:txBody>
      </p:sp>
      <p:sp>
        <p:nvSpPr>
          <p:cNvPr id="7" name="Text 5"/>
          <p:cNvSpPr txBox="1"/>
          <p:nvPr/>
        </p:nvSpPr>
        <p:spPr>
          <a:xfrm>
            <a:off x="822960" y="2852928"/>
            <a:ext cx="2926080" cy="640080"/>
          </a:xfrm>
          <a:prstGeom prst="rect">
            <a:avLst/>
          </a:prstGeom>
          <a:noFill/>
          <a:ln/>
        </p:spPr>
        <p:txBody>
          <a:bodyPr wrap="square" lIns="0" tIns="0" rIns="0" bIns="0" rtlCol="0" anchor="t"/>
          <a:lstStyle/>
          <a:p>
            <a:pPr indent="0" marL="0">
              <a:buNone/>
            </a:pPr>
            <a:r>
              <a:rPr lang="en-US" sz="1300" dirty="0">
                <a:solidFill>
                  <a:srgbClr val="5A6378"/>
                </a:solidFill>
                <a:latin typeface="Calibri" pitchFamily="34" charset="0"/>
                <a:ea typeface="Calibri" pitchFamily="34" charset="-122"/>
                <a:cs typeface="Calibri" pitchFamily="34" charset="-120"/>
              </a:rPr>
              <a:t>USD 250,000 per person per year, all purposes together (rule still unverified)</a:t>
            </a:r>
            <a:endParaRPr lang="en-US" sz="1300" dirty="0"/>
          </a:p>
        </p:txBody>
      </p:sp>
      <p:sp>
        <p:nvSpPr>
          <p:cNvPr id="8" name="Shape 6"/>
          <p:cNvSpPr/>
          <p:nvPr/>
        </p:nvSpPr>
        <p:spPr>
          <a:xfrm>
            <a:off x="4160520" y="1371600"/>
            <a:ext cx="3429000" cy="2148840"/>
          </a:xfrm>
          <a:prstGeom prst="roundRect">
            <a:avLst>
              <a:gd name="adj" fmla="val 5106"/>
            </a:avLst>
          </a:prstGeom>
          <a:solidFill>
            <a:srgbClr val="F3F5F9"/>
          </a:solidFill>
          <a:ln/>
        </p:spPr>
      </p:sp>
      <p:sp>
        <p:nvSpPr>
          <p:cNvPr id="9" name="Shape 7"/>
          <p:cNvSpPr/>
          <p:nvPr/>
        </p:nvSpPr>
        <p:spPr>
          <a:xfrm>
            <a:off x="4434840" y="1645920"/>
            <a:ext cx="502920" cy="502920"/>
          </a:xfrm>
          <a:prstGeom prst="ellipse">
            <a:avLst/>
          </a:prstGeom>
          <a:solidFill>
            <a:srgbClr val="1F5FA8"/>
          </a:solidFill>
          <a:ln/>
        </p:spPr>
      </p:sp>
      <p:sp>
        <p:nvSpPr>
          <p:cNvPr id="10" name="Text 8"/>
          <p:cNvSpPr txBox="1"/>
          <p:nvPr/>
        </p:nvSpPr>
        <p:spPr>
          <a:xfrm>
            <a:off x="4434840" y="1645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4434840" y="2286000"/>
            <a:ext cx="2926080" cy="5943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How much TCS tax will the bank add?</a:t>
            </a:r>
            <a:endParaRPr lang="en-US" sz="1600" dirty="0"/>
          </a:p>
        </p:txBody>
      </p:sp>
      <p:sp>
        <p:nvSpPr>
          <p:cNvPr id="12" name="Text 10"/>
          <p:cNvSpPr txBox="1"/>
          <p:nvPr/>
        </p:nvSpPr>
        <p:spPr>
          <a:xfrm>
            <a:off x="4434840" y="2852928"/>
            <a:ext cx="2926080" cy="640080"/>
          </a:xfrm>
          <a:prstGeom prst="rect">
            <a:avLst/>
          </a:prstGeom>
          <a:noFill/>
          <a:ln/>
        </p:spPr>
        <p:txBody>
          <a:bodyPr wrap="square" lIns="0" tIns="0" rIns="0" bIns="0" rtlCol="0" anchor="t"/>
          <a:lstStyle/>
          <a:p>
            <a:pPr indent="0" marL="0">
              <a:buNone/>
            </a:pPr>
            <a:r>
              <a:rPr lang="en-US" sz="1300" dirty="0">
                <a:solidFill>
                  <a:srgbClr val="5A6378"/>
                </a:solidFill>
                <a:latin typeface="Calibri" pitchFamily="34" charset="0"/>
                <a:ea typeface="Calibri" pitchFamily="34" charset="-122"/>
                <a:cs typeface="Calibri" pitchFamily="34" charset="-120"/>
              </a:rPr>
              <a:t>2% above Rs 10 lakh if self-funded; 0% with an education loan</a:t>
            </a:r>
            <a:endParaRPr lang="en-US" sz="1300" dirty="0"/>
          </a:p>
        </p:txBody>
      </p:sp>
      <p:sp>
        <p:nvSpPr>
          <p:cNvPr id="13" name="Shape 11"/>
          <p:cNvSpPr/>
          <p:nvPr/>
        </p:nvSpPr>
        <p:spPr>
          <a:xfrm>
            <a:off x="548640" y="3703320"/>
            <a:ext cx="3429000" cy="2148840"/>
          </a:xfrm>
          <a:prstGeom prst="roundRect">
            <a:avLst>
              <a:gd name="adj" fmla="val 5106"/>
            </a:avLst>
          </a:prstGeom>
          <a:solidFill>
            <a:srgbClr val="F3F5F9"/>
          </a:solidFill>
          <a:ln/>
        </p:spPr>
      </p:sp>
      <p:sp>
        <p:nvSpPr>
          <p:cNvPr id="14" name="Shape 12"/>
          <p:cNvSpPr/>
          <p:nvPr/>
        </p:nvSpPr>
        <p:spPr>
          <a:xfrm>
            <a:off x="822960" y="3977640"/>
            <a:ext cx="502920" cy="502920"/>
          </a:xfrm>
          <a:prstGeom prst="ellipse">
            <a:avLst/>
          </a:prstGeom>
          <a:solidFill>
            <a:srgbClr val="1F5FA8"/>
          </a:solidFill>
          <a:ln/>
        </p:spPr>
      </p:sp>
      <p:sp>
        <p:nvSpPr>
          <p:cNvPr id="15" name="Text 13"/>
          <p:cNvSpPr txBox="1"/>
          <p:nvPr/>
        </p:nvSpPr>
        <p:spPr>
          <a:xfrm>
            <a:off x="822960" y="39776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822960" y="4617720"/>
            <a:ext cx="2926080" cy="5943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Which route is really cheapest?</a:t>
            </a:r>
            <a:endParaRPr lang="en-US" sz="1600" dirty="0"/>
          </a:p>
        </p:txBody>
      </p:sp>
      <p:sp>
        <p:nvSpPr>
          <p:cNvPr id="17" name="Text 15"/>
          <p:cNvSpPr txBox="1"/>
          <p:nvPr/>
        </p:nvSpPr>
        <p:spPr>
          <a:xfrm>
            <a:off x="822960" y="5184648"/>
            <a:ext cx="2926080" cy="640080"/>
          </a:xfrm>
          <a:prstGeom prst="rect">
            <a:avLst/>
          </a:prstGeom>
          <a:noFill/>
          <a:ln/>
        </p:spPr>
        <p:txBody>
          <a:bodyPr wrap="square" lIns="0" tIns="0" rIns="0" bIns="0" rtlCol="0" anchor="t"/>
          <a:lstStyle/>
          <a:p>
            <a:pPr indent="0" marL="0">
              <a:buNone/>
            </a:pPr>
            <a:r>
              <a:rPr lang="en-US" sz="1300" dirty="0">
                <a:solidFill>
                  <a:srgbClr val="5A6378"/>
                </a:solidFill>
                <a:latin typeface="Calibri" pitchFamily="34" charset="0"/>
                <a:ea typeface="Calibri" pitchFamily="34" charset="-122"/>
                <a:cs typeface="Calibri" pitchFamily="34" charset="-120"/>
              </a:rPr>
              <a:t>A low fee can hide a worse exchange rate; the markup is never shown as a fee</a:t>
            </a:r>
            <a:endParaRPr lang="en-US" sz="1300" dirty="0"/>
          </a:p>
        </p:txBody>
      </p:sp>
      <p:sp>
        <p:nvSpPr>
          <p:cNvPr id="18" name="Shape 16"/>
          <p:cNvSpPr/>
          <p:nvPr/>
        </p:nvSpPr>
        <p:spPr>
          <a:xfrm>
            <a:off x="4160520" y="3703320"/>
            <a:ext cx="3429000" cy="2148840"/>
          </a:xfrm>
          <a:prstGeom prst="roundRect">
            <a:avLst>
              <a:gd name="adj" fmla="val 5106"/>
            </a:avLst>
          </a:prstGeom>
          <a:solidFill>
            <a:srgbClr val="F3F5F9"/>
          </a:solidFill>
          <a:ln/>
        </p:spPr>
      </p:sp>
      <p:sp>
        <p:nvSpPr>
          <p:cNvPr id="19" name="Shape 17"/>
          <p:cNvSpPr/>
          <p:nvPr/>
        </p:nvSpPr>
        <p:spPr>
          <a:xfrm>
            <a:off x="4434840" y="3977640"/>
            <a:ext cx="502920" cy="502920"/>
          </a:xfrm>
          <a:prstGeom prst="ellipse">
            <a:avLst/>
          </a:prstGeom>
          <a:solidFill>
            <a:srgbClr val="1F5FA8"/>
          </a:solidFill>
          <a:ln/>
        </p:spPr>
      </p:sp>
      <p:sp>
        <p:nvSpPr>
          <p:cNvPr id="20" name="Text 18"/>
          <p:cNvSpPr txBox="1"/>
          <p:nvPr/>
        </p:nvSpPr>
        <p:spPr>
          <a:xfrm>
            <a:off x="4434840" y="39776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4434840" y="4617720"/>
            <a:ext cx="2926080" cy="5943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Which papers does the bank want?</a:t>
            </a:r>
            <a:endParaRPr lang="en-US" sz="1600" dirty="0"/>
          </a:p>
        </p:txBody>
      </p:sp>
      <p:sp>
        <p:nvSpPr>
          <p:cNvPr id="22" name="Text 20"/>
          <p:cNvSpPr txBox="1"/>
          <p:nvPr/>
        </p:nvSpPr>
        <p:spPr>
          <a:xfrm>
            <a:off x="4434840" y="5184648"/>
            <a:ext cx="2926080" cy="640080"/>
          </a:xfrm>
          <a:prstGeom prst="rect">
            <a:avLst/>
          </a:prstGeom>
          <a:noFill/>
          <a:ln/>
        </p:spPr>
        <p:txBody>
          <a:bodyPr wrap="square" lIns="0" tIns="0" rIns="0" bIns="0" rtlCol="0" anchor="t"/>
          <a:lstStyle/>
          <a:p>
            <a:pPr indent="0" marL="0">
              <a:buNone/>
            </a:pPr>
            <a:r>
              <a:rPr lang="en-US" sz="1300" dirty="0">
                <a:solidFill>
                  <a:srgbClr val="5A6378"/>
                </a:solidFill>
                <a:latin typeface="Calibri" pitchFamily="34" charset="0"/>
                <a:ea typeface="Calibri" pitchFamily="34" charset="-122"/>
                <a:cs typeface="Calibri" pitchFamily="34" charset="-120"/>
              </a:rPr>
              <a:t>A2 form, PAN, invoice, admission letter, passport, visa document</a:t>
            </a:r>
            <a:endParaRPr lang="en-US" sz="1300" dirty="0"/>
          </a:p>
        </p:txBody>
      </p:sp>
      <p:sp>
        <p:nvSpPr>
          <p:cNvPr id="23" name="Shape 21"/>
          <p:cNvSpPr/>
          <p:nvPr/>
        </p:nvSpPr>
        <p:spPr>
          <a:xfrm>
            <a:off x="7909560" y="1371600"/>
            <a:ext cx="3703320" cy="4480560"/>
          </a:xfrm>
          <a:prstGeom prst="roundRect">
            <a:avLst>
              <a:gd name="adj" fmla="val 2963"/>
            </a:avLst>
          </a:prstGeom>
          <a:solidFill>
            <a:srgbClr val="14213D"/>
          </a:solidFill>
          <a:ln/>
        </p:spPr>
      </p:sp>
      <p:sp>
        <p:nvSpPr>
          <p:cNvPr id="24" name="Text 22"/>
          <p:cNvSpPr txBox="1"/>
          <p:nvPr/>
        </p:nvSpPr>
        <p:spPr>
          <a:xfrm>
            <a:off x="8229600" y="1645920"/>
            <a:ext cx="3108960" cy="320040"/>
          </a:xfrm>
          <a:prstGeom prst="rect">
            <a:avLst/>
          </a:prstGeom>
          <a:noFill/>
          <a:ln/>
        </p:spPr>
        <p:txBody>
          <a:bodyPr wrap="square" lIns="0" tIns="0" rIns="0" bIns="0" rtlCol="0" anchor="t"/>
          <a:lstStyle/>
          <a:p>
            <a:pPr indent="0" marL="0">
              <a:buNone/>
            </a:pPr>
            <a:r>
              <a:rPr lang="en-US" sz="1300" b="1" spc="200" kern="0" dirty="0">
                <a:solidFill>
                  <a:srgbClr val="F2C38B"/>
                </a:solidFill>
                <a:latin typeface="Calibri" pitchFamily="34" charset="0"/>
                <a:ea typeface="Calibri" pitchFamily="34" charset="-122"/>
                <a:cs typeface="Calibri" pitchFamily="34" charset="-120"/>
              </a:rPr>
              <a:t>THE FRAUD</a:t>
            </a:r>
            <a:endParaRPr lang="en-US" sz="1300" dirty="0"/>
          </a:p>
        </p:txBody>
      </p:sp>
      <p:sp>
        <p:nvSpPr>
          <p:cNvPr id="25" name="Text 23"/>
          <p:cNvSpPr txBox="1"/>
          <p:nvPr/>
        </p:nvSpPr>
        <p:spPr>
          <a:xfrm>
            <a:off x="8229600" y="2057400"/>
            <a:ext cx="3108960" cy="1463040"/>
          </a:xfrm>
          <a:prstGeom prst="rect">
            <a:avLst/>
          </a:prstGeom>
          <a:noFill/>
          <a:ln/>
        </p:spPr>
        <p:txBody>
          <a:bodyPr wrap="square" lIns="0" tIns="0" rIns="0" bIns="0" rtlCol="0" anchor="t"/>
          <a:lstStyle/>
          <a:p>
            <a:pPr indent="0" marL="0">
              <a:buNone/>
            </a:pPr>
            <a:r>
              <a:rPr lang="en-US" sz="2200" i="1" dirty="0">
                <a:solidFill>
                  <a:srgbClr val="FFFFFF"/>
                </a:solidFill>
                <a:latin typeface="Cambria" pitchFamily="34" charset="0"/>
                <a:ea typeface="Cambria" pitchFamily="34" charset="-122"/>
                <a:cs typeface="Cambria" pitchFamily="34" charset="-120"/>
              </a:rPr>
              <a:t>“Our bank details have changed. Please pay within 24 hours.”</a:t>
            </a:r>
            <a:endParaRPr lang="en-US" sz="2200" dirty="0"/>
          </a:p>
        </p:txBody>
      </p:sp>
      <p:sp>
        <p:nvSpPr>
          <p:cNvPr id="26" name="Text 24"/>
          <p:cNvSpPr txBox="1"/>
          <p:nvPr/>
        </p:nvSpPr>
        <p:spPr>
          <a:xfrm>
            <a:off x="8229600" y="3429000"/>
            <a:ext cx="3108960" cy="1737360"/>
          </a:xfrm>
          <a:prstGeom prst="rect">
            <a:avLst/>
          </a:prstGeom>
          <a:noFill/>
          <a:ln/>
        </p:spPr>
        <p:txBody>
          <a:bodyPr wrap="square" lIns="0" tIns="0" rIns="0" bIns="0" rtlCol="0" anchor="t"/>
          <a:lstStyle/>
          <a:p>
            <a:pPr indent="0" marL="0">
              <a:buNone/>
            </a:pPr>
            <a:r>
              <a:rPr lang="en-US" sz="1500" dirty="0">
                <a:solidFill>
                  <a:srgbClr val="C9D3E6"/>
                </a:solidFill>
                <a:latin typeface="Calibri" pitchFamily="34" charset="0"/>
                <a:ea typeface="Calibri" pitchFamily="34" charset="-122"/>
                <a:cs typeface="Calibri" pitchFamily="34" charset="-120"/>
              </a:rPr>
              <a:t>A classic way to steal tuition fees. In TuitionPilot this attack fails by design: the university’s signature covers its bank account.</a:t>
            </a:r>
            <a:endParaRPr lang="en-US" sz="1500" dirty="0"/>
          </a:p>
        </p:txBody>
      </p:sp>
      <p:sp>
        <p:nvSpPr>
          <p:cNvPr id="27" name="Text 25"/>
          <p:cNvSpPr txBox="1"/>
          <p:nvPr/>
        </p:nvSpPr>
        <p:spPr>
          <a:xfrm>
            <a:off x="548640" y="5943600"/>
            <a:ext cx="7223760" cy="320040"/>
          </a:xfrm>
          <a:prstGeom prst="rect">
            <a:avLst/>
          </a:prstGeom>
          <a:noFill/>
          <a:ln/>
        </p:spPr>
        <p:txBody>
          <a:bodyPr wrap="square" lIns="0" tIns="0" rIns="0" bIns="0" rtlCol="0" anchor="t"/>
          <a:lstStyle/>
          <a:p>
            <a:pPr indent="0" marL="0">
              <a:buNone/>
            </a:pPr>
            <a:r>
              <a:rPr lang="en-US" sz="1100" i="1" dirty="0">
                <a:solidFill>
                  <a:srgbClr val="5A6378"/>
                </a:solidFill>
                <a:latin typeface="Calibri" pitchFamily="34" charset="0"/>
                <a:ea typeface="Calibri" pitchFamily="34" charset="-122"/>
                <a:cs typeface="Calibri" pitchFamily="34" charset="-120"/>
              </a:rPr>
              <a:t>Rates come from our versioned rule pack; rules not yet checked against RBI and Income Tax sources are flagged (slide 10).</a:t>
            </a:r>
            <a:endParaRPr lang="en-US" sz="11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rgbClr val="14213D"/>
                </a:solidFill>
                <a:latin typeface="Cambria" pitchFamily="34" charset="0"/>
                <a:ea typeface="Cambria" pitchFamily="34" charset="-122"/>
                <a:cs typeface="Cambria" pitchFamily="34" charset="-120"/>
              </a:rPr>
              <a:t>One guided flow, from invoice to receipt</a:t>
            </a:r>
            <a:endParaRPr lang="en-US" sz="3000" dirty="0"/>
          </a:p>
        </p:txBody>
      </p:sp>
      <p:sp>
        <p:nvSpPr>
          <p:cNvPr id="3" name="Shape 1"/>
          <p:cNvSpPr/>
          <p:nvPr/>
        </p:nvSpPr>
        <p:spPr>
          <a:xfrm>
            <a:off x="548640" y="1371600"/>
            <a:ext cx="1719072" cy="2331720"/>
          </a:xfrm>
          <a:prstGeom prst="roundRect">
            <a:avLst>
              <a:gd name="adj" fmla="val 6383"/>
            </a:avLst>
          </a:prstGeom>
          <a:solidFill>
            <a:srgbClr val="F3F5F9"/>
          </a:solidFill>
          <a:ln/>
        </p:spPr>
      </p:sp>
      <p:sp>
        <p:nvSpPr>
          <p:cNvPr id="4" name="Shape 2"/>
          <p:cNvSpPr/>
          <p:nvPr/>
        </p:nvSpPr>
        <p:spPr>
          <a:xfrm>
            <a:off x="749808" y="1572768"/>
            <a:ext cx="502920" cy="502920"/>
          </a:xfrm>
          <a:prstGeom prst="ellipse">
            <a:avLst/>
          </a:prstGeom>
          <a:solidFill>
            <a:srgbClr val="1F5FA8"/>
          </a:solidFill>
          <a:ln/>
        </p:spPr>
      </p:sp>
      <p:sp>
        <p:nvSpPr>
          <p:cNvPr id="5" name="Text 3"/>
          <p:cNvSpPr txBox="1"/>
          <p:nvPr/>
        </p:nvSpPr>
        <p:spPr>
          <a:xfrm>
            <a:off x="749808" y="157276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749808" y="2194560"/>
            <a:ext cx="1371600" cy="3657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Welcome</a:t>
            </a:r>
            <a:endParaRPr lang="en-US" sz="1600" dirty="0"/>
          </a:p>
        </p:txBody>
      </p:sp>
      <p:sp>
        <p:nvSpPr>
          <p:cNvPr id="7" name="Text 5"/>
          <p:cNvSpPr txBox="1"/>
          <p:nvPr/>
        </p:nvSpPr>
        <p:spPr>
          <a:xfrm>
            <a:off x="749808" y="2606040"/>
            <a:ext cx="1371600" cy="1005840"/>
          </a:xfrm>
          <a:prstGeom prst="rect">
            <a:avLst/>
          </a:prstGeom>
          <a:noFill/>
          <a:ln/>
        </p:spPr>
        <p:txBody>
          <a:bodyPr wrap="square" lIns="0" tIns="0" rIns="0" bIns="0" rtlCol="0" anchor="t"/>
          <a:lstStyle/>
          <a:p>
            <a:pPr indent="0" marL="0">
              <a:buNone/>
            </a:pPr>
            <a:r>
              <a:rPr lang="en-US" sz="1300" dirty="0">
                <a:solidFill>
                  <a:srgbClr val="5A6378"/>
                </a:solidFill>
                <a:latin typeface="Calibri" pitchFamily="34" charset="0"/>
                <a:ea typeface="Calibri" pitchFamily="34" charset="-122"/>
                <a:cs typeface="Calibri" pitchFamily="34" charset="-120"/>
              </a:rPr>
              <a:t>Two consents before any data is read</a:t>
            </a:r>
            <a:endParaRPr lang="en-US" sz="1300" dirty="0"/>
          </a:p>
        </p:txBody>
      </p:sp>
      <p:sp>
        <p:nvSpPr>
          <p:cNvPr id="8" name="Shape 6"/>
          <p:cNvSpPr/>
          <p:nvPr/>
        </p:nvSpPr>
        <p:spPr>
          <a:xfrm>
            <a:off x="2423160" y="1371600"/>
            <a:ext cx="1719072" cy="2331720"/>
          </a:xfrm>
          <a:prstGeom prst="roundRect">
            <a:avLst>
              <a:gd name="adj" fmla="val 6383"/>
            </a:avLst>
          </a:prstGeom>
          <a:solidFill>
            <a:srgbClr val="F3F5F9"/>
          </a:solidFill>
          <a:ln/>
        </p:spPr>
      </p:sp>
      <p:sp>
        <p:nvSpPr>
          <p:cNvPr id="9" name="Shape 7"/>
          <p:cNvSpPr/>
          <p:nvPr/>
        </p:nvSpPr>
        <p:spPr>
          <a:xfrm>
            <a:off x="2624328" y="1572768"/>
            <a:ext cx="502920" cy="502920"/>
          </a:xfrm>
          <a:prstGeom prst="ellipse">
            <a:avLst/>
          </a:prstGeom>
          <a:solidFill>
            <a:srgbClr val="1F5FA8"/>
          </a:solidFill>
          <a:ln/>
        </p:spPr>
      </p:sp>
      <p:sp>
        <p:nvSpPr>
          <p:cNvPr id="10" name="Text 8"/>
          <p:cNvSpPr txBox="1"/>
          <p:nvPr/>
        </p:nvSpPr>
        <p:spPr>
          <a:xfrm>
            <a:off x="2624328" y="157276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24328" y="2194560"/>
            <a:ext cx="1371600" cy="3657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Invoice</a:t>
            </a:r>
            <a:endParaRPr lang="en-US" sz="1600" dirty="0"/>
          </a:p>
        </p:txBody>
      </p:sp>
      <p:sp>
        <p:nvSpPr>
          <p:cNvPr id="12" name="Text 10"/>
          <p:cNvSpPr txBox="1"/>
          <p:nvPr/>
        </p:nvSpPr>
        <p:spPr>
          <a:xfrm>
            <a:off x="2624328" y="2606040"/>
            <a:ext cx="1371600" cy="1005840"/>
          </a:xfrm>
          <a:prstGeom prst="rect">
            <a:avLst/>
          </a:prstGeom>
          <a:noFill/>
          <a:ln/>
        </p:spPr>
        <p:txBody>
          <a:bodyPr wrap="square" lIns="0" tIns="0" rIns="0" bIns="0" rtlCol="0" anchor="t"/>
          <a:lstStyle/>
          <a:p>
            <a:pPr indent="0" marL="0">
              <a:buNone/>
            </a:pPr>
            <a:r>
              <a:rPr lang="en-US" sz="1300" dirty="0">
                <a:solidFill>
                  <a:srgbClr val="5A6378"/>
                </a:solidFill>
                <a:latin typeface="Calibri" pitchFamily="34" charset="0"/>
                <a:ea typeface="Calibri" pitchFamily="34" charset="-122"/>
                <a:cs typeface="Calibri" pitchFamily="34" charset="-120"/>
              </a:rPr>
              <a:t>Animated check of the university’s signature chain</a:t>
            </a:r>
            <a:endParaRPr lang="en-US" sz="1300" dirty="0"/>
          </a:p>
        </p:txBody>
      </p:sp>
      <p:sp>
        <p:nvSpPr>
          <p:cNvPr id="13" name="Shape 11"/>
          <p:cNvSpPr/>
          <p:nvPr/>
        </p:nvSpPr>
        <p:spPr>
          <a:xfrm>
            <a:off x="4297680" y="1371600"/>
            <a:ext cx="1719072" cy="2331720"/>
          </a:xfrm>
          <a:prstGeom prst="roundRect">
            <a:avLst>
              <a:gd name="adj" fmla="val 6383"/>
            </a:avLst>
          </a:prstGeom>
          <a:solidFill>
            <a:srgbClr val="F3F5F9"/>
          </a:solidFill>
          <a:ln/>
        </p:spPr>
      </p:sp>
      <p:sp>
        <p:nvSpPr>
          <p:cNvPr id="14" name="Shape 12"/>
          <p:cNvSpPr/>
          <p:nvPr/>
        </p:nvSpPr>
        <p:spPr>
          <a:xfrm>
            <a:off x="4498848" y="1572768"/>
            <a:ext cx="502920" cy="502920"/>
          </a:xfrm>
          <a:prstGeom prst="ellipse">
            <a:avLst/>
          </a:prstGeom>
          <a:solidFill>
            <a:srgbClr val="1F5FA8"/>
          </a:solidFill>
          <a:ln/>
        </p:spPr>
      </p:sp>
      <p:sp>
        <p:nvSpPr>
          <p:cNvPr id="15" name="Text 13"/>
          <p:cNvSpPr txBox="1"/>
          <p:nvPr/>
        </p:nvSpPr>
        <p:spPr>
          <a:xfrm>
            <a:off x="4498848" y="157276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498848" y="2194560"/>
            <a:ext cx="1371600" cy="3657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Questions</a:t>
            </a:r>
            <a:endParaRPr lang="en-US" sz="1600" dirty="0"/>
          </a:p>
        </p:txBody>
      </p:sp>
      <p:sp>
        <p:nvSpPr>
          <p:cNvPr id="17" name="Text 15"/>
          <p:cNvSpPr txBox="1"/>
          <p:nvPr/>
        </p:nvSpPr>
        <p:spPr>
          <a:xfrm>
            <a:off x="4498848" y="2606040"/>
            <a:ext cx="1371600" cy="1005840"/>
          </a:xfrm>
          <a:prstGeom prst="rect">
            <a:avLst/>
          </a:prstGeom>
          <a:noFill/>
          <a:ln/>
        </p:spPr>
        <p:txBody>
          <a:bodyPr wrap="square" lIns="0" tIns="0" rIns="0" bIns="0" rtlCol="0" anchor="t"/>
          <a:lstStyle/>
          <a:p>
            <a:pPr indent="0" marL="0">
              <a:buNone/>
            </a:pPr>
            <a:r>
              <a:rPr lang="en-US" sz="1300" dirty="0">
                <a:solidFill>
                  <a:srgbClr val="5A6378"/>
                </a:solidFill>
                <a:latin typeface="Calibri" pitchFamily="34" charset="0"/>
                <a:ea typeface="Calibri" pitchFamily="34" charset="-122"/>
                <a:cs typeface="Calibri" pitchFamily="34" charset="-120"/>
              </a:rPr>
              <a:t>One at a time; the agent asks, never guesses</a:t>
            </a:r>
            <a:endParaRPr lang="en-US" sz="1300" dirty="0"/>
          </a:p>
        </p:txBody>
      </p:sp>
      <p:sp>
        <p:nvSpPr>
          <p:cNvPr id="18" name="Shape 16"/>
          <p:cNvSpPr/>
          <p:nvPr/>
        </p:nvSpPr>
        <p:spPr>
          <a:xfrm>
            <a:off x="6172200" y="1371600"/>
            <a:ext cx="1719072" cy="2331720"/>
          </a:xfrm>
          <a:prstGeom prst="roundRect">
            <a:avLst>
              <a:gd name="adj" fmla="val 6383"/>
            </a:avLst>
          </a:prstGeom>
          <a:solidFill>
            <a:srgbClr val="F3F5F9"/>
          </a:solidFill>
          <a:ln/>
        </p:spPr>
      </p:sp>
      <p:sp>
        <p:nvSpPr>
          <p:cNvPr id="19" name="Shape 17"/>
          <p:cNvSpPr/>
          <p:nvPr/>
        </p:nvSpPr>
        <p:spPr>
          <a:xfrm>
            <a:off x="6373368" y="1572768"/>
            <a:ext cx="502920" cy="502920"/>
          </a:xfrm>
          <a:prstGeom prst="ellipse">
            <a:avLst/>
          </a:prstGeom>
          <a:solidFill>
            <a:srgbClr val="1F5FA8"/>
          </a:solidFill>
          <a:ln/>
        </p:spPr>
      </p:sp>
      <p:sp>
        <p:nvSpPr>
          <p:cNvPr id="20" name="Text 18"/>
          <p:cNvSpPr txBox="1"/>
          <p:nvPr/>
        </p:nvSpPr>
        <p:spPr>
          <a:xfrm>
            <a:off x="6373368" y="157276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373368" y="2194560"/>
            <a:ext cx="1371600" cy="3657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Best route</a:t>
            </a:r>
            <a:endParaRPr lang="en-US" sz="1600" dirty="0"/>
          </a:p>
        </p:txBody>
      </p:sp>
      <p:sp>
        <p:nvSpPr>
          <p:cNvPr id="22" name="Text 20"/>
          <p:cNvSpPr txBox="1"/>
          <p:nvPr/>
        </p:nvSpPr>
        <p:spPr>
          <a:xfrm>
            <a:off x="6373368" y="2606040"/>
            <a:ext cx="1371600" cy="1005840"/>
          </a:xfrm>
          <a:prstGeom prst="rect">
            <a:avLst/>
          </a:prstGeom>
          <a:noFill/>
          <a:ln/>
        </p:spPr>
        <p:txBody>
          <a:bodyPr wrap="square" lIns="0" tIns="0" rIns="0" bIns="0" rtlCol="0" anchor="t"/>
          <a:lstStyle/>
          <a:p>
            <a:pPr indent="0" marL="0">
              <a:buNone/>
            </a:pPr>
            <a:r>
              <a:rPr lang="en-US" sz="1300" dirty="0">
                <a:solidFill>
                  <a:srgbClr val="5A6378"/>
                </a:solidFill>
                <a:latin typeface="Calibri" pitchFamily="34" charset="0"/>
                <a:ea typeface="Calibri" pitchFamily="34" charset="-122"/>
                <a:cs typeface="Calibri" pitchFamily="34" charset="-120"/>
              </a:rPr>
              <a:t>Cost chart, what-if sliders, LRS limit gauge</a:t>
            </a:r>
            <a:endParaRPr lang="en-US" sz="1300" dirty="0"/>
          </a:p>
        </p:txBody>
      </p:sp>
      <p:sp>
        <p:nvSpPr>
          <p:cNvPr id="23" name="Shape 21"/>
          <p:cNvSpPr/>
          <p:nvPr/>
        </p:nvSpPr>
        <p:spPr>
          <a:xfrm>
            <a:off x="8046720" y="1371600"/>
            <a:ext cx="1719072" cy="2331720"/>
          </a:xfrm>
          <a:prstGeom prst="roundRect">
            <a:avLst>
              <a:gd name="adj" fmla="val 6383"/>
            </a:avLst>
          </a:prstGeom>
          <a:solidFill>
            <a:srgbClr val="FBEFE3"/>
          </a:solidFill>
          <a:ln w="15875">
            <a:solidFill>
              <a:srgbClr val="B4561F"/>
            </a:solidFill>
            <a:prstDash val="solid"/>
          </a:ln>
        </p:spPr>
      </p:sp>
      <p:sp>
        <p:nvSpPr>
          <p:cNvPr id="24" name="Shape 22"/>
          <p:cNvSpPr/>
          <p:nvPr/>
        </p:nvSpPr>
        <p:spPr>
          <a:xfrm>
            <a:off x="8247888" y="1572768"/>
            <a:ext cx="502920" cy="502920"/>
          </a:xfrm>
          <a:prstGeom prst="ellipse">
            <a:avLst/>
          </a:prstGeom>
          <a:solidFill>
            <a:srgbClr val="B4561F"/>
          </a:solidFill>
          <a:ln/>
        </p:spPr>
      </p:sp>
      <p:sp>
        <p:nvSpPr>
          <p:cNvPr id="25" name="Text 23"/>
          <p:cNvSpPr txBox="1"/>
          <p:nvPr/>
        </p:nvSpPr>
        <p:spPr>
          <a:xfrm>
            <a:off x="8247888" y="157276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6" name="Text 24"/>
          <p:cNvSpPr txBox="1"/>
          <p:nvPr/>
        </p:nvSpPr>
        <p:spPr>
          <a:xfrm>
            <a:off x="8247888" y="2194560"/>
            <a:ext cx="1371600" cy="3657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Review &amp; sign</a:t>
            </a:r>
            <a:endParaRPr lang="en-US" sz="1600" dirty="0"/>
          </a:p>
        </p:txBody>
      </p:sp>
      <p:sp>
        <p:nvSpPr>
          <p:cNvPr id="27" name="Text 25"/>
          <p:cNvSpPr txBox="1"/>
          <p:nvPr/>
        </p:nvSpPr>
        <p:spPr>
          <a:xfrm>
            <a:off x="8247888" y="2606040"/>
            <a:ext cx="1371600" cy="1005840"/>
          </a:xfrm>
          <a:prstGeom prst="rect">
            <a:avLst/>
          </a:prstGeom>
          <a:noFill/>
          <a:ln/>
        </p:spPr>
        <p:txBody>
          <a:bodyPr wrap="square" lIns="0" tIns="0" rIns="0" bIns="0" rtlCol="0" anchor="t"/>
          <a:lstStyle/>
          <a:p>
            <a:pPr indent="0" marL="0">
              <a:buNone/>
            </a:pPr>
            <a:r>
              <a:rPr lang="en-US" sz="1300" dirty="0">
                <a:solidFill>
                  <a:srgbClr val="5A6378"/>
                </a:solidFill>
                <a:latin typeface="Calibri" pitchFamily="34" charset="0"/>
                <a:ea typeface="Calibri" pitchFamily="34" charset="-122"/>
                <a:cs typeface="Calibri" pitchFamily="34" charset="-120"/>
              </a:rPr>
              <a:t>PIN pad; the parent’s device signs the plan</a:t>
            </a:r>
            <a:endParaRPr lang="en-US" sz="1300" dirty="0"/>
          </a:p>
        </p:txBody>
      </p:sp>
      <p:sp>
        <p:nvSpPr>
          <p:cNvPr id="28" name="Shape 26"/>
          <p:cNvSpPr/>
          <p:nvPr/>
        </p:nvSpPr>
        <p:spPr>
          <a:xfrm>
            <a:off x="9921240" y="1371600"/>
            <a:ext cx="1719072" cy="2331720"/>
          </a:xfrm>
          <a:prstGeom prst="roundRect">
            <a:avLst>
              <a:gd name="adj" fmla="val 6383"/>
            </a:avLst>
          </a:prstGeom>
          <a:solidFill>
            <a:srgbClr val="F3F5F9"/>
          </a:solidFill>
          <a:ln/>
        </p:spPr>
      </p:sp>
      <p:sp>
        <p:nvSpPr>
          <p:cNvPr id="29" name="Shape 27"/>
          <p:cNvSpPr/>
          <p:nvPr/>
        </p:nvSpPr>
        <p:spPr>
          <a:xfrm>
            <a:off x="10122408" y="1572768"/>
            <a:ext cx="502920" cy="502920"/>
          </a:xfrm>
          <a:prstGeom prst="ellipse">
            <a:avLst/>
          </a:prstGeom>
          <a:solidFill>
            <a:srgbClr val="1F5FA8"/>
          </a:solidFill>
          <a:ln/>
        </p:spPr>
      </p:sp>
      <p:sp>
        <p:nvSpPr>
          <p:cNvPr id="30" name="Text 28"/>
          <p:cNvSpPr txBox="1"/>
          <p:nvPr/>
        </p:nvSpPr>
        <p:spPr>
          <a:xfrm>
            <a:off x="10122408" y="157276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1" name="Text 29"/>
          <p:cNvSpPr txBox="1"/>
          <p:nvPr/>
        </p:nvSpPr>
        <p:spPr>
          <a:xfrm>
            <a:off x="10122408" y="2194560"/>
            <a:ext cx="1371600" cy="3657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Receipt</a:t>
            </a:r>
            <a:endParaRPr lang="en-US" sz="1600" dirty="0"/>
          </a:p>
        </p:txBody>
      </p:sp>
      <p:sp>
        <p:nvSpPr>
          <p:cNvPr id="32" name="Text 30"/>
          <p:cNvSpPr txBox="1"/>
          <p:nvPr/>
        </p:nvSpPr>
        <p:spPr>
          <a:xfrm>
            <a:off x="10122408" y="2606040"/>
            <a:ext cx="1371600" cy="1005840"/>
          </a:xfrm>
          <a:prstGeom prst="rect">
            <a:avLst/>
          </a:prstGeom>
          <a:noFill/>
          <a:ln/>
        </p:spPr>
        <p:txBody>
          <a:bodyPr wrap="square" lIns="0" tIns="0" rIns="0" bIns="0" rtlCol="0" anchor="t"/>
          <a:lstStyle/>
          <a:p>
            <a:pPr indent="0" marL="0">
              <a:buNone/>
            </a:pPr>
            <a:r>
              <a:rPr lang="en-US" sz="1300" dirty="0">
                <a:solidFill>
                  <a:srgbClr val="5A6378"/>
                </a:solidFill>
                <a:latin typeface="Calibri" pitchFamily="34" charset="0"/>
                <a:ea typeface="Calibri" pitchFamily="34" charset="-122"/>
                <a:cs typeface="Calibri" pitchFamily="34" charset="-120"/>
              </a:rPr>
              <a:t>Transaction, certificate, signature, audit entry</a:t>
            </a:r>
            <a:endParaRPr lang="en-US" sz="1300" dirty="0"/>
          </a:p>
        </p:txBody>
      </p:sp>
      <p:sp>
        <p:nvSpPr>
          <p:cNvPr id="33" name="Shape 31"/>
          <p:cNvSpPr/>
          <p:nvPr/>
        </p:nvSpPr>
        <p:spPr>
          <a:xfrm>
            <a:off x="548640" y="3931920"/>
            <a:ext cx="3566160" cy="1417320"/>
          </a:xfrm>
          <a:prstGeom prst="roundRect">
            <a:avLst>
              <a:gd name="adj" fmla="val 7742"/>
            </a:avLst>
          </a:prstGeom>
          <a:solidFill>
            <a:srgbClr val="FFFFFF"/>
          </a:solidFill>
          <a:ln w="15875">
            <a:solidFill>
              <a:srgbClr val="D9DEE7"/>
            </a:solidFill>
            <a:prstDash val="solid"/>
          </a:ln>
        </p:spPr>
      </p:sp>
      <p:sp>
        <p:nvSpPr>
          <p:cNvPr id="34" name="Text 32"/>
          <p:cNvSpPr txBox="1"/>
          <p:nvPr/>
        </p:nvSpPr>
        <p:spPr>
          <a:xfrm>
            <a:off x="777240" y="4069080"/>
            <a:ext cx="3108960" cy="320040"/>
          </a:xfrm>
          <a:prstGeom prst="rect">
            <a:avLst/>
          </a:prstGeom>
          <a:noFill/>
          <a:ln/>
        </p:spPr>
        <p:txBody>
          <a:bodyPr wrap="square" lIns="0" tIns="0" rIns="0" bIns="0" rtlCol="0" anchor="t"/>
          <a:lstStyle/>
          <a:p>
            <a:pPr indent="0" marL="0">
              <a:buNone/>
            </a:pPr>
            <a:r>
              <a:rPr lang="en-US" sz="1500" b="1" dirty="0">
                <a:solidFill>
                  <a:srgbClr val="1F5FA8"/>
                </a:solidFill>
                <a:latin typeface="Calibri" pitchFamily="34" charset="0"/>
                <a:ea typeface="Calibri" pitchFamily="34" charset="-122"/>
                <a:cs typeface="Calibri" pitchFamily="34" charset="-120"/>
              </a:rPr>
              <a:t>Agent, live panel</a:t>
            </a:r>
            <a:endParaRPr lang="en-US" sz="1500" dirty="0"/>
          </a:p>
        </p:txBody>
      </p:sp>
      <p:sp>
        <p:nvSpPr>
          <p:cNvPr id="35" name="Text 33"/>
          <p:cNvSpPr txBox="1"/>
          <p:nvPr/>
        </p:nvSpPr>
        <p:spPr>
          <a:xfrm>
            <a:off x="777240" y="4434840"/>
            <a:ext cx="3154680" cy="86868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Every step and policy decision as it happens, the rule trace with sources, exactly what the AI saw (masked), and the audit chain.</a:t>
            </a:r>
            <a:endParaRPr lang="en-US" sz="1300" dirty="0"/>
          </a:p>
        </p:txBody>
      </p:sp>
      <p:sp>
        <p:nvSpPr>
          <p:cNvPr id="36" name="Shape 34"/>
          <p:cNvSpPr/>
          <p:nvPr/>
        </p:nvSpPr>
        <p:spPr>
          <a:xfrm>
            <a:off x="4297680" y="3931920"/>
            <a:ext cx="3566160" cy="1417320"/>
          </a:xfrm>
          <a:prstGeom prst="roundRect">
            <a:avLst>
              <a:gd name="adj" fmla="val 7742"/>
            </a:avLst>
          </a:prstGeom>
          <a:solidFill>
            <a:srgbClr val="FFFFFF"/>
          </a:solidFill>
          <a:ln w="15875">
            <a:solidFill>
              <a:srgbClr val="D9DEE7"/>
            </a:solidFill>
            <a:prstDash val="solid"/>
          </a:ln>
        </p:spPr>
      </p:sp>
      <p:sp>
        <p:nvSpPr>
          <p:cNvPr id="37" name="Text 35"/>
          <p:cNvSpPr txBox="1"/>
          <p:nvPr/>
        </p:nvSpPr>
        <p:spPr>
          <a:xfrm>
            <a:off x="4526280" y="4069080"/>
            <a:ext cx="3108960" cy="320040"/>
          </a:xfrm>
          <a:prstGeom prst="rect">
            <a:avLst/>
          </a:prstGeom>
          <a:noFill/>
          <a:ln/>
        </p:spPr>
        <p:txBody>
          <a:bodyPr wrap="square" lIns="0" tIns="0" rIns="0" bIns="0" rtlCol="0" anchor="t"/>
          <a:lstStyle/>
          <a:p>
            <a:pPr indent="0" marL="0">
              <a:buNone/>
            </a:pPr>
            <a:r>
              <a:rPr lang="en-US" sz="1500" b="1" dirty="0">
                <a:solidFill>
                  <a:srgbClr val="1F5FA8"/>
                </a:solidFill>
                <a:latin typeface="Calibri" pitchFamily="34" charset="0"/>
                <a:ea typeface="Calibri" pitchFamily="34" charset="-122"/>
                <a:cs typeface="Calibri" pitchFamily="34" charset="-120"/>
              </a:rPr>
              <a:t>Attack lab</a:t>
            </a:r>
            <a:endParaRPr lang="en-US" sz="1500" dirty="0"/>
          </a:p>
        </p:txBody>
      </p:sp>
      <p:sp>
        <p:nvSpPr>
          <p:cNvPr id="38" name="Text 36"/>
          <p:cNvSpPr txBox="1"/>
          <p:nvPr/>
        </p:nvSpPr>
        <p:spPr>
          <a:xfrm>
            <a:off x="4526280" y="4434840"/>
            <a:ext cx="3154680" cy="86868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Runs 16 attacks against a separate copy of the agent and shows which defence stopped each one.</a:t>
            </a:r>
            <a:endParaRPr lang="en-US" sz="1300" dirty="0"/>
          </a:p>
        </p:txBody>
      </p:sp>
      <p:sp>
        <p:nvSpPr>
          <p:cNvPr id="39" name="Shape 37"/>
          <p:cNvSpPr/>
          <p:nvPr/>
        </p:nvSpPr>
        <p:spPr>
          <a:xfrm>
            <a:off x="8046720" y="3931920"/>
            <a:ext cx="3566160" cy="1417320"/>
          </a:xfrm>
          <a:prstGeom prst="roundRect">
            <a:avLst>
              <a:gd name="adj" fmla="val 7742"/>
            </a:avLst>
          </a:prstGeom>
          <a:solidFill>
            <a:srgbClr val="FFFFFF"/>
          </a:solidFill>
          <a:ln w="15875">
            <a:solidFill>
              <a:srgbClr val="D9DEE7"/>
            </a:solidFill>
            <a:prstDash val="solid"/>
          </a:ln>
        </p:spPr>
      </p:sp>
      <p:sp>
        <p:nvSpPr>
          <p:cNvPr id="40" name="Text 38"/>
          <p:cNvSpPr txBox="1"/>
          <p:nvPr/>
        </p:nvSpPr>
        <p:spPr>
          <a:xfrm>
            <a:off x="8275320" y="4069080"/>
            <a:ext cx="3108960" cy="320040"/>
          </a:xfrm>
          <a:prstGeom prst="rect">
            <a:avLst/>
          </a:prstGeom>
          <a:noFill/>
          <a:ln/>
        </p:spPr>
        <p:txBody>
          <a:bodyPr wrap="square" lIns="0" tIns="0" rIns="0" bIns="0" rtlCol="0" anchor="t"/>
          <a:lstStyle/>
          <a:p>
            <a:pPr indent="0" marL="0">
              <a:buNone/>
            </a:pPr>
            <a:r>
              <a:rPr lang="en-US" sz="1500" b="1" dirty="0">
                <a:solidFill>
                  <a:srgbClr val="1F5FA8"/>
                </a:solidFill>
                <a:latin typeface="Calibri" pitchFamily="34" charset="0"/>
                <a:ea typeface="Calibri" pitchFamily="34" charset="-122"/>
                <a:cs typeface="Calibri" pitchFamily="34" charset="-120"/>
              </a:rPr>
              <a:t>Family devices and vault</a:t>
            </a:r>
            <a:endParaRPr lang="en-US" sz="1500" dirty="0"/>
          </a:p>
        </p:txBody>
      </p:sp>
      <p:sp>
        <p:nvSpPr>
          <p:cNvPr id="41" name="Text 39"/>
          <p:cNvSpPr txBox="1"/>
          <p:nvPr/>
        </p:nvSpPr>
        <p:spPr>
          <a:xfrm>
            <a:off x="8275320" y="4434840"/>
            <a:ext cx="3154680" cy="86868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Passwordless sign-in on each enrolled device. Documents are encrypted in the browser; a student can review but never sign.</a:t>
            </a:r>
            <a:endParaRPr lang="en-US" sz="1300" dirty="0"/>
          </a:p>
        </p:txBody>
      </p:sp>
      <p:sp>
        <p:nvSpPr>
          <p:cNvPr id="42" name="Shape 40"/>
          <p:cNvSpPr/>
          <p:nvPr/>
        </p:nvSpPr>
        <p:spPr>
          <a:xfrm>
            <a:off x="548640" y="5532120"/>
            <a:ext cx="11064240" cy="640080"/>
          </a:xfrm>
          <a:prstGeom prst="roundRect">
            <a:avLst>
              <a:gd name="adj" fmla="val 17143"/>
            </a:avLst>
          </a:prstGeom>
          <a:solidFill>
            <a:srgbClr val="14213D"/>
          </a:solidFill>
          <a:ln/>
        </p:spPr>
      </p:sp>
      <p:sp>
        <p:nvSpPr>
          <p:cNvPr id="43" name="Text 41"/>
          <p:cNvSpPr txBox="1"/>
          <p:nvPr/>
        </p:nvSpPr>
        <p:spPr>
          <a:xfrm>
            <a:off x="777240" y="5532120"/>
            <a:ext cx="1069848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Code computes; the AI explains.  </a:t>
            </a:r>
            <a:pPr indent="0" marL="0">
              <a:buNone/>
            </a:pPr>
            <a:r>
              <a:rPr lang="en-US" sz="1400" dirty="0">
                <a:solidFill>
                  <a:srgbClr val="C9D3E6"/>
                </a:solidFill>
                <a:latin typeface="Calibri" pitchFamily="34" charset="0"/>
                <a:ea typeface="Calibri" pitchFamily="34" charset="-122"/>
                <a:cs typeface="Calibri" pitchFamily="34" charset="-120"/>
              </a:rPr>
              <a:t>Tax, cost and limits come from tested code. The AI only reads the invoice and words results, sees masked text only, and today is an offline stand-in.</a:t>
            </a:r>
            <a:endParaRPr lang="en-US" sz="14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rgbClr val="14213D"/>
                </a:solidFill>
                <a:latin typeface="Cambria" pitchFamily="34" charset="0"/>
                <a:ea typeface="Cambria" pitchFamily="34" charset="-122"/>
                <a:cs typeface="Cambria" pitchFamily="34" charset="-120"/>
              </a:rPr>
              <a:t>Architecture: keys with people, money in the sandbox</a:t>
            </a:r>
            <a:endParaRPr lang="en-US" sz="3000" dirty="0"/>
          </a:p>
        </p:txBody>
      </p:sp>
      <p:pic>
        <p:nvPicPr>
          <p:cNvPr id="3" name="Image 0" descr="TuitionPilot architecture diagram">    </p:cNvPr>
          <p:cNvPicPr>
            <a:picLocks noChangeAspect="1"/>
          </p:cNvPicPr>
          <p:nvPr/>
        </p:nvPicPr>
        <p:blipFill>
          <a:blip r:embed="rId1"/>
          <a:stretch>
            <a:fillRect/>
          </a:stretch>
        </p:blipFill>
        <p:spPr>
          <a:xfrm>
            <a:off x="548640" y="1234440"/>
            <a:ext cx="8046720" cy="5029200"/>
          </a:xfrm>
          <a:prstGeom prst="rect">
            <a:avLst/>
          </a:prstGeom>
        </p:spPr>
      </p:pic>
      <p:sp>
        <p:nvSpPr>
          <p:cNvPr id="4" name="Shape 1"/>
          <p:cNvSpPr/>
          <p:nvPr/>
        </p:nvSpPr>
        <p:spPr>
          <a:xfrm>
            <a:off x="8869680" y="1325880"/>
            <a:ext cx="2743200" cy="1417320"/>
          </a:xfrm>
          <a:prstGeom prst="roundRect">
            <a:avLst>
              <a:gd name="adj" fmla="val 7742"/>
            </a:avLst>
          </a:prstGeom>
          <a:solidFill>
            <a:srgbClr val="F3F5F9"/>
          </a:solidFill>
          <a:ln/>
        </p:spPr>
      </p:sp>
      <p:sp>
        <p:nvSpPr>
          <p:cNvPr id="5" name="Text 2"/>
          <p:cNvSpPr txBox="1"/>
          <p:nvPr/>
        </p:nvSpPr>
        <p:spPr>
          <a:xfrm>
            <a:off x="9052560" y="1463040"/>
            <a:ext cx="2423160" cy="320040"/>
          </a:xfrm>
          <a:prstGeom prst="rect">
            <a:avLst/>
          </a:prstGeom>
          <a:noFill/>
          <a:ln/>
        </p:spPr>
        <p:txBody>
          <a:bodyPr wrap="square" lIns="0" tIns="0" rIns="0" bIns="0" rtlCol="0" anchor="t"/>
          <a:lstStyle/>
          <a:p>
            <a:pPr indent="0" marL="0">
              <a:buNone/>
            </a:pPr>
            <a:r>
              <a:rPr lang="en-US" sz="1400" b="1" dirty="0">
                <a:solidFill>
                  <a:srgbClr val="B4561F"/>
                </a:solidFill>
                <a:latin typeface="Calibri" pitchFamily="34" charset="0"/>
                <a:ea typeface="Calibri" pitchFamily="34" charset="-122"/>
                <a:cs typeface="Calibri" pitchFamily="34" charset="-120"/>
              </a:rPr>
              <a:t>Orange: outside the server</a:t>
            </a:r>
            <a:endParaRPr lang="en-US" sz="1400" dirty="0"/>
          </a:p>
        </p:txBody>
      </p:sp>
      <p:sp>
        <p:nvSpPr>
          <p:cNvPr id="6" name="Text 3"/>
          <p:cNvSpPr txBox="1"/>
          <p:nvPr/>
        </p:nvSpPr>
        <p:spPr>
          <a:xfrm>
            <a:off x="9052560" y="1801368"/>
            <a:ext cx="2423160" cy="86868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University, parent and student devices, trust root. Every private key lives here.</a:t>
            </a:r>
            <a:endParaRPr lang="en-US" sz="1300" dirty="0"/>
          </a:p>
        </p:txBody>
      </p:sp>
      <p:sp>
        <p:nvSpPr>
          <p:cNvPr id="7" name="Shape 4"/>
          <p:cNvSpPr/>
          <p:nvPr/>
        </p:nvSpPr>
        <p:spPr>
          <a:xfrm>
            <a:off x="8869680" y="2926080"/>
            <a:ext cx="2743200" cy="1417320"/>
          </a:xfrm>
          <a:prstGeom prst="roundRect">
            <a:avLst>
              <a:gd name="adj" fmla="val 7742"/>
            </a:avLst>
          </a:prstGeom>
          <a:solidFill>
            <a:srgbClr val="F3F5F9"/>
          </a:solidFill>
          <a:ln/>
        </p:spPr>
      </p:sp>
      <p:sp>
        <p:nvSpPr>
          <p:cNvPr id="8" name="Text 5"/>
          <p:cNvSpPr txBox="1"/>
          <p:nvPr/>
        </p:nvSpPr>
        <p:spPr>
          <a:xfrm>
            <a:off x="9052560" y="3063240"/>
            <a:ext cx="2423160" cy="320040"/>
          </a:xfrm>
          <a:prstGeom prst="rect">
            <a:avLst/>
          </a:prstGeom>
          <a:noFill/>
          <a:ln/>
        </p:spPr>
        <p:txBody>
          <a:bodyPr wrap="square" lIns="0" tIns="0" rIns="0" bIns="0" rtlCol="0" anchor="t"/>
          <a:lstStyle/>
          <a:p>
            <a:pPr indent="0" marL="0">
              <a:buNone/>
            </a:pPr>
            <a:r>
              <a:rPr lang="en-US" sz="1400" b="1" dirty="0">
                <a:solidFill>
                  <a:srgbClr val="1F5FA8"/>
                </a:solidFill>
                <a:latin typeface="Calibri" pitchFamily="34" charset="0"/>
                <a:ea typeface="Calibri" pitchFamily="34" charset="-122"/>
                <a:cs typeface="Calibri" pitchFamily="34" charset="-120"/>
              </a:rPr>
              <a:t>Blue: agent pipeline</a:t>
            </a:r>
            <a:endParaRPr lang="en-US" sz="1400" dirty="0"/>
          </a:p>
        </p:txBody>
      </p:sp>
      <p:sp>
        <p:nvSpPr>
          <p:cNvPr id="9" name="Text 6"/>
          <p:cNvSpPr txBox="1"/>
          <p:nvPr/>
        </p:nvSpPr>
        <p:spPr>
          <a:xfrm>
            <a:off x="9052560" y="3401568"/>
            <a:ext cx="2423160" cy="86868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Intake to plan in 8 steps. The dashed step is the only AI step; it sees masked text.</a:t>
            </a:r>
            <a:endParaRPr lang="en-US" sz="1300" dirty="0"/>
          </a:p>
        </p:txBody>
      </p:sp>
      <p:sp>
        <p:nvSpPr>
          <p:cNvPr id="10" name="Shape 7"/>
          <p:cNvSpPr/>
          <p:nvPr/>
        </p:nvSpPr>
        <p:spPr>
          <a:xfrm>
            <a:off x="8869680" y="4526280"/>
            <a:ext cx="2743200" cy="1417320"/>
          </a:xfrm>
          <a:prstGeom prst="roundRect">
            <a:avLst>
              <a:gd name="adj" fmla="val 7742"/>
            </a:avLst>
          </a:prstGeom>
          <a:solidFill>
            <a:srgbClr val="F3F5F9"/>
          </a:solidFill>
          <a:ln/>
        </p:spPr>
      </p:sp>
      <p:sp>
        <p:nvSpPr>
          <p:cNvPr id="11" name="Text 8"/>
          <p:cNvSpPr txBox="1"/>
          <p:nvPr/>
        </p:nvSpPr>
        <p:spPr>
          <a:xfrm>
            <a:off x="9052560" y="4663440"/>
            <a:ext cx="2423160" cy="32004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Navy: money path</a:t>
            </a:r>
            <a:endParaRPr lang="en-US" sz="1400" dirty="0"/>
          </a:p>
        </p:txBody>
      </p:sp>
      <p:sp>
        <p:nvSpPr>
          <p:cNvPr id="12" name="Text 9"/>
          <p:cNvSpPr txBox="1"/>
          <p:nvPr/>
        </p:nvSpPr>
        <p:spPr>
          <a:xfrm>
            <a:off x="9052560" y="5001768"/>
            <a:ext cx="2423160" cy="86868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Policy gate → sandbox bank → hash-chained audit log and receipt.</a:t>
            </a:r>
            <a:endParaRPr lang="en-US" sz="13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rgbClr val="14213D"/>
                </a:solidFill>
                <a:latin typeface="Cambria" pitchFamily="34" charset="0"/>
                <a:ea typeface="Cambria" pitchFamily="34" charset="-122"/>
                <a:cs typeface="Cambria" pitchFamily="34" charset="-120"/>
              </a:rPr>
              <a:t>India’s LRS and TCS rules, turned into tested code</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766560" cy="914400"/>
        </p:xfrm>
        <a:graphic>
          <a:graphicData uri="http://schemas.openxmlformats.org/drawingml/2006/table">
            <a:tbl>
              <a:tblPr/>
              <a:tblGrid>
                <a:gridCol w="1920240"/>
                <a:gridCol w="3291840"/>
                <a:gridCol w="15544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Rule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Value in the rule pack</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r>
              <a:tr h="457200">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LRS yearly cap</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USD 250,000 per person, April–March</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b="1" dirty="0">
                          <a:solidFill>
                            <a:srgbClr val="B4561F"/>
                          </a:solidFill>
                          <a:latin typeface="Calibri" pitchFamily="34" charset="0"/>
                          <a:ea typeface="Calibri" pitchFamily="34" charset="-122"/>
                          <a:cs typeface="Calibri" pitchFamily="34" charset="-120"/>
                        </a:rPr>
                        <a:t>Unverified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r>
              <a:tr h="457200">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TCS threshold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Rs 10 lakh per PAN per year, all purposes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Secondary source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r>
              <a:tr h="457200">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Education, self-funded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2% above the threshold (from 1 Apr 2026)</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Secondary source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r>
              <a:tr h="457200">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Education, loan-funded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0% (loan from a notified institution)</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Secondary source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r>
              <a:tr h="457200">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No PAN</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5% above the threshold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b="1" dirty="0">
                          <a:solidFill>
                            <a:srgbClr val="B4561F"/>
                          </a:solidFill>
                          <a:latin typeface="Calibri" pitchFamily="34" charset="0"/>
                          <a:ea typeface="Calibri" pitchFamily="34" charset="-122"/>
                          <a:cs typeface="Calibri" pitchFamily="34" charset="-120"/>
                        </a:rPr>
                        <a:t>Unverified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r>
            </a:tbl>
          </a:graphicData>
        </a:graphic>
      </p:graphicFrame>
      <p:sp>
        <p:nvSpPr>
          <p:cNvPr id="4" name="Shape 1"/>
          <p:cNvSpPr/>
          <p:nvPr/>
        </p:nvSpPr>
        <p:spPr>
          <a:xfrm>
            <a:off x="548640" y="4343400"/>
            <a:ext cx="6766560" cy="1280160"/>
          </a:xfrm>
          <a:prstGeom prst="roundRect">
            <a:avLst>
              <a:gd name="adj" fmla="val 8571"/>
            </a:avLst>
          </a:prstGeom>
          <a:solidFill>
            <a:srgbClr val="F3F5F9"/>
          </a:solidFill>
          <a:ln/>
        </p:spPr>
      </p:sp>
      <p:sp>
        <p:nvSpPr>
          <p:cNvPr id="5" name="Text 2"/>
          <p:cNvSpPr txBox="1"/>
          <p:nvPr/>
        </p:nvSpPr>
        <p:spPr>
          <a:xfrm>
            <a:off x="777240" y="4480560"/>
            <a:ext cx="6355080" cy="132588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TCS = rate × (this year’s total − the larger of earlier payments or Rs 10 lakh)</a:t>
            </a:r>
            <a:endParaRPr lang="en-US" sz="1400" dirty="0"/>
          </a:p>
          <a:p>
            <a:pPr indent="0" marL="0">
              <a:buNone/>
            </a:pPr>
            <a:r>
              <a:rPr lang="en-US" sz="1400" dirty="0">
                <a:solidFill>
                  <a:srgbClr val="1F2A44"/>
                </a:solidFill>
                <a:latin typeface="Calibri" pitchFamily="34" charset="0"/>
                <a:ea typeface="Calibri" pitchFamily="34" charset="-122"/>
                <a:cs typeface="Calibri" pitchFamily="34" charset="-120"/>
              </a:rPr>
              <a:t>Never below zero. Every result carries the rule id, pack version, effective date and source. The engine refuses dates before a rule took effect, and unverified rules are flagged in every output.</a:t>
            </a:r>
            <a:endParaRPr lang="en-US" sz="1400" dirty="0"/>
          </a:p>
        </p:txBody>
      </p:sp>
      <p:sp>
        <p:nvSpPr>
          <p:cNvPr id="6" name="Shape 3"/>
          <p:cNvSpPr/>
          <p:nvPr/>
        </p:nvSpPr>
        <p:spPr>
          <a:xfrm>
            <a:off x="7635240" y="1371600"/>
            <a:ext cx="3977640" cy="4526280"/>
          </a:xfrm>
          <a:prstGeom prst="roundRect">
            <a:avLst>
              <a:gd name="adj" fmla="val 2759"/>
            </a:avLst>
          </a:prstGeom>
          <a:solidFill>
            <a:srgbClr val="FFFFFF"/>
          </a:solidFill>
          <a:ln w="15875">
            <a:solidFill>
              <a:srgbClr val="D9DEE7"/>
            </a:solidFill>
            <a:prstDash val="solid"/>
          </a:ln>
        </p:spPr>
      </p:sp>
      <p:sp>
        <p:nvSpPr>
          <p:cNvPr id="7" name="Text 4"/>
          <p:cNvSpPr txBox="1"/>
          <p:nvPr/>
        </p:nvSpPr>
        <p:spPr>
          <a:xfrm>
            <a:off x="7863840" y="1554480"/>
            <a:ext cx="3566160" cy="320040"/>
          </a:xfrm>
          <a:prstGeom prst="rect">
            <a:avLst/>
          </a:prstGeom>
          <a:noFill/>
          <a:ln/>
        </p:spPr>
        <p:txBody>
          <a:bodyPr wrap="square" lIns="0" tIns="0" rIns="0" bIns="0" rtlCol="0" anchor="t"/>
          <a:lstStyle/>
          <a:p>
            <a:pPr indent="0" marL="0">
              <a:buNone/>
            </a:pPr>
            <a:r>
              <a:rPr lang="en-US" sz="1300" b="1" dirty="0">
                <a:solidFill>
                  <a:srgbClr val="B4561F"/>
                </a:solidFill>
                <a:latin typeface="Calibri" pitchFamily="34" charset="0"/>
                <a:ea typeface="Calibri" pitchFamily="34" charset="-122"/>
                <a:cs typeface="Calibri" pitchFamily="34" charset="-120"/>
              </a:rPr>
              <a:t>Worked example (scenario A2)</a:t>
            </a:r>
            <a:endParaRPr lang="en-US" sz="1300" dirty="0"/>
          </a:p>
        </p:txBody>
      </p:sp>
      <p:sp>
        <p:nvSpPr>
          <p:cNvPr id="8" name="Text 5"/>
          <p:cNvSpPr txBox="1"/>
          <p:nvPr/>
        </p:nvSpPr>
        <p:spPr>
          <a:xfrm>
            <a:off x="7863840" y="1874520"/>
            <a:ext cx="3566160" cy="64008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Self-funded Rs 15 lakh, no earlier payments</a:t>
            </a:r>
            <a:endParaRPr lang="en-US" sz="1600" dirty="0"/>
          </a:p>
        </p:txBody>
      </p:sp>
      <p:sp>
        <p:nvSpPr>
          <p:cNvPr id="9" name="Text 6"/>
          <p:cNvSpPr txBox="1"/>
          <p:nvPr/>
        </p:nvSpPr>
        <p:spPr>
          <a:xfrm>
            <a:off x="7863840" y="2697480"/>
            <a:ext cx="2011680" cy="365760"/>
          </a:xfrm>
          <a:prstGeom prst="rect">
            <a:avLst/>
          </a:prstGeom>
          <a:noFill/>
          <a:ln/>
        </p:spPr>
        <p:txBody>
          <a:bodyPr wrap="square" lIns="0" tIns="0" rIns="0" bIns="0" rtlCol="0" anchor="t"/>
          <a:lstStyle/>
          <a:p>
            <a:pPr indent="0" marL="0">
              <a:buNone/>
            </a:pPr>
            <a:r>
              <a:rPr lang="en-US" sz="1500" dirty="0">
                <a:solidFill>
                  <a:srgbClr val="1F2A44"/>
                </a:solidFill>
                <a:latin typeface="Calibri" pitchFamily="34" charset="0"/>
                <a:ea typeface="Calibri" pitchFamily="34" charset="-122"/>
                <a:cs typeface="Calibri" pitchFamily="34" charset="-120"/>
              </a:rPr>
              <a:t>This year’s total</a:t>
            </a:r>
            <a:endParaRPr lang="en-US" sz="1500" dirty="0"/>
          </a:p>
        </p:txBody>
      </p:sp>
      <p:sp>
        <p:nvSpPr>
          <p:cNvPr id="10" name="Text 7"/>
          <p:cNvSpPr txBox="1"/>
          <p:nvPr/>
        </p:nvSpPr>
        <p:spPr>
          <a:xfrm>
            <a:off x="9784080" y="2697480"/>
            <a:ext cx="1645920" cy="365760"/>
          </a:xfrm>
          <a:prstGeom prst="rect">
            <a:avLst/>
          </a:prstGeom>
          <a:noFill/>
          <a:ln/>
        </p:spPr>
        <p:txBody>
          <a:bodyPr wrap="square" lIns="0" tIns="0" rIns="0" bIns="0" rtlCol="0" anchor="t"/>
          <a:lstStyle/>
          <a:p>
            <a:pPr algn="r" indent="0" marL="0">
              <a:buNone/>
            </a:pPr>
            <a:r>
              <a:rPr lang="en-US" sz="1500" dirty="0">
                <a:solidFill>
                  <a:srgbClr val="1F2A44"/>
                </a:solidFill>
                <a:latin typeface="Calibri" pitchFamily="34" charset="0"/>
                <a:ea typeface="Calibri" pitchFamily="34" charset="-122"/>
                <a:cs typeface="Calibri" pitchFamily="34" charset="-120"/>
              </a:rPr>
              <a:t>Rs 15,00,000</a:t>
            </a:r>
            <a:endParaRPr lang="en-US" sz="1500" dirty="0"/>
          </a:p>
        </p:txBody>
      </p:sp>
      <p:sp>
        <p:nvSpPr>
          <p:cNvPr id="11" name="Text 8"/>
          <p:cNvSpPr txBox="1"/>
          <p:nvPr/>
        </p:nvSpPr>
        <p:spPr>
          <a:xfrm>
            <a:off x="7863840" y="3154680"/>
            <a:ext cx="2011680" cy="365760"/>
          </a:xfrm>
          <a:prstGeom prst="rect">
            <a:avLst/>
          </a:prstGeom>
          <a:noFill/>
          <a:ln/>
        </p:spPr>
        <p:txBody>
          <a:bodyPr wrap="square" lIns="0" tIns="0" rIns="0" bIns="0" rtlCol="0" anchor="t"/>
          <a:lstStyle/>
          <a:p>
            <a:pPr indent="0" marL="0">
              <a:buNone/>
            </a:pPr>
            <a:r>
              <a:rPr lang="en-US" sz="1500" dirty="0">
                <a:solidFill>
                  <a:srgbClr val="1F2A44"/>
                </a:solidFill>
                <a:latin typeface="Calibri" pitchFamily="34" charset="0"/>
                <a:ea typeface="Calibri" pitchFamily="34" charset="-122"/>
                <a:cs typeface="Calibri" pitchFamily="34" charset="-120"/>
              </a:rPr>
              <a:t>Minus the threshold</a:t>
            </a:r>
            <a:endParaRPr lang="en-US" sz="1500" dirty="0"/>
          </a:p>
        </p:txBody>
      </p:sp>
      <p:sp>
        <p:nvSpPr>
          <p:cNvPr id="12" name="Text 9"/>
          <p:cNvSpPr txBox="1"/>
          <p:nvPr/>
        </p:nvSpPr>
        <p:spPr>
          <a:xfrm>
            <a:off x="9784080" y="3154680"/>
            <a:ext cx="1645920" cy="365760"/>
          </a:xfrm>
          <a:prstGeom prst="rect">
            <a:avLst/>
          </a:prstGeom>
          <a:noFill/>
          <a:ln/>
        </p:spPr>
        <p:txBody>
          <a:bodyPr wrap="square" lIns="0" tIns="0" rIns="0" bIns="0" rtlCol="0" anchor="t"/>
          <a:lstStyle/>
          <a:p>
            <a:pPr algn="r" indent="0" marL="0">
              <a:buNone/>
            </a:pPr>
            <a:r>
              <a:rPr lang="en-US" sz="1500" dirty="0">
                <a:solidFill>
                  <a:srgbClr val="1F2A44"/>
                </a:solidFill>
                <a:latin typeface="Calibri" pitchFamily="34" charset="0"/>
                <a:ea typeface="Calibri" pitchFamily="34" charset="-122"/>
                <a:cs typeface="Calibri" pitchFamily="34" charset="-120"/>
              </a:rPr>
              <a:t>− Rs 10,00,000</a:t>
            </a:r>
            <a:endParaRPr lang="en-US" sz="1500" dirty="0"/>
          </a:p>
        </p:txBody>
      </p:sp>
      <p:sp>
        <p:nvSpPr>
          <p:cNvPr id="13" name="Text 10"/>
          <p:cNvSpPr txBox="1"/>
          <p:nvPr/>
        </p:nvSpPr>
        <p:spPr>
          <a:xfrm>
            <a:off x="7863840" y="3611880"/>
            <a:ext cx="2011680" cy="365760"/>
          </a:xfrm>
          <a:prstGeom prst="rect">
            <a:avLst/>
          </a:prstGeom>
          <a:noFill/>
          <a:ln/>
        </p:spPr>
        <p:txBody>
          <a:bodyPr wrap="square" lIns="0" tIns="0" rIns="0" bIns="0" rtlCol="0" anchor="t"/>
          <a:lstStyle/>
          <a:p>
            <a:pPr indent="0" marL="0">
              <a:buNone/>
            </a:pPr>
            <a:r>
              <a:rPr lang="en-US" sz="1500" dirty="0">
                <a:solidFill>
                  <a:srgbClr val="1F2A44"/>
                </a:solidFill>
                <a:latin typeface="Calibri" pitchFamily="34" charset="0"/>
                <a:ea typeface="Calibri" pitchFamily="34" charset="-122"/>
                <a:cs typeface="Calibri" pitchFamily="34" charset="-120"/>
              </a:rPr>
              <a:t>Taxable part</a:t>
            </a:r>
            <a:endParaRPr lang="en-US" sz="1500" dirty="0"/>
          </a:p>
        </p:txBody>
      </p:sp>
      <p:sp>
        <p:nvSpPr>
          <p:cNvPr id="14" name="Text 11"/>
          <p:cNvSpPr txBox="1"/>
          <p:nvPr/>
        </p:nvSpPr>
        <p:spPr>
          <a:xfrm>
            <a:off x="9784080" y="3611880"/>
            <a:ext cx="1645920" cy="365760"/>
          </a:xfrm>
          <a:prstGeom prst="rect">
            <a:avLst/>
          </a:prstGeom>
          <a:noFill/>
          <a:ln/>
        </p:spPr>
        <p:txBody>
          <a:bodyPr wrap="square" lIns="0" tIns="0" rIns="0" bIns="0" rtlCol="0" anchor="t"/>
          <a:lstStyle/>
          <a:p>
            <a:pPr algn="r" indent="0" marL="0">
              <a:buNone/>
            </a:pPr>
            <a:r>
              <a:rPr lang="en-US" sz="1500" dirty="0">
                <a:solidFill>
                  <a:srgbClr val="1F2A44"/>
                </a:solidFill>
                <a:latin typeface="Calibri" pitchFamily="34" charset="0"/>
                <a:ea typeface="Calibri" pitchFamily="34" charset="-122"/>
                <a:cs typeface="Calibri" pitchFamily="34" charset="-120"/>
              </a:rPr>
              <a:t>Rs 5,00,000</a:t>
            </a:r>
            <a:endParaRPr lang="en-US" sz="1500" dirty="0"/>
          </a:p>
        </p:txBody>
      </p:sp>
      <p:sp>
        <p:nvSpPr>
          <p:cNvPr id="15" name="Shape 12"/>
          <p:cNvSpPr/>
          <p:nvPr/>
        </p:nvSpPr>
        <p:spPr>
          <a:xfrm>
            <a:off x="7863840" y="4114800"/>
            <a:ext cx="3566160" cy="0"/>
          </a:xfrm>
          <a:prstGeom prst="line">
            <a:avLst/>
          </a:prstGeom>
          <a:noFill/>
          <a:ln w="19050">
            <a:solidFill>
              <a:srgbClr val="14213D"/>
            </a:solidFill>
            <a:prstDash val="solid"/>
          </a:ln>
        </p:spPr>
      </p:sp>
      <p:sp>
        <p:nvSpPr>
          <p:cNvPr id="16" name="Text 13"/>
          <p:cNvSpPr txBox="1"/>
          <p:nvPr/>
        </p:nvSpPr>
        <p:spPr>
          <a:xfrm>
            <a:off x="7863840" y="4224528"/>
            <a:ext cx="2011680" cy="411480"/>
          </a:xfrm>
          <a:prstGeom prst="rect">
            <a:avLst/>
          </a:prstGeom>
          <a:noFill/>
          <a:ln/>
        </p:spPr>
        <p:txBody>
          <a:bodyPr wrap="square" lIns="0" tIns="0" rIns="0" bIns="0" rtlCol="0" anchor="t"/>
          <a:lstStyle/>
          <a:p>
            <a:pPr indent="0" marL="0">
              <a:buNone/>
            </a:pPr>
            <a:r>
              <a:rPr lang="en-US" sz="1800" b="1" dirty="0">
                <a:solidFill>
                  <a:srgbClr val="14213D"/>
                </a:solidFill>
                <a:latin typeface="Calibri" pitchFamily="34" charset="0"/>
                <a:ea typeface="Calibri" pitchFamily="34" charset="-122"/>
                <a:cs typeface="Calibri" pitchFamily="34" charset="-120"/>
              </a:rPr>
              <a:t>TCS at 2%</a:t>
            </a:r>
            <a:endParaRPr lang="en-US" sz="1800" dirty="0"/>
          </a:p>
        </p:txBody>
      </p:sp>
      <p:sp>
        <p:nvSpPr>
          <p:cNvPr id="17" name="Text 14"/>
          <p:cNvSpPr txBox="1"/>
          <p:nvPr/>
        </p:nvSpPr>
        <p:spPr>
          <a:xfrm>
            <a:off x="9784080" y="4224528"/>
            <a:ext cx="1645920" cy="411480"/>
          </a:xfrm>
          <a:prstGeom prst="rect">
            <a:avLst/>
          </a:prstGeom>
          <a:noFill/>
          <a:ln/>
        </p:spPr>
        <p:txBody>
          <a:bodyPr wrap="square" lIns="0" tIns="0" rIns="0" bIns="0" rtlCol="0" anchor="t"/>
          <a:lstStyle/>
          <a:p>
            <a:pPr algn="r" indent="0" marL="0">
              <a:buNone/>
            </a:pPr>
            <a:r>
              <a:rPr lang="en-US" sz="1800" b="1" dirty="0">
                <a:solidFill>
                  <a:srgbClr val="14213D"/>
                </a:solidFill>
                <a:latin typeface="Calibri" pitchFamily="34" charset="0"/>
                <a:ea typeface="Calibri" pitchFamily="34" charset="-122"/>
                <a:cs typeface="Calibri" pitchFamily="34" charset="-120"/>
              </a:rPr>
              <a:t>Rs 10,000</a:t>
            </a:r>
            <a:endParaRPr lang="en-US" sz="1800" dirty="0"/>
          </a:p>
        </p:txBody>
      </p:sp>
      <p:sp>
        <p:nvSpPr>
          <p:cNvPr id="18" name="Text 15"/>
          <p:cNvSpPr txBox="1"/>
          <p:nvPr/>
        </p:nvSpPr>
        <p:spPr>
          <a:xfrm>
            <a:off x="7863840" y="4846320"/>
            <a:ext cx="3566160" cy="731520"/>
          </a:xfrm>
          <a:prstGeom prst="rect">
            <a:avLst/>
          </a:prstGeom>
          <a:noFill/>
          <a:ln/>
        </p:spPr>
        <p:txBody>
          <a:bodyPr wrap="square" lIns="0" tIns="0" rIns="0" bIns="0" rtlCol="0" anchor="t"/>
          <a:lstStyle/>
          <a:p>
            <a:pPr indent="0" marL="0">
              <a:buNone/>
            </a:pPr>
            <a:r>
              <a:rPr lang="en-US" sz="1300" dirty="0">
                <a:solidFill>
                  <a:srgbClr val="5A6378"/>
                </a:solidFill>
                <a:latin typeface="Calibri" pitchFamily="34" charset="0"/>
                <a:ea typeface="Calibri" pitchFamily="34" charset="-122"/>
                <a:cs typeface="Calibri" pitchFamily="34" charset="-120"/>
              </a:rPr>
              <a:t>With an education loan instead (A3): TCS is Rs 0.</a:t>
            </a:r>
            <a:endParaRPr lang="en-US" sz="13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rgbClr val="14213D"/>
                </a:solidFill>
                <a:latin typeface="Cambria" pitchFamily="34" charset="0"/>
                <a:ea typeface="Cambria" pitchFamily="34" charset="-122"/>
                <a:cs typeface="Cambria" pitchFamily="34" charset="-120"/>
              </a:rPr>
              <a:t>Route comparison: the lowest fee is not the cheapest</a:t>
            </a:r>
            <a:endParaRPr lang="en-US" sz="3000" dirty="0"/>
          </a:p>
        </p:txBody>
      </p:sp>
      <p:graphicFrame>
        <p:nvGraphicFramePr>
          <p:cNvPr id="3" name="Chart 0" descr=""/>
          <p:cNvGraphicFramePr/>
          <p:nvPr/>
        </p:nvGraphicFramePr>
        <p:xfrm>
          <a:off x="548640" y="128016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52360" y="1280160"/>
            <a:ext cx="4160520" cy="4206240"/>
          </a:xfrm>
          <a:prstGeom prst="roundRect">
            <a:avLst>
              <a:gd name="adj" fmla="val 2637"/>
            </a:avLst>
          </a:prstGeom>
          <a:solidFill>
            <a:srgbClr val="F3F5F9"/>
          </a:solidFill>
          <a:ln/>
        </p:spPr>
      </p:sp>
      <p:sp>
        <p:nvSpPr>
          <p:cNvPr id="5" name="Text 2"/>
          <p:cNvSpPr txBox="1"/>
          <p:nvPr/>
        </p:nvSpPr>
        <p:spPr>
          <a:xfrm>
            <a:off x="7680960" y="1463040"/>
            <a:ext cx="3749040" cy="3657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Why Provider B wins, line by line</a:t>
            </a:r>
            <a:endParaRPr lang="en-US" sz="1600" dirty="0"/>
          </a:p>
        </p:txBody>
      </p:sp>
      <p:sp>
        <p:nvSpPr>
          <p:cNvPr id="6" name="Text 3"/>
          <p:cNvSpPr txBox="1"/>
          <p:nvPr/>
        </p:nvSpPr>
        <p:spPr>
          <a:xfrm>
            <a:off x="7680960" y="2011680"/>
            <a:ext cx="2651760" cy="4114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Better rate (90.20 vs 90.50)</a:t>
            </a:r>
            <a:endParaRPr lang="en-US" sz="1400" dirty="0"/>
          </a:p>
        </p:txBody>
      </p:sp>
      <p:sp>
        <p:nvSpPr>
          <p:cNvPr id="7" name="Text 4"/>
          <p:cNvSpPr txBox="1"/>
          <p:nvPr/>
        </p:nvSpPr>
        <p:spPr>
          <a:xfrm>
            <a:off x="10241280" y="2011680"/>
            <a:ext cx="1188720" cy="411480"/>
          </a:xfrm>
          <a:prstGeom prst="rect">
            <a:avLst/>
          </a:prstGeom>
          <a:noFill/>
          <a:ln/>
        </p:spPr>
        <p:txBody>
          <a:bodyPr wrap="square" lIns="0" tIns="0" rIns="0" bIns="0" rtlCol="0" anchor="t"/>
          <a:lstStyle/>
          <a:p>
            <a:pPr algn="r" indent="0" marL="0">
              <a:buNone/>
            </a:pPr>
            <a:r>
              <a:rPr lang="en-US" sz="1400" b="1" dirty="0">
                <a:solidFill>
                  <a:srgbClr val="1F5FA8"/>
                </a:solidFill>
                <a:latin typeface="Calibri" pitchFamily="34" charset="0"/>
                <a:ea typeface="Calibri" pitchFamily="34" charset="-122"/>
                <a:cs typeface="Calibri" pitchFamily="34" charset="-120"/>
              </a:rPr>
              <a:t>+ Rs 6,000</a:t>
            </a:r>
            <a:endParaRPr lang="en-US" sz="1400" dirty="0"/>
          </a:p>
        </p:txBody>
      </p:sp>
      <p:sp>
        <p:nvSpPr>
          <p:cNvPr id="8" name="Text 5"/>
          <p:cNvSpPr txBox="1"/>
          <p:nvPr/>
        </p:nvSpPr>
        <p:spPr>
          <a:xfrm>
            <a:off x="7680960" y="2514600"/>
            <a:ext cx="2651760" cy="4114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Higher provider fee</a:t>
            </a:r>
            <a:endParaRPr lang="en-US" sz="1400" dirty="0"/>
          </a:p>
        </p:txBody>
      </p:sp>
      <p:sp>
        <p:nvSpPr>
          <p:cNvPr id="9" name="Text 6"/>
          <p:cNvSpPr txBox="1"/>
          <p:nvPr/>
        </p:nvSpPr>
        <p:spPr>
          <a:xfrm>
            <a:off x="10241280" y="2514600"/>
            <a:ext cx="1188720" cy="411480"/>
          </a:xfrm>
          <a:prstGeom prst="rect">
            <a:avLst/>
          </a:prstGeom>
          <a:noFill/>
          <a:ln/>
        </p:spPr>
        <p:txBody>
          <a:bodyPr wrap="square" lIns="0" tIns="0" rIns="0" bIns="0" rtlCol="0" anchor="t"/>
          <a:lstStyle/>
          <a:p>
            <a:pPr algn="r" indent="0" marL="0">
              <a:buNone/>
            </a:pPr>
            <a:r>
              <a:rPr lang="en-US" sz="1400" b="1" dirty="0">
                <a:solidFill>
                  <a:srgbClr val="B4561F"/>
                </a:solidFill>
                <a:latin typeface="Calibri" pitchFamily="34" charset="0"/>
                <a:ea typeface="Calibri" pitchFamily="34" charset="-122"/>
                <a:cs typeface="Calibri" pitchFamily="34" charset="-120"/>
              </a:rPr>
              <a:t>− Rs 1,500</a:t>
            </a:r>
            <a:endParaRPr lang="en-US" sz="1400" dirty="0"/>
          </a:p>
        </p:txBody>
      </p:sp>
      <p:sp>
        <p:nvSpPr>
          <p:cNvPr id="10" name="Text 7"/>
          <p:cNvSpPr txBox="1"/>
          <p:nvPr/>
        </p:nvSpPr>
        <p:spPr>
          <a:xfrm>
            <a:off x="7680960" y="3017520"/>
            <a:ext cx="2651760" cy="4114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Less TCS (less rupees sent)</a:t>
            </a:r>
            <a:endParaRPr lang="en-US" sz="1400" dirty="0"/>
          </a:p>
        </p:txBody>
      </p:sp>
      <p:sp>
        <p:nvSpPr>
          <p:cNvPr id="11" name="Text 8"/>
          <p:cNvSpPr txBox="1"/>
          <p:nvPr/>
        </p:nvSpPr>
        <p:spPr>
          <a:xfrm>
            <a:off x="10241280" y="3017520"/>
            <a:ext cx="1188720" cy="411480"/>
          </a:xfrm>
          <a:prstGeom prst="rect">
            <a:avLst/>
          </a:prstGeom>
          <a:noFill/>
          <a:ln/>
        </p:spPr>
        <p:txBody>
          <a:bodyPr wrap="square" lIns="0" tIns="0" rIns="0" bIns="0" rtlCol="0" anchor="t"/>
          <a:lstStyle/>
          <a:p>
            <a:pPr algn="r" indent="0" marL="0">
              <a:buNone/>
            </a:pPr>
            <a:r>
              <a:rPr lang="en-US" sz="1400" b="1" dirty="0">
                <a:solidFill>
                  <a:srgbClr val="1F5FA8"/>
                </a:solidFill>
                <a:latin typeface="Calibri" pitchFamily="34" charset="0"/>
                <a:ea typeface="Calibri" pitchFamily="34" charset="-122"/>
                <a:cs typeface="Calibri" pitchFamily="34" charset="-120"/>
              </a:rPr>
              <a:t>+ Rs 120</a:t>
            </a:r>
            <a:endParaRPr lang="en-US" sz="1400" dirty="0"/>
          </a:p>
        </p:txBody>
      </p:sp>
      <p:sp>
        <p:nvSpPr>
          <p:cNvPr id="12" name="Shape 9"/>
          <p:cNvSpPr/>
          <p:nvPr/>
        </p:nvSpPr>
        <p:spPr>
          <a:xfrm>
            <a:off x="7680960" y="3584448"/>
            <a:ext cx="3749040" cy="0"/>
          </a:xfrm>
          <a:prstGeom prst="line">
            <a:avLst/>
          </a:prstGeom>
          <a:noFill/>
          <a:ln w="19050">
            <a:solidFill>
              <a:srgbClr val="14213D"/>
            </a:solidFill>
            <a:prstDash val="solid"/>
          </a:ln>
        </p:spPr>
      </p:sp>
      <p:sp>
        <p:nvSpPr>
          <p:cNvPr id="13" name="Text 10"/>
          <p:cNvSpPr txBox="1"/>
          <p:nvPr/>
        </p:nvSpPr>
        <p:spPr>
          <a:xfrm>
            <a:off x="7680960" y="3675888"/>
            <a:ext cx="2286000" cy="41148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Saving with B</a:t>
            </a:r>
            <a:endParaRPr lang="en-US" sz="1700" dirty="0"/>
          </a:p>
        </p:txBody>
      </p:sp>
      <p:sp>
        <p:nvSpPr>
          <p:cNvPr id="14" name="Text 11"/>
          <p:cNvSpPr txBox="1"/>
          <p:nvPr/>
        </p:nvSpPr>
        <p:spPr>
          <a:xfrm>
            <a:off x="9966960" y="3675888"/>
            <a:ext cx="1463040" cy="411480"/>
          </a:xfrm>
          <a:prstGeom prst="rect">
            <a:avLst/>
          </a:prstGeom>
          <a:noFill/>
          <a:ln/>
        </p:spPr>
        <p:txBody>
          <a:bodyPr wrap="square" lIns="0" tIns="0" rIns="0" bIns="0" rtlCol="0" anchor="t"/>
          <a:lstStyle/>
          <a:p>
            <a:pPr algn="r" indent="0" marL="0">
              <a:buNone/>
            </a:pPr>
            <a:r>
              <a:rPr lang="en-US" sz="1700" b="1" dirty="0">
                <a:solidFill>
                  <a:srgbClr val="14213D"/>
                </a:solidFill>
                <a:latin typeface="Calibri" pitchFamily="34" charset="0"/>
                <a:ea typeface="Calibri" pitchFamily="34" charset="-122"/>
                <a:cs typeface="Calibri" pitchFamily="34" charset="-120"/>
              </a:rPr>
              <a:t>Rs 4,620</a:t>
            </a:r>
            <a:endParaRPr lang="en-US" sz="1700" dirty="0"/>
          </a:p>
        </p:txBody>
      </p:sp>
      <p:sp>
        <p:nvSpPr>
          <p:cNvPr id="15" name="Text 12"/>
          <p:cNvSpPr txBox="1"/>
          <p:nvPr/>
        </p:nvSpPr>
        <p:spPr>
          <a:xfrm>
            <a:off x="7680960" y="4251960"/>
            <a:ext cx="3749040" cy="1097280"/>
          </a:xfrm>
          <a:prstGeom prst="rect">
            <a:avLst/>
          </a:prstGeom>
          <a:noFill/>
          <a:ln/>
        </p:spPr>
        <p:txBody>
          <a:bodyPr wrap="square" lIns="0" tIns="0" rIns="0" bIns="0" rtlCol="0" anchor="t"/>
          <a:lstStyle/>
          <a:p>
            <a:pPr indent="0" marL="0">
              <a:buNone/>
            </a:pPr>
            <a:r>
              <a:rPr lang="en-US" sz="1300" dirty="0">
                <a:solidFill>
                  <a:srgbClr val="5A6378"/>
                </a:solidFill>
                <a:latin typeface="Calibri" pitchFamily="34" charset="0"/>
                <a:ea typeface="Calibri" pitchFamily="34" charset="-122"/>
                <a:cs typeface="Calibri" pitchFamily="34" charset="-120"/>
              </a:rPr>
              <a:t>Totals: B Rs 18,23,080 vs A Rs 18,27,700. Code writes every line, and the lines add up exactly to the saving.</a:t>
            </a:r>
            <a:endParaRPr lang="en-US" sz="1300" dirty="0"/>
          </a:p>
        </p:txBody>
      </p:sp>
      <p:sp>
        <p:nvSpPr>
          <p:cNvPr id="16" name="Text 13"/>
          <p:cNvSpPr txBox="1"/>
          <p:nvPr/>
        </p:nvSpPr>
        <p:spPr>
          <a:xfrm>
            <a:off x="548640" y="5669280"/>
            <a:ext cx="11064240" cy="457200"/>
          </a:xfrm>
          <a:prstGeom prst="rect">
            <a:avLst/>
          </a:prstGeom>
          <a:noFill/>
          <a:ln/>
        </p:spPr>
        <p:txBody>
          <a:bodyPr wrap="square" lIns="0" tIns="0" rIns="0" bIns="0" rtlCol="0" anchor="t"/>
          <a:lstStyle/>
          <a:p>
            <a:pPr indent="0" marL="0">
              <a:buNone/>
            </a:pPr>
            <a:r>
              <a:rPr lang="en-US" sz="1100" i="1" dirty="0">
                <a:solidFill>
                  <a:srgbClr val="5A6378"/>
                </a:solidFill>
                <a:latin typeface="Calibri" pitchFamily="34" charset="0"/>
                <a:ea typeface="Calibri" pitchFamily="34" charset="-122"/>
                <a:cs typeface="Calibri" pitchFamily="34" charset="-120"/>
              </a:rPr>
              <a:t>Scenario A8, engine output. Mid-market rate 90.00 is the example value from our tests, not a live rate. No GST or correspondent charges in this example.</a:t>
            </a:r>
            <a:endParaRPr lang="en-US" sz="11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rgbClr val="14213D"/>
                </a:solidFill>
                <a:latin typeface="Cambria" pitchFamily="34" charset="0"/>
                <a:ea typeface="Cambria" pitchFamily="34" charset="-122"/>
                <a:cs typeface="Cambria" pitchFamily="34" charset="-120"/>
              </a:rPr>
              <a:t>Security: signatures instead of payee lists</a:t>
            </a:r>
            <a:endParaRPr lang="en-US" sz="3000" dirty="0"/>
          </a:p>
        </p:txBody>
      </p:sp>
      <p:sp>
        <p:nvSpPr>
          <p:cNvPr id="3" name="Text 1"/>
          <p:cNvSpPr txBox="1"/>
          <p:nvPr/>
        </p:nvSpPr>
        <p:spPr>
          <a:xfrm>
            <a:off x="548640" y="1280160"/>
            <a:ext cx="11064240" cy="365760"/>
          </a:xfrm>
          <a:prstGeom prst="rect">
            <a:avLst/>
          </a:prstGeom>
          <a:noFill/>
          <a:ln/>
        </p:spPr>
        <p:txBody>
          <a:bodyPr wrap="square" lIns="0" tIns="0" rIns="0" bIns="0" rtlCol="0" anchor="t"/>
          <a:lstStyle/>
          <a:p>
            <a:pPr indent="0" marL="0">
              <a:buNone/>
            </a:pPr>
            <a:r>
              <a:rPr lang="en-US" sz="1500" b="1" dirty="0">
                <a:solidFill>
                  <a:srgbClr val="1F5FA8"/>
                </a:solidFill>
                <a:latin typeface="Calibri" pitchFamily="34" charset="0"/>
                <a:ea typeface="Calibri" pitchFamily="34" charset="-122"/>
                <a:cs typeface="Calibri" pitchFamily="34" charset="-120"/>
              </a:rPr>
              <a:t>University invoice.  </a:t>
            </a:r>
            <a:pPr indent="0" marL="0">
              <a:buNone/>
            </a:pPr>
            <a:r>
              <a:rPr lang="en-US" sz="1500" dirty="0">
                <a:solidFill>
                  <a:srgbClr val="1F2A44"/>
                </a:solidFill>
                <a:latin typeface="Calibri" pitchFamily="34" charset="0"/>
                <a:ea typeface="Calibri" pitchFamily="34" charset="-122"/>
                <a:cs typeface="Calibri" pitchFamily="34" charset="-120"/>
              </a:rPr>
              <a:t>A changed bank account breaks the signature.</a:t>
            </a:r>
            <a:endParaRPr lang="en-US" sz="1500" dirty="0"/>
          </a:p>
        </p:txBody>
      </p:sp>
      <p:sp>
        <p:nvSpPr>
          <p:cNvPr id="4" name="Shape 2"/>
          <p:cNvSpPr/>
          <p:nvPr/>
        </p:nvSpPr>
        <p:spPr>
          <a:xfrm>
            <a:off x="548640" y="1737360"/>
            <a:ext cx="1920240" cy="1325880"/>
          </a:xfrm>
          <a:prstGeom prst="roundRect">
            <a:avLst>
              <a:gd name="adj" fmla="val 8276"/>
            </a:avLst>
          </a:prstGeom>
          <a:solidFill>
            <a:srgbClr val="1F5FA8"/>
          </a:solidFill>
          <a:ln/>
        </p:spPr>
      </p:sp>
      <p:sp>
        <p:nvSpPr>
          <p:cNvPr id="5" name="Text 3"/>
          <p:cNvSpPr txBox="1"/>
          <p:nvPr/>
        </p:nvSpPr>
        <p:spPr>
          <a:xfrm>
            <a:off x="713232" y="1847088"/>
            <a:ext cx="164592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Trust root</a:t>
            </a:r>
            <a:endParaRPr lang="en-US" sz="1500" dirty="0"/>
          </a:p>
        </p:txBody>
      </p:sp>
      <p:sp>
        <p:nvSpPr>
          <p:cNvPr id="6" name="Text 4"/>
          <p:cNvSpPr txBox="1"/>
          <p:nvPr/>
        </p:nvSpPr>
        <p:spPr>
          <a:xfrm>
            <a:off x="713232" y="2194560"/>
            <a:ext cx="1645920" cy="777240"/>
          </a:xfrm>
          <a:prstGeom prst="rect">
            <a:avLst/>
          </a:prstGeom>
          <a:noFill/>
          <a:ln/>
        </p:spPr>
        <p:txBody>
          <a:bodyPr wrap="square" lIns="0" tIns="0" rIns="0" bIns="0" rtlCol="0" anchor="t"/>
          <a:lstStyle/>
          <a:p>
            <a:pPr indent="0" marL="0">
              <a:buNone/>
            </a:pPr>
            <a:r>
              <a:rPr lang="en-US" sz="1300" dirty="0">
                <a:solidFill>
                  <a:srgbClr val="DCE7F5"/>
                </a:solidFill>
                <a:latin typeface="Calibri" pitchFamily="34" charset="0"/>
                <a:ea typeface="Calibri" pitchFamily="34" charset="-122"/>
                <a:cs typeface="Calibri" pitchFamily="34" charset="-120"/>
              </a:rPr>
              <a:t>One key we trust, kept offline</a:t>
            </a:r>
            <a:endParaRPr lang="en-US" sz="1300" dirty="0"/>
          </a:p>
        </p:txBody>
      </p:sp>
      <p:sp>
        <p:nvSpPr>
          <p:cNvPr id="7" name="Shape 5"/>
          <p:cNvSpPr/>
          <p:nvPr/>
        </p:nvSpPr>
        <p:spPr>
          <a:xfrm>
            <a:off x="2496312" y="2286000"/>
            <a:ext cx="274320" cy="237744"/>
          </a:xfrm>
          <a:prstGeom prst="rightArrow">
            <a:avLst/>
          </a:prstGeom>
          <a:solidFill>
            <a:srgbClr val="8A93A6"/>
          </a:solidFill>
          <a:ln/>
        </p:spPr>
      </p:sp>
      <p:sp>
        <p:nvSpPr>
          <p:cNvPr id="8" name="Shape 6"/>
          <p:cNvSpPr/>
          <p:nvPr/>
        </p:nvSpPr>
        <p:spPr>
          <a:xfrm>
            <a:off x="2807208" y="1737360"/>
            <a:ext cx="1920240" cy="1325880"/>
          </a:xfrm>
          <a:prstGeom prst="roundRect">
            <a:avLst>
              <a:gd name="adj" fmla="val 8276"/>
            </a:avLst>
          </a:prstGeom>
          <a:solidFill>
            <a:srgbClr val="1F5FA8"/>
          </a:solidFill>
          <a:ln/>
        </p:spPr>
      </p:sp>
      <p:sp>
        <p:nvSpPr>
          <p:cNvPr id="9" name="Text 7"/>
          <p:cNvSpPr txBox="1"/>
          <p:nvPr/>
        </p:nvSpPr>
        <p:spPr>
          <a:xfrm>
            <a:off x="2971800" y="1847088"/>
            <a:ext cx="164592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Certificate</a:t>
            </a:r>
            <a:endParaRPr lang="en-US" sz="1500" dirty="0"/>
          </a:p>
        </p:txBody>
      </p:sp>
      <p:sp>
        <p:nvSpPr>
          <p:cNvPr id="10" name="Text 8"/>
          <p:cNvSpPr txBox="1"/>
          <p:nvPr/>
        </p:nvSpPr>
        <p:spPr>
          <a:xfrm>
            <a:off x="2971800" y="2194560"/>
            <a:ext cx="1645920" cy="777240"/>
          </a:xfrm>
          <a:prstGeom prst="rect">
            <a:avLst/>
          </a:prstGeom>
          <a:noFill/>
          <a:ln/>
        </p:spPr>
        <p:txBody>
          <a:bodyPr wrap="square" lIns="0" tIns="0" rIns="0" bIns="0" rtlCol="0" anchor="t"/>
          <a:lstStyle/>
          <a:p>
            <a:pPr indent="0" marL="0">
              <a:buNone/>
            </a:pPr>
            <a:r>
              <a:rPr lang="en-US" sz="1300" dirty="0">
                <a:solidFill>
                  <a:srgbClr val="DCE7F5"/>
                </a:solidFill>
                <a:latin typeface="Calibri" pitchFamily="34" charset="0"/>
                <a:ea typeface="Calibri" pitchFamily="34" charset="-122"/>
                <a:cs typeface="Calibri" pitchFamily="34" charset="-120"/>
              </a:rPr>
              <a:t>Names the university and its bank account; not revoked</a:t>
            </a:r>
            <a:endParaRPr lang="en-US" sz="1300" dirty="0"/>
          </a:p>
        </p:txBody>
      </p:sp>
      <p:sp>
        <p:nvSpPr>
          <p:cNvPr id="11" name="Shape 9"/>
          <p:cNvSpPr/>
          <p:nvPr/>
        </p:nvSpPr>
        <p:spPr>
          <a:xfrm>
            <a:off x="4754880" y="2286000"/>
            <a:ext cx="274320" cy="237744"/>
          </a:xfrm>
          <a:prstGeom prst="rightArrow">
            <a:avLst/>
          </a:prstGeom>
          <a:solidFill>
            <a:srgbClr val="8A93A6"/>
          </a:solidFill>
          <a:ln/>
        </p:spPr>
      </p:sp>
      <p:sp>
        <p:nvSpPr>
          <p:cNvPr id="12" name="Shape 10"/>
          <p:cNvSpPr/>
          <p:nvPr/>
        </p:nvSpPr>
        <p:spPr>
          <a:xfrm>
            <a:off x="5065776" y="1737360"/>
            <a:ext cx="1920240" cy="1325880"/>
          </a:xfrm>
          <a:prstGeom prst="roundRect">
            <a:avLst>
              <a:gd name="adj" fmla="val 8276"/>
            </a:avLst>
          </a:prstGeom>
          <a:solidFill>
            <a:srgbClr val="1F5FA8"/>
          </a:solidFill>
          <a:ln/>
        </p:spPr>
      </p:sp>
      <p:sp>
        <p:nvSpPr>
          <p:cNvPr id="13" name="Text 11"/>
          <p:cNvSpPr txBox="1"/>
          <p:nvPr/>
        </p:nvSpPr>
        <p:spPr>
          <a:xfrm>
            <a:off x="5230368" y="1847088"/>
            <a:ext cx="164592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Invoice signature</a:t>
            </a:r>
            <a:endParaRPr lang="en-US" sz="1500" dirty="0"/>
          </a:p>
        </p:txBody>
      </p:sp>
      <p:sp>
        <p:nvSpPr>
          <p:cNvPr id="14" name="Text 12"/>
          <p:cNvSpPr txBox="1"/>
          <p:nvPr/>
        </p:nvSpPr>
        <p:spPr>
          <a:xfrm>
            <a:off x="5230368" y="2194560"/>
            <a:ext cx="1645920" cy="777240"/>
          </a:xfrm>
          <a:prstGeom prst="rect">
            <a:avLst/>
          </a:prstGeom>
          <a:noFill/>
          <a:ln/>
        </p:spPr>
        <p:txBody>
          <a:bodyPr wrap="square" lIns="0" tIns="0" rIns="0" bIns="0" rtlCol="0" anchor="t"/>
          <a:lstStyle/>
          <a:p>
            <a:pPr indent="0" marL="0">
              <a:buNone/>
            </a:pPr>
            <a:r>
              <a:rPr lang="en-US" sz="1300" dirty="0">
                <a:solidFill>
                  <a:srgbClr val="DCE7F5"/>
                </a:solidFill>
                <a:latin typeface="Calibri" pitchFamily="34" charset="0"/>
                <a:ea typeface="Calibri" pitchFamily="34" charset="-122"/>
                <a:cs typeface="Calibri" pitchFamily="34" charset="-120"/>
              </a:rPr>
              <a:t>Made by the university with Ed25519</a:t>
            </a:r>
            <a:endParaRPr lang="en-US" sz="1300" dirty="0"/>
          </a:p>
        </p:txBody>
      </p:sp>
      <p:sp>
        <p:nvSpPr>
          <p:cNvPr id="15" name="Shape 13"/>
          <p:cNvSpPr/>
          <p:nvPr/>
        </p:nvSpPr>
        <p:spPr>
          <a:xfrm>
            <a:off x="7013448" y="2286000"/>
            <a:ext cx="274320" cy="237744"/>
          </a:xfrm>
          <a:prstGeom prst="rightArrow">
            <a:avLst/>
          </a:prstGeom>
          <a:solidFill>
            <a:srgbClr val="8A93A6"/>
          </a:solidFill>
          <a:ln/>
        </p:spPr>
      </p:sp>
      <p:sp>
        <p:nvSpPr>
          <p:cNvPr id="16" name="Shape 14"/>
          <p:cNvSpPr/>
          <p:nvPr/>
        </p:nvSpPr>
        <p:spPr>
          <a:xfrm>
            <a:off x="7324344" y="1737360"/>
            <a:ext cx="1920240" cy="1325880"/>
          </a:xfrm>
          <a:prstGeom prst="roundRect">
            <a:avLst>
              <a:gd name="adj" fmla="val 8276"/>
            </a:avLst>
          </a:prstGeom>
          <a:solidFill>
            <a:srgbClr val="1F5FA8"/>
          </a:solidFill>
          <a:ln/>
        </p:spPr>
      </p:sp>
      <p:sp>
        <p:nvSpPr>
          <p:cNvPr id="17" name="Text 15"/>
          <p:cNvSpPr txBox="1"/>
          <p:nvPr/>
        </p:nvSpPr>
        <p:spPr>
          <a:xfrm>
            <a:off x="7488936" y="1847088"/>
            <a:ext cx="164592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Bank details</a:t>
            </a:r>
            <a:endParaRPr lang="en-US" sz="1500" dirty="0"/>
          </a:p>
        </p:txBody>
      </p:sp>
      <p:sp>
        <p:nvSpPr>
          <p:cNvPr id="18" name="Text 16"/>
          <p:cNvSpPr txBox="1"/>
          <p:nvPr/>
        </p:nvSpPr>
        <p:spPr>
          <a:xfrm>
            <a:off x="7488936" y="2194560"/>
            <a:ext cx="1645920" cy="777240"/>
          </a:xfrm>
          <a:prstGeom prst="rect">
            <a:avLst/>
          </a:prstGeom>
          <a:noFill/>
          <a:ln/>
        </p:spPr>
        <p:txBody>
          <a:bodyPr wrap="square" lIns="0" tIns="0" rIns="0" bIns="0" rtlCol="0" anchor="t"/>
          <a:lstStyle/>
          <a:p>
            <a:pPr indent="0" marL="0">
              <a:buNone/>
            </a:pPr>
            <a:r>
              <a:rPr lang="en-US" sz="1300" dirty="0">
                <a:solidFill>
                  <a:srgbClr val="DCE7F5"/>
                </a:solidFill>
                <a:latin typeface="Calibri" pitchFamily="34" charset="0"/>
                <a:ea typeface="Calibri" pitchFamily="34" charset="-122"/>
                <a:cs typeface="Calibri" pitchFamily="34" charset="-120"/>
              </a:rPr>
              <a:t>Must equal the certificate</a:t>
            </a:r>
            <a:endParaRPr lang="en-US" sz="1300" dirty="0"/>
          </a:p>
        </p:txBody>
      </p:sp>
      <p:sp>
        <p:nvSpPr>
          <p:cNvPr id="19" name="Shape 17"/>
          <p:cNvSpPr/>
          <p:nvPr/>
        </p:nvSpPr>
        <p:spPr>
          <a:xfrm>
            <a:off x="9272016" y="2286000"/>
            <a:ext cx="274320" cy="237744"/>
          </a:xfrm>
          <a:prstGeom prst="rightArrow">
            <a:avLst/>
          </a:prstGeom>
          <a:solidFill>
            <a:srgbClr val="8A93A6"/>
          </a:solidFill>
          <a:ln/>
        </p:spPr>
      </p:sp>
      <p:sp>
        <p:nvSpPr>
          <p:cNvPr id="20" name="Shape 18"/>
          <p:cNvSpPr/>
          <p:nvPr/>
        </p:nvSpPr>
        <p:spPr>
          <a:xfrm>
            <a:off x="9582912" y="1737360"/>
            <a:ext cx="1920240" cy="1325880"/>
          </a:xfrm>
          <a:prstGeom prst="roundRect">
            <a:avLst>
              <a:gd name="adj" fmla="val 8276"/>
            </a:avLst>
          </a:prstGeom>
          <a:solidFill>
            <a:srgbClr val="1F5FA8"/>
          </a:solidFill>
          <a:ln/>
        </p:spPr>
      </p:sp>
      <p:sp>
        <p:nvSpPr>
          <p:cNvPr id="21" name="Text 19"/>
          <p:cNvSpPr txBox="1"/>
          <p:nvPr/>
        </p:nvSpPr>
        <p:spPr>
          <a:xfrm>
            <a:off x="9747504" y="1847088"/>
            <a:ext cx="164592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Printed text</a:t>
            </a:r>
            <a:endParaRPr lang="en-US" sz="1500" dirty="0"/>
          </a:p>
        </p:txBody>
      </p:sp>
      <p:sp>
        <p:nvSpPr>
          <p:cNvPr id="22" name="Text 20"/>
          <p:cNvSpPr txBox="1"/>
          <p:nvPr/>
        </p:nvSpPr>
        <p:spPr>
          <a:xfrm>
            <a:off x="9747504" y="2194560"/>
            <a:ext cx="1645920" cy="777240"/>
          </a:xfrm>
          <a:prstGeom prst="rect">
            <a:avLst/>
          </a:prstGeom>
          <a:noFill/>
          <a:ln/>
        </p:spPr>
        <p:txBody>
          <a:bodyPr wrap="square" lIns="0" tIns="0" rIns="0" bIns="0" rtlCol="0" anchor="t"/>
          <a:lstStyle/>
          <a:p>
            <a:pPr indent="0" marL="0">
              <a:buNone/>
            </a:pPr>
            <a:r>
              <a:rPr lang="en-US" sz="1300" dirty="0">
                <a:solidFill>
                  <a:srgbClr val="DCE7F5"/>
                </a:solidFill>
                <a:latin typeface="Calibri" pitchFamily="34" charset="0"/>
                <a:ea typeface="Calibri" pitchFamily="34" charset="-122"/>
                <a:cs typeface="Calibri" pitchFamily="34" charset="-120"/>
              </a:rPr>
              <a:t>Must match the signed data; we pay the signed data</a:t>
            </a:r>
            <a:endParaRPr lang="en-US" sz="1300" dirty="0"/>
          </a:p>
        </p:txBody>
      </p:sp>
      <p:sp>
        <p:nvSpPr>
          <p:cNvPr id="23" name="Text 21"/>
          <p:cNvSpPr txBox="1"/>
          <p:nvPr/>
        </p:nvSpPr>
        <p:spPr>
          <a:xfrm>
            <a:off x="548640" y="3429000"/>
            <a:ext cx="11064240" cy="365760"/>
          </a:xfrm>
          <a:prstGeom prst="rect">
            <a:avLst/>
          </a:prstGeom>
          <a:noFill/>
          <a:ln/>
        </p:spPr>
        <p:txBody>
          <a:bodyPr wrap="square" lIns="0" tIns="0" rIns="0" bIns="0" rtlCol="0" anchor="t"/>
          <a:lstStyle/>
          <a:p>
            <a:pPr indent="0" marL="0">
              <a:buNone/>
            </a:pPr>
            <a:r>
              <a:rPr lang="en-US" sz="1500" b="1" dirty="0">
                <a:solidFill>
                  <a:srgbClr val="B4561F"/>
                </a:solidFill>
                <a:latin typeface="Calibri" pitchFamily="34" charset="0"/>
                <a:ea typeface="Calibri" pitchFamily="34" charset="-122"/>
                <a:cs typeface="Calibri" pitchFamily="34" charset="-120"/>
              </a:rPr>
              <a:t>Parent approval.  </a:t>
            </a:r>
            <a:pPr indent="0" marL="0">
              <a:buNone/>
            </a:pPr>
            <a:r>
              <a:rPr lang="en-US" sz="1500" dirty="0">
                <a:solidFill>
                  <a:srgbClr val="1F2A44"/>
                </a:solidFill>
                <a:latin typeface="Calibri" pitchFamily="34" charset="0"/>
                <a:ea typeface="Calibri" pitchFamily="34" charset="-122"/>
                <a:cs typeface="Calibri" pitchFamily="34" charset="-120"/>
              </a:rPr>
              <a:t>The agent never holds the parent’s key, so it cannot forge an approval or change the plan.</a:t>
            </a:r>
            <a:endParaRPr lang="en-US" sz="1500" dirty="0"/>
          </a:p>
        </p:txBody>
      </p:sp>
      <p:sp>
        <p:nvSpPr>
          <p:cNvPr id="24" name="Shape 22"/>
          <p:cNvSpPr/>
          <p:nvPr/>
        </p:nvSpPr>
        <p:spPr>
          <a:xfrm>
            <a:off x="548640" y="3886200"/>
            <a:ext cx="1920240" cy="1325880"/>
          </a:xfrm>
          <a:prstGeom prst="roundRect">
            <a:avLst>
              <a:gd name="adj" fmla="val 8276"/>
            </a:avLst>
          </a:prstGeom>
          <a:solidFill>
            <a:srgbClr val="FBEFE3"/>
          </a:solidFill>
          <a:ln w="15875">
            <a:solidFill>
              <a:srgbClr val="B4561F"/>
            </a:solidFill>
            <a:prstDash val="solid"/>
          </a:ln>
        </p:spPr>
      </p:sp>
      <p:sp>
        <p:nvSpPr>
          <p:cNvPr id="25" name="Text 23"/>
          <p:cNvSpPr txBox="1"/>
          <p:nvPr/>
        </p:nvSpPr>
        <p:spPr>
          <a:xfrm>
            <a:off x="713232" y="3995928"/>
            <a:ext cx="164592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Device key</a:t>
            </a:r>
            <a:endParaRPr lang="en-US" sz="1500" dirty="0"/>
          </a:p>
        </p:txBody>
      </p:sp>
      <p:sp>
        <p:nvSpPr>
          <p:cNvPr id="26" name="Text 24"/>
          <p:cNvSpPr txBox="1"/>
          <p:nvPr/>
        </p:nvSpPr>
        <p:spPr>
          <a:xfrm>
            <a:off x="713232" y="4343400"/>
            <a:ext cx="1645920" cy="77724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Made in the browser; cannot be exported</a:t>
            </a:r>
            <a:endParaRPr lang="en-US" sz="1300" dirty="0"/>
          </a:p>
        </p:txBody>
      </p:sp>
      <p:sp>
        <p:nvSpPr>
          <p:cNvPr id="27" name="Shape 25"/>
          <p:cNvSpPr/>
          <p:nvPr/>
        </p:nvSpPr>
        <p:spPr>
          <a:xfrm>
            <a:off x="2496312" y="4434840"/>
            <a:ext cx="274320" cy="237744"/>
          </a:xfrm>
          <a:prstGeom prst="rightArrow">
            <a:avLst/>
          </a:prstGeom>
          <a:solidFill>
            <a:srgbClr val="8A93A6"/>
          </a:solidFill>
          <a:ln/>
        </p:spPr>
      </p:sp>
      <p:sp>
        <p:nvSpPr>
          <p:cNvPr id="28" name="Shape 26"/>
          <p:cNvSpPr/>
          <p:nvPr/>
        </p:nvSpPr>
        <p:spPr>
          <a:xfrm>
            <a:off x="2807208" y="3886200"/>
            <a:ext cx="1920240" cy="1325880"/>
          </a:xfrm>
          <a:prstGeom prst="roundRect">
            <a:avLst>
              <a:gd name="adj" fmla="val 8276"/>
            </a:avLst>
          </a:prstGeom>
          <a:solidFill>
            <a:srgbClr val="FBEFE3"/>
          </a:solidFill>
          <a:ln w="15875">
            <a:solidFill>
              <a:srgbClr val="B4561F"/>
            </a:solidFill>
            <a:prstDash val="solid"/>
          </a:ln>
        </p:spPr>
      </p:sp>
      <p:sp>
        <p:nvSpPr>
          <p:cNvPr id="29" name="Text 27"/>
          <p:cNvSpPr txBox="1"/>
          <p:nvPr/>
        </p:nvSpPr>
        <p:spPr>
          <a:xfrm>
            <a:off x="2971800" y="3995928"/>
            <a:ext cx="164592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Register</a:t>
            </a:r>
            <a:endParaRPr lang="en-US" sz="1500" dirty="0"/>
          </a:p>
        </p:txBody>
      </p:sp>
      <p:sp>
        <p:nvSpPr>
          <p:cNvPr id="30" name="Text 28"/>
          <p:cNvSpPr txBox="1"/>
          <p:nvPr/>
        </p:nvSpPr>
        <p:spPr>
          <a:xfrm>
            <a:off x="2971800" y="4343400"/>
            <a:ext cx="1645920" cy="77724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Only the public key, with the PIN</a:t>
            </a:r>
            <a:endParaRPr lang="en-US" sz="1300" dirty="0"/>
          </a:p>
        </p:txBody>
      </p:sp>
      <p:sp>
        <p:nvSpPr>
          <p:cNvPr id="31" name="Shape 29"/>
          <p:cNvSpPr/>
          <p:nvPr/>
        </p:nvSpPr>
        <p:spPr>
          <a:xfrm>
            <a:off x="4754880" y="4434840"/>
            <a:ext cx="274320" cy="237744"/>
          </a:xfrm>
          <a:prstGeom prst="rightArrow">
            <a:avLst/>
          </a:prstGeom>
          <a:solidFill>
            <a:srgbClr val="8A93A6"/>
          </a:solidFill>
          <a:ln/>
        </p:spPr>
      </p:sp>
      <p:sp>
        <p:nvSpPr>
          <p:cNvPr id="32" name="Shape 30"/>
          <p:cNvSpPr/>
          <p:nvPr/>
        </p:nvSpPr>
        <p:spPr>
          <a:xfrm>
            <a:off x="5065776" y="3886200"/>
            <a:ext cx="1920240" cy="1325880"/>
          </a:xfrm>
          <a:prstGeom prst="roundRect">
            <a:avLst>
              <a:gd name="adj" fmla="val 8276"/>
            </a:avLst>
          </a:prstGeom>
          <a:solidFill>
            <a:srgbClr val="FBEFE3"/>
          </a:solidFill>
          <a:ln w="15875">
            <a:solidFill>
              <a:srgbClr val="B4561F"/>
            </a:solidFill>
            <a:prstDash val="solid"/>
          </a:ln>
        </p:spPr>
      </p:sp>
      <p:sp>
        <p:nvSpPr>
          <p:cNvPr id="33" name="Text 31"/>
          <p:cNvSpPr txBox="1"/>
          <p:nvPr/>
        </p:nvSpPr>
        <p:spPr>
          <a:xfrm>
            <a:off x="5230368" y="3995928"/>
            <a:ext cx="164592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Recompute</a:t>
            </a:r>
            <a:endParaRPr lang="en-US" sz="1500" dirty="0"/>
          </a:p>
        </p:txBody>
      </p:sp>
      <p:sp>
        <p:nvSpPr>
          <p:cNvPr id="34" name="Text 32"/>
          <p:cNvSpPr txBox="1"/>
          <p:nvPr/>
        </p:nvSpPr>
        <p:spPr>
          <a:xfrm>
            <a:off x="5230368" y="4343400"/>
            <a:ext cx="1645920" cy="77724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The browser re-derives the plan hash itself</a:t>
            </a:r>
            <a:endParaRPr lang="en-US" sz="1300" dirty="0"/>
          </a:p>
        </p:txBody>
      </p:sp>
      <p:sp>
        <p:nvSpPr>
          <p:cNvPr id="35" name="Shape 33"/>
          <p:cNvSpPr/>
          <p:nvPr/>
        </p:nvSpPr>
        <p:spPr>
          <a:xfrm>
            <a:off x="7013448" y="4434840"/>
            <a:ext cx="274320" cy="237744"/>
          </a:xfrm>
          <a:prstGeom prst="rightArrow">
            <a:avLst/>
          </a:prstGeom>
          <a:solidFill>
            <a:srgbClr val="8A93A6"/>
          </a:solidFill>
          <a:ln/>
        </p:spPr>
      </p:sp>
      <p:sp>
        <p:nvSpPr>
          <p:cNvPr id="36" name="Shape 34"/>
          <p:cNvSpPr/>
          <p:nvPr/>
        </p:nvSpPr>
        <p:spPr>
          <a:xfrm>
            <a:off x="7324344" y="3886200"/>
            <a:ext cx="1920240" cy="1325880"/>
          </a:xfrm>
          <a:prstGeom prst="roundRect">
            <a:avLst>
              <a:gd name="adj" fmla="val 8276"/>
            </a:avLst>
          </a:prstGeom>
          <a:solidFill>
            <a:srgbClr val="FBEFE3"/>
          </a:solidFill>
          <a:ln w="15875">
            <a:solidFill>
              <a:srgbClr val="B4561F"/>
            </a:solidFill>
            <a:prstDash val="solid"/>
          </a:ln>
        </p:spPr>
      </p:sp>
      <p:sp>
        <p:nvSpPr>
          <p:cNvPr id="37" name="Text 35"/>
          <p:cNvSpPr txBox="1"/>
          <p:nvPr/>
        </p:nvSpPr>
        <p:spPr>
          <a:xfrm>
            <a:off x="7488936" y="3995928"/>
            <a:ext cx="164592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Sign</a:t>
            </a:r>
            <a:endParaRPr lang="en-US" sz="1500" dirty="0"/>
          </a:p>
        </p:txBody>
      </p:sp>
      <p:sp>
        <p:nvSpPr>
          <p:cNvPr id="38" name="Text 36"/>
          <p:cNvSpPr txBox="1"/>
          <p:nvPr/>
        </p:nvSpPr>
        <p:spPr>
          <a:xfrm>
            <a:off x="7488936" y="4343400"/>
            <a:ext cx="1645920" cy="77724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The approval for that exact plan</a:t>
            </a:r>
            <a:endParaRPr lang="en-US" sz="1300" dirty="0"/>
          </a:p>
        </p:txBody>
      </p:sp>
      <p:sp>
        <p:nvSpPr>
          <p:cNvPr id="39" name="Shape 37"/>
          <p:cNvSpPr/>
          <p:nvPr/>
        </p:nvSpPr>
        <p:spPr>
          <a:xfrm>
            <a:off x="9272016" y="4434840"/>
            <a:ext cx="274320" cy="237744"/>
          </a:xfrm>
          <a:prstGeom prst="rightArrow">
            <a:avLst/>
          </a:prstGeom>
          <a:solidFill>
            <a:srgbClr val="8A93A6"/>
          </a:solidFill>
          <a:ln/>
        </p:spPr>
      </p:sp>
      <p:sp>
        <p:nvSpPr>
          <p:cNvPr id="40" name="Shape 38"/>
          <p:cNvSpPr/>
          <p:nvPr/>
        </p:nvSpPr>
        <p:spPr>
          <a:xfrm>
            <a:off x="9582912" y="3886200"/>
            <a:ext cx="1920240" cy="1325880"/>
          </a:xfrm>
          <a:prstGeom prst="roundRect">
            <a:avLst>
              <a:gd name="adj" fmla="val 8276"/>
            </a:avLst>
          </a:prstGeom>
          <a:solidFill>
            <a:srgbClr val="FBEFE3"/>
          </a:solidFill>
          <a:ln w="15875">
            <a:solidFill>
              <a:srgbClr val="B4561F"/>
            </a:solidFill>
            <a:prstDash val="solid"/>
          </a:ln>
        </p:spPr>
      </p:sp>
      <p:sp>
        <p:nvSpPr>
          <p:cNvPr id="41" name="Text 39"/>
          <p:cNvSpPr txBox="1"/>
          <p:nvPr/>
        </p:nvSpPr>
        <p:spPr>
          <a:xfrm>
            <a:off x="9747504" y="3995928"/>
            <a:ext cx="1645920" cy="365760"/>
          </a:xfrm>
          <a:prstGeom prst="rect">
            <a:avLst/>
          </a:prstGeom>
          <a:noFill/>
          <a:ln/>
        </p:spPr>
        <p:txBody>
          <a:bodyPr wrap="square" lIns="0" tIns="0" rIns="0" bIns="0" rtlCol="0" anchor="t"/>
          <a:lstStyle/>
          <a:p>
            <a:pPr indent="0" marL="0">
              <a:buNone/>
            </a:pPr>
            <a:r>
              <a:rPr lang="en-US" sz="1500" b="1" dirty="0">
                <a:solidFill>
                  <a:srgbClr val="14213D"/>
                </a:solidFill>
                <a:latin typeface="Calibri" pitchFamily="34" charset="0"/>
                <a:ea typeface="Calibri" pitchFamily="34" charset="-122"/>
                <a:cs typeface="Calibri" pitchFamily="34" charset="-120"/>
              </a:rPr>
              <a:t>Verify</a:t>
            </a:r>
            <a:endParaRPr lang="en-US" sz="1500" dirty="0"/>
          </a:p>
        </p:txBody>
      </p:sp>
      <p:sp>
        <p:nvSpPr>
          <p:cNvPr id="42" name="Text 40"/>
          <p:cNvSpPr txBox="1"/>
          <p:nvPr/>
        </p:nvSpPr>
        <p:spPr>
          <a:xfrm>
            <a:off x="9747504" y="4343400"/>
            <a:ext cx="1645920" cy="77724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Policy gate checks it before any payment</a:t>
            </a:r>
            <a:endParaRPr lang="en-US" sz="1300" dirty="0"/>
          </a:p>
        </p:txBody>
      </p:sp>
      <p:sp>
        <p:nvSpPr>
          <p:cNvPr id="43" name="Shape 41"/>
          <p:cNvSpPr/>
          <p:nvPr/>
        </p:nvSpPr>
        <p:spPr>
          <a:xfrm>
            <a:off x="548640" y="5532120"/>
            <a:ext cx="11064240" cy="640080"/>
          </a:xfrm>
          <a:prstGeom prst="roundRect">
            <a:avLst>
              <a:gd name="adj" fmla="val 17143"/>
            </a:avLst>
          </a:prstGeom>
          <a:solidFill>
            <a:srgbClr val="F3F5F9"/>
          </a:solidFill>
          <a:ln/>
        </p:spPr>
      </p:sp>
      <p:sp>
        <p:nvSpPr>
          <p:cNvPr id="44" name="Text 42"/>
          <p:cNvSpPr txBox="1"/>
          <p:nvPr/>
        </p:nvSpPr>
        <p:spPr>
          <a:xfrm>
            <a:off x="777240" y="5532120"/>
            <a:ext cx="10698480" cy="64008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Ed25519 written in plain Python following RFC 8032, nothing to install; checked against the RFC test vectors and a signature made by the browser’s WebCrypto.</a:t>
            </a:r>
            <a:endParaRPr lang="en-US" sz="14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rgbClr val="14213D"/>
                </a:solidFill>
                <a:latin typeface="Cambria" pitchFamily="34" charset="0"/>
                <a:ea typeface="Cambria" pitchFamily="34" charset="-122"/>
                <a:cs typeface="Cambria" pitchFamily="34" charset="-120"/>
              </a:rPr>
              <a:t>Defence in depth: each layer assumes the one before can fail</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760720" cy="914400"/>
        </p:xfrm>
        <a:graphic>
          <a:graphicData uri="http://schemas.openxmlformats.org/drawingml/2006/table">
            <a:tbl>
              <a:tblPr/>
              <a:tblGrid>
                <a:gridCol w="640080"/>
                <a:gridCol w="2926080"/>
                <a:gridCol w="2194560"/>
              </a:tblGrid>
              <a:tr h="5029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Tier</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the agent may do</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Approval</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r>
              <a:tr h="502920">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T0</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Read the invoice, check signatures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r>
              <a:tr h="502920">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T1</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Compute and draft</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r>
              <a:tr h="502920">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T2</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Save or share drafts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A click</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r>
              <a:tr h="502920">
                <a:tc>
                  <a:txBody>
                    <a:bodyPr/>
                    <a:lstStyle/>
                    <a:p>
                      <a:pPr indent="0" marL="0">
                        <a:buNone/>
                      </a:pPr>
                      <a:r>
                        <a:rPr lang="en-US" sz="1300" b="1" dirty="0">
                          <a:solidFill>
                            <a:srgbClr val="B4561F"/>
                          </a:solidFill>
                          <a:latin typeface="Calibri" pitchFamily="34" charset="0"/>
                          <a:ea typeface="Calibri" pitchFamily="34" charset="-122"/>
                          <a:cs typeface="Calibri" pitchFamily="34" charset="-120"/>
                        </a:rPr>
                        <a:t>T3</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Sandbox payment to a signature-verified payee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PIN + parent device signature over the plan hash</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r>
              <a:tr h="502920">
                <a:tc>
                  <a:txBody>
                    <a:bodyPr/>
                    <a:lstStyle/>
                    <a:p>
                      <a:pPr indent="0" marL="0">
                        <a:buNone/>
                      </a:pPr>
                      <a:r>
                        <a:rPr lang="en-US" sz="1300" b="1" dirty="0">
                          <a:solidFill>
                            <a:srgbClr val="B4561F"/>
                          </a:solidFill>
                          <a:latin typeface="Calibri" pitchFamily="34" charset="0"/>
                          <a:ea typeface="Calibri" pitchFamily="34" charset="-122"/>
                          <a:cs typeface="Calibri" pitchFamily="34" charset="-120"/>
                        </a:rPr>
                        <a:t>T4</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dirty="0">
                          <a:solidFill>
                            <a:srgbClr val="1F2A44"/>
                          </a:solidFill>
                          <a:latin typeface="Calibri" pitchFamily="34" charset="0"/>
                          <a:ea typeface="Calibri" pitchFamily="34" charset="-122"/>
                          <a:cs typeface="Calibri" pitchFamily="34" charset="-120"/>
                        </a:rPr>
                        <a:t>New or unverified payee, change limits, skip approval</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indent="0" marL="0">
                        <a:buNone/>
                      </a:pPr>
                      <a:r>
                        <a:rPr lang="en-US" sz="1300" b="1" dirty="0">
                          <a:solidFill>
                            <a:srgbClr val="B4561F"/>
                          </a:solidFill>
                          <a:latin typeface="Calibri" pitchFamily="34" charset="0"/>
                          <a:ea typeface="Calibri" pitchFamily="34" charset="-122"/>
                          <a:cs typeface="Calibri" pitchFamily="34" charset="-120"/>
                        </a:rPr>
                        <a:t>Never</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r>
            </a:tbl>
          </a:graphicData>
        </a:graphic>
      </p:graphicFrame>
      <p:sp>
        <p:nvSpPr>
          <p:cNvPr id="4" name="Text 1"/>
          <p:cNvSpPr txBox="1"/>
          <p:nvPr/>
        </p:nvSpPr>
        <p:spPr>
          <a:xfrm>
            <a:off x="548640" y="4846320"/>
            <a:ext cx="5760720" cy="118872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The AI model has no payment tool. Every tool call passes the policy gate. Sign-in is passwordless: the device signs a one-time 2-minute challenge, and a new device needs a parent device’s signature.</a:t>
            </a:r>
            <a:endParaRPr lang="en-US" sz="1400" dirty="0"/>
          </a:p>
        </p:txBody>
      </p:sp>
      <p:sp>
        <p:nvSpPr>
          <p:cNvPr id="5" name="Shape 2"/>
          <p:cNvSpPr/>
          <p:nvPr/>
        </p:nvSpPr>
        <p:spPr>
          <a:xfrm>
            <a:off x="6583680" y="1371600"/>
            <a:ext cx="2423160" cy="1463040"/>
          </a:xfrm>
          <a:prstGeom prst="roundRect">
            <a:avLst>
              <a:gd name="adj" fmla="val 7500"/>
            </a:avLst>
          </a:prstGeom>
          <a:solidFill>
            <a:srgbClr val="F3F5F9"/>
          </a:solidFill>
          <a:ln/>
        </p:spPr>
      </p:sp>
      <p:sp>
        <p:nvSpPr>
          <p:cNvPr id="6" name="Text 3"/>
          <p:cNvSpPr txBox="1"/>
          <p:nvPr/>
        </p:nvSpPr>
        <p:spPr>
          <a:xfrm>
            <a:off x="6748272" y="1499616"/>
            <a:ext cx="2103120" cy="320040"/>
          </a:xfrm>
          <a:prstGeom prst="rect">
            <a:avLst/>
          </a:prstGeom>
          <a:noFill/>
          <a:ln/>
        </p:spPr>
        <p:txBody>
          <a:bodyPr wrap="square" lIns="0" tIns="0" rIns="0" bIns="0" rtlCol="0" anchor="t"/>
          <a:lstStyle/>
          <a:p>
            <a:pPr indent="0" marL="0">
              <a:buNone/>
            </a:pPr>
            <a:r>
              <a:rPr lang="en-US" sz="1400" b="1" dirty="0">
                <a:solidFill>
                  <a:srgbClr val="1F5FA8"/>
                </a:solidFill>
                <a:latin typeface="Calibri" pitchFamily="34" charset="0"/>
                <a:ea typeface="Calibri" pitchFamily="34" charset="-122"/>
                <a:cs typeface="Calibri" pitchFamily="34" charset="-120"/>
              </a:rPr>
              <a:t>Masking</a:t>
            </a:r>
            <a:endParaRPr lang="en-US" sz="1400" dirty="0"/>
          </a:p>
        </p:txBody>
      </p:sp>
      <p:sp>
        <p:nvSpPr>
          <p:cNvPr id="7" name="Text 4"/>
          <p:cNvSpPr txBox="1"/>
          <p:nvPr/>
        </p:nvSpPr>
        <p:spPr>
          <a:xfrm>
            <a:off x="6748272" y="1828800"/>
            <a:ext cx="2130552" cy="960120"/>
          </a:xfrm>
          <a:prstGeom prst="rect">
            <a:avLst/>
          </a:prstGeom>
          <a:noFill/>
          <a:ln/>
        </p:spPr>
        <p:txBody>
          <a:bodyPr wrap="square" lIns="0" tIns="0" rIns="0" bIns="0" rtlCol="0" anchor="t"/>
          <a:lstStyle/>
          <a:p>
            <a:pPr indent="0" marL="0">
              <a:buNone/>
            </a:pPr>
            <a:r>
              <a:rPr lang="en-US" sz="1200" dirty="0">
                <a:solidFill>
                  <a:srgbClr val="1F2A44"/>
                </a:solidFill>
                <a:latin typeface="Calibri" pitchFamily="34" charset="0"/>
                <a:ea typeface="Calibri" pitchFamily="34" charset="-122"/>
                <a:cs typeface="Calibri" pitchFamily="34" charset="-120"/>
              </a:rPr>
              <a:t>PAN, Aadhaar, passport, account, phone and names become tokens before the AI sees text</a:t>
            </a:r>
            <a:endParaRPr lang="en-US" sz="1200" dirty="0"/>
          </a:p>
        </p:txBody>
      </p:sp>
      <p:sp>
        <p:nvSpPr>
          <p:cNvPr id="8" name="Shape 5"/>
          <p:cNvSpPr/>
          <p:nvPr/>
        </p:nvSpPr>
        <p:spPr>
          <a:xfrm>
            <a:off x="9144000" y="1371600"/>
            <a:ext cx="2423160" cy="1463040"/>
          </a:xfrm>
          <a:prstGeom prst="roundRect">
            <a:avLst>
              <a:gd name="adj" fmla="val 7500"/>
            </a:avLst>
          </a:prstGeom>
          <a:solidFill>
            <a:srgbClr val="F3F5F9"/>
          </a:solidFill>
          <a:ln/>
        </p:spPr>
      </p:sp>
      <p:sp>
        <p:nvSpPr>
          <p:cNvPr id="9" name="Text 6"/>
          <p:cNvSpPr txBox="1"/>
          <p:nvPr/>
        </p:nvSpPr>
        <p:spPr>
          <a:xfrm>
            <a:off x="9308592" y="1499616"/>
            <a:ext cx="2103120" cy="320040"/>
          </a:xfrm>
          <a:prstGeom prst="rect">
            <a:avLst/>
          </a:prstGeom>
          <a:noFill/>
          <a:ln/>
        </p:spPr>
        <p:txBody>
          <a:bodyPr wrap="square" lIns="0" tIns="0" rIns="0" bIns="0" rtlCol="0" anchor="t"/>
          <a:lstStyle/>
          <a:p>
            <a:pPr indent="0" marL="0">
              <a:buNone/>
            </a:pPr>
            <a:r>
              <a:rPr lang="en-US" sz="1400" b="1" dirty="0">
                <a:solidFill>
                  <a:srgbClr val="1F5FA8"/>
                </a:solidFill>
                <a:latin typeface="Calibri" pitchFamily="34" charset="0"/>
                <a:ea typeface="Calibri" pitchFamily="34" charset="-122"/>
                <a:cs typeface="Calibri" pitchFamily="34" charset="-120"/>
              </a:rPr>
              <a:t>Grounding check</a:t>
            </a:r>
            <a:endParaRPr lang="en-US" sz="1400" dirty="0"/>
          </a:p>
        </p:txBody>
      </p:sp>
      <p:sp>
        <p:nvSpPr>
          <p:cNvPr id="10" name="Text 7"/>
          <p:cNvSpPr txBox="1"/>
          <p:nvPr/>
        </p:nvSpPr>
        <p:spPr>
          <a:xfrm>
            <a:off x="9308592" y="1828800"/>
            <a:ext cx="2130552" cy="960120"/>
          </a:xfrm>
          <a:prstGeom prst="rect">
            <a:avLst/>
          </a:prstGeom>
          <a:noFill/>
          <a:ln/>
        </p:spPr>
        <p:txBody>
          <a:bodyPr wrap="square" lIns="0" tIns="0" rIns="0" bIns="0" rtlCol="0" anchor="t"/>
          <a:lstStyle/>
          <a:p>
            <a:pPr indent="0" marL="0">
              <a:buNone/>
            </a:pPr>
            <a:r>
              <a:rPr lang="en-US" sz="1200" dirty="0">
                <a:solidFill>
                  <a:srgbClr val="1F2A44"/>
                </a:solidFill>
                <a:latin typeface="Calibri" pitchFamily="34" charset="0"/>
                <a:ea typeface="Calibri" pitchFamily="34" charset="-122"/>
                <a:cs typeface="Calibri" pitchFamily="34" charset="-120"/>
              </a:rPr>
              <a:t>Every number the AI writes must match the engine, or the engine’s text is shown</a:t>
            </a:r>
            <a:endParaRPr lang="en-US" sz="1200" dirty="0"/>
          </a:p>
        </p:txBody>
      </p:sp>
      <p:sp>
        <p:nvSpPr>
          <p:cNvPr id="11" name="Shape 8"/>
          <p:cNvSpPr/>
          <p:nvPr/>
        </p:nvSpPr>
        <p:spPr>
          <a:xfrm>
            <a:off x="6583680" y="2971800"/>
            <a:ext cx="2423160" cy="1463040"/>
          </a:xfrm>
          <a:prstGeom prst="roundRect">
            <a:avLst>
              <a:gd name="adj" fmla="val 7500"/>
            </a:avLst>
          </a:prstGeom>
          <a:solidFill>
            <a:srgbClr val="F3F5F9"/>
          </a:solidFill>
          <a:ln/>
        </p:spPr>
      </p:sp>
      <p:sp>
        <p:nvSpPr>
          <p:cNvPr id="12" name="Text 9"/>
          <p:cNvSpPr txBox="1"/>
          <p:nvPr/>
        </p:nvSpPr>
        <p:spPr>
          <a:xfrm>
            <a:off x="6748272" y="3099816"/>
            <a:ext cx="2103120" cy="320040"/>
          </a:xfrm>
          <a:prstGeom prst="rect">
            <a:avLst/>
          </a:prstGeom>
          <a:noFill/>
          <a:ln/>
        </p:spPr>
        <p:txBody>
          <a:bodyPr wrap="square" lIns="0" tIns="0" rIns="0" bIns="0" rtlCol="0" anchor="t"/>
          <a:lstStyle/>
          <a:p>
            <a:pPr indent="0" marL="0">
              <a:buNone/>
            </a:pPr>
            <a:r>
              <a:rPr lang="en-US" sz="1400" b="1" dirty="0">
                <a:solidFill>
                  <a:srgbClr val="1F5FA8"/>
                </a:solidFill>
                <a:latin typeface="Calibri" pitchFamily="34" charset="0"/>
                <a:ea typeface="Calibri" pitchFamily="34" charset="-122"/>
                <a:cs typeface="Calibri" pitchFamily="34" charset="-120"/>
              </a:rPr>
              <a:t>Text scanner</a:t>
            </a:r>
            <a:endParaRPr lang="en-US" sz="1400" dirty="0"/>
          </a:p>
        </p:txBody>
      </p:sp>
      <p:sp>
        <p:nvSpPr>
          <p:cNvPr id="13" name="Text 10"/>
          <p:cNvSpPr txBox="1"/>
          <p:nvPr/>
        </p:nvSpPr>
        <p:spPr>
          <a:xfrm>
            <a:off x="6748272" y="3429000"/>
            <a:ext cx="2130552" cy="960120"/>
          </a:xfrm>
          <a:prstGeom prst="rect">
            <a:avLst/>
          </a:prstGeom>
          <a:noFill/>
          <a:ln/>
        </p:spPr>
        <p:txBody>
          <a:bodyPr wrap="square" lIns="0" tIns="0" rIns="0" bIns="0" rtlCol="0" anchor="t"/>
          <a:lstStyle/>
          <a:p>
            <a:pPr indent="0" marL="0">
              <a:buNone/>
            </a:pPr>
            <a:r>
              <a:rPr lang="en-US" sz="1200" dirty="0">
                <a:solidFill>
                  <a:srgbClr val="1F2A44"/>
                </a:solidFill>
                <a:latin typeface="Calibri" pitchFamily="34" charset="0"/>
                <a:ea typeface="Calibri" pitchFamily="34" charset="-122"/>
                <a:cs typeface="Calibri" pitchFamily="34" charset="-120"/>
              </a:rPr>
              <a:t>Flags injection, fake admin, payee change and pressure, even when disguised</a:t>
            </a:r>
            <a:endParaRPr lang="en-US" sz="1200" dirty="0"/>
          </a:p>
        </p:txBody>
      </p:sp>
      <p:sp>
        <p:nvSpPr>
          <p:cNvPr id="14" name="Shape 11"/>
          <p:cNvSpPr/>
          <p:nvPr/>
        </p:nvSpPr>
        <p:spPr>
          <a:xfrm>
            <a:off x="9144000" y="2971800"/>
            <a:ext cx="2423160" cy="1463040"/>
          </a:xfrm>
          <a:prstGeom prst="roundRect">
            <a:avLst>
              <a:gd name="adj" fmla="val 7500"/>
            </a:avLst>
          </a:prstGeom>
          <a:solidFill>
            <a:srgbClr val="F3F5F9"/>
          </a:solidFill>
          <a:ln/>
        </p:spPr>
      </p:sp>
      <p:sp>
        <p:nvSpPr>
          <p:cNvPr id="15" name="Text 12"/>
          <p:cNvSpPr txBox="1"/>
          <p:nvPr/>
        </p:nvSpPr>
        <p:spPr>
          <a:xfrm>
            <a:off x="9308592" y="3099816"/>
            <a:ext cx="2103120" cy="320040"/>
          </a:xfrm>
          <a:prstGeom prst="rect">
            <a:avLst/>
          </a:prstGeom>
          <a:noFill/>
          <a:ln/>
        </p:spPr>
        <p:txBody>
          <a:bodyPr wrap="square" lIns="0" tIns="0" rIns="0" bIns="0" rtlCol="0" anchor="t"/>
          <a:lstStyle/>
          <a:p>
            <a:pPr indent="0" marL="0">
              <a:buNone/>
            </a:pPr>
            <a:r>
              <a:rPr lang="en-US" sz="1400" b="1" dirty="0">
                <a:solidFill>
                  <a:srgbClr val="1F5FA8"/>
                </a:solidFill>
                <a:latin typeface="Calibri" pitchFamily="34" charset="0"/>
                <a:ea typeface="Calibri" pitchFamily="34" charset="-122"/>
                <a:cs typeface="Calibri" pitchFamily="34" charset="-120"/>
              </a:rPr>
              <a:t>Breaker + emergency stop</a:t>
            </a:r>
            <a:endParaRPr lang="en-US" sz="1400" dirty="0"/>
          </a:p>
        </p:txBody>
      </p:sp>
      <p:sp>
        <p:nvSpPr>
          <p:cNvPr id="16" name="Text 13"/>
          <p:cNvSpPr txBox="1"/>
          <p:nvPr/>
        </p:nvSpPr>
        <p:spPr>
          <a:xfrm>
            <a:off x="9308592" y="3429000"/>
            <a:ext cx="2130552" cy="960120"/>
          </a:xfrm>
          <a:prstGeom prst="rect">
            <a:avLst/>
          </a:prstGeom>
          <a:noFill/>
          <a:ln/>
        </p:spPr>
        <p:txBody>
          <a:bodyPr wrap="square" lIns="0" tIns="0" rIns="0" bIns="0" rtlCol="0" anchor="t"/>
          <a:lstStyle/>
          <a:p>
            <a:pPr indent="0" marL="0">
              <a:buNone/>
            </a:pPr>
            <a:r>
              <a:rPr lang="en-US" sz="1200" dirty="0">
                <a:solidFill>
                  <a:srgbClr val="1F2A44"/>
                </a:solidFill>
                <a:latin typeface="Calibri" pitchFamily="34" charset="0"/>
                <a:ea typeface="Calibri" pitchFamily="34" charset="-122"/>
                <a:cs typeface="Calibri" pitchFamily="34" charset="-120"/>
              </a:rPr>
              <a:t>Per-payment cap; 3 denied money actions freeze the agent until a PIN reset</a:t>
            </a:r>
            <a:endParaRPr lang="en-US" sz="1200" dirty="0"/>
          </a:p>
        </p:txBody>
      </p:sp>
      <p:sp>
        <p:nvSpPr>
          <p:cNvPr id="17" name="Shape 14"/>
          <p:cNvSpPr/>
          <p:nvPr/>
        </p:nvSpPr>
        <p:spPr>
          <a:xfrm>
            <a:off x="6583680" y="4572000"/>
            <a:ext cx="2423160" cy="1463040"/>
          </a:xfrm>
          <a:prstGeom prst="roundRect">
            <a:avLst>
              <a:gd name="adj" fmla="val 7500"/>
            </a:avLst>
          </a:prstGeom>
          <a:solidFill>
            <a:srgbClr val="F3F5F9"/>
          </a:solidFill>
          <a:ln/>
        </p:spPr>
      </p:sp>
      <p:sp>
        <p:nvSpPr>
          <p:cNvPr id="18" name="Text 15"/>
          <p:cNvSpPr txBox="1"/>
          <p:nvPr/>
        </p:nvSpPr>
        <p:spPr>
          <a:xfrm>
            <a:off x="6748272" y="4700016"/>
            <a:ext cx="2103120" cy="320040"/>
          </a:xfrm>
          <a:prstGeom prst="rect">
            <a:avLst/>
          </a:prstGeom>
          <a:noFill/>
          <a:ln/>
        </p:spPr>
        <p:txBody>
          <a:bodyPr wrap="square" lIns="0" tIns="0" rIns="0" bIns="0" rtlCol="0" anchor="t"/>
          <a:lstStyle/>
          <a:p>
            <a:pPr indent="0" marL="0">
              <a:buNone/>
            </a:pPr>
            <a:r>
              <a:rPr lang="en-US" sz="1400" b="1" dirty="0">
                <a:solidFill>
                  <a:srgbClr val="1F5FA8"/>
                </a:solidFill>
                <a:latin typeface="Calibri" pitchFamily="34" charset="0"/>
                <a:ea typeface="Calibri" pitchFamily="34" charset="-122"/>
                <a:cs typeface="Calibri" pitchFamily="34" charset="-120"/>
              </a:rPr>
              <a:t>Hash-chained audit log</a:t>
            </a:r>
            <a:endParaRPr lang="en-US" sz="1400" dirty="0"/>
          </a:p>
        </p:txBody>
      </p:sp>
      <p:sp>
        <p:nvSpPr>
          <p:cNvPr id="19" name="Text 16"/>
          <p:cNvSpPr txBox="1"/>
          <p:nvPr/>
        </p:nvSpPr>
        <p:spPr>
          <a:xfrm>
            <a:off x="6748272" y="5029200"/>
            <a:ext cx="2130552" cy="960120"/>
          </a:xfrm>
          <a:prstGeom prst="rect">
            <a:avLst/>
          </a:prstGeom>
          <a:noFill/>
          <a:ln/>
        </p:spPr>
        <p:txBody>
          <a:bodyPr wrap="square" lIns="0" tIns="0" rIns="0" bIns="0" rtlCol="0" anchor="t"/>
          <a:lstStyle/>
          <a:p>
            <a:pPr indent="0" marL="0">
              <a:buNone/>
            </a:pPr>
            <a:r>
              <a:rPr lang="en-US" sz="1200" dirty="0">
                <a:solidFill>
                  <a:srgbClr val="1F2A44"/>
                </a:solidFill>
                <a:latin typeface="Calibri" pitchFamily="34" charset="0"/>
                <a:ea typeface="Calibri" pitchFamily="34" charset="-122"/>
                <a:cs typeface="Calibri" pitchFamily="34" charset="-120"/>
              </a:rPr>
              <a:t>Each entry stores the hash of the one before; edits are detected</a:t>
            </a:r>
            <a:endParaRPr lang="en-US" sz="1200" dirty="0"/>
          </a:p>
        </p:txBody>
      </p:sp>
      <p:sp>
        <p:nvSpPr>
          <p:cNvPr id="20" name="Shape 17"/>
          <p:cNvSpPr/>
          <p:nvPr/>
        </p:nvSpPr>
        <p:spPr>
          <a:xfrm>
            <a:off x="9144000" y="4572000"/>
            <a:ext cx="2423160" cy="1463040"/>
          </a:xfrm>
          <a:prstGeom prst="roundRect">
            <a:avLst>
              <a:gd name="adj" fmla="val 7500"/>
            </a:avLst>
          </a:prstGeom>
          <a:solidFill>
            <a:srgbClr val="F3F5F9"/>
          </a:solidFill>
          <a:ln/>
        </p:spPr>
      </p:sp>
      <p:sp>
        <p:nvSpPr>
          <p:cNvPr id="21" name="Text 18"/>
          <p:cNvSpPr txBox="1"/>
          <p:nvPr/>
        </p:nvSpPr>
        <p:spPr>
          <a:xfrm>
            <a:off x="9308592" y="4700016"/>
            <a:ext cx="2103120" cy="320040"/>
          </a:xfrm>
          <a:prstGeom prst="rect">
            <a:avLst/>
          </a:prstGeom>
          <a:noFill/>
          <a:ln/>
        </p:spPr>
        <p:txBody>
          <a:bodyPr wrap="square" lIns="0" tIns="0" rIns="0" bIns="0" rtlCol="0" anchor="t"/>
          <a:lstStyle/>
          <a:p>
            <a:pPr indent="0" marL="0">
              <a:buNone/>
            </a:pPr>
            <a:r>
              <a:rPr lang="en-US" sz="1400" b="1" dirty="0">
                <a:solidFill>
                  <a:srgbClr val="1F5FA8"/>
                </a:solidFill>
                <a:latin typeface="Calibri" pitchFamily="34" charset="0"/>
                <a:ea typeface="Calibri" pitchFamily="34" charset="-122"/>
                <a:cs typeface="Calibri" pitchFamily="34" charset="-120"/>
              </a:rPr>
              <a:t>Encrypted family vault</a:t>
            </a:r>
            <a:endParaRPr lang="en-US" sz="1400" dirty="0"/>
          </a:p>
        </p:txBody>
      </p:sp>
      <p:sp>
        <p:nvSpPr>
          <p:cNvPr id="22" name="Text 19"/>
          <p:cNvSpPr txBox="1"/>
          <p:nvPr/>
        </p:nvSpPr>
        <p:spPr>
          <a:xfrm>
            <a:off x="9308592" y="5029200"/>
            <a:ext cx="2130552" cy="960120"/>
          </a:xfrm>
          <a:prstGeom prst="rect">
            <a:avLst/>
          </a:prstGeom>
          <a:noFill/>
          <a:ln/>
        </p:spPr>
        <p:txBody>
          <a:bodyPr wrap="square" lIns="0" tIns="0" rIns="0" bIns="0" rtlCol="0" anchor="t"/>
          <a:lstStyle/>
          <a:p>
            <a:pPr indent="0" marL="0">
              <a:buNone/>
            </a:pPr>
            <a:r>
              <a:rPr lang="en-US" sz="1200" dirty="0">
                <a:solidFill>
                  <a:srgbClr val="1F2A44"/>
                </a:solidFill>
                <a:latin typeface="Calibri" pitchFamily="34" charset="0"/>
                <a:ea typeface="Calibri" pitchFamily="34" charset="-122"/>
                <a:cs typeface="Calibri" pitchFamily="34" charset="-120"/>
              </a:rPr>
              <a:t>AES-256-GCM in the browser; keys locked per device (X25519); server sees ciphertext</a:t>
            </a:r>
            <a:endParaRPr lang="en-US" sz="12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Evidence: run it yourself, one command each</a:t>
            </a:r>
            <a:endParaRPr lang="en-US" sz="3000" dirty="0"/>
          </a:p>
        </p:txBody>
      </p:sp>
      <p:sp>
        <p:nvSpPr>
          <p:cNvPr id="3" name="Shape 1"/>
          <p:cNvSpPr/>
          <p:nvPr/>
        </p:nvSpPr>
        <p:spPr>
          <a:xfrm>
            <a:off x="548640" y="1371600"/>
            <a:ext cx="2651760" cy="1691640"/>
          </a:xfrm>
          <a:prstGeom prst="roundRect">
            <a:avLst>
              <a:gd name="adj" fmla="val 6486"/>
            </a:avLst>
          </a:prstGeom>
          <a:solidFill>
            <a:srgbClr val="1F2F52"/>
          </a:solidFill>
          <a:ln/>
        </p:spPr>
      </p:sp>
      <p:sp>
        <p:nvSpPr>
          <p:cNvPr id="4" name="Text 2"/>
          <p:cNvSpPr txBox="1"/>
          <p:nvPr/>
        </p:nvSpPr>
        <p:spPr>
          <a:xfrm>
            <a:off x="777240" y="1481328"/>
            <a:ext cx="2286000" cy="868680"/>
          </a:xfrm>
          <a:prstGeom prst="rect">
            <a:avLst/>
          </a:prstGeom>
          <a:noFill/>
          <a:ln/>
        </p:spPr>
        <p:txBody>
          <a:bodyPr wrap="square" lIns="0" tIns="0" rIns="0" bIns="0" rtlCol="0" anchor="t"/>
          <a:lstStyle/>
          <a:p>
            <a:pPr indent="0" marL="0">
              <a:buNone/>
            </a:pPr>
            <a:r>
              <a:rPr lang="en-US" sz="4400" b="1" dirty="0">
                <a:solidFill>
                  <a:srgbClr val="8FBCF0"/>
                </a:solidFill>
                <a:latin typeface="Cambria" pitchFamily="34" charset="0"/>
                <a:ea typeface="Cambria" pitchFamily="34" charset="-122"/>
                <a:cs typeface="Cambria" pitchFamily="34" charset="-120"/>
              </a:rPr>
              <a:t>227</a:t>
            </a:r>
            <a:endParaRPr lang="en-US" sz="4400" dirty="0"/>
          </a:p>
        </p:txBody>
      </p:sp>
      <p:sp>
        <p:nvSpPr>
          <p:cNvPr id="5" name="Text 3"/>
          <p:cNvSpPr txBox="1"/>
          <p:nvPr/>
        </p:nvSpPr>
        <p:spPr>
          <a:xfrm>
            <a:off x="777240" y="2377440"/>
            <a:ext cx="2286000" cy="5943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tests pass</a:t>
            </a:r>
            <a:endParaRPr lang="en-US" sz="1400" dirty="0"/>
          </a:p>
        </p:txBody>
      </p:sp>
      <p:sp>
        <p:nvSpPr>
          <p:cNvPr id="6" name="Shape 4"/>
          <p:cNvSpPr/>
          <p:nvPr/>
        </p:nvSpPr>
        <p:spPr>
          <a:xfrm>
            <a:off x="3364992" y="1371600"/>
            <a:ext cx="2651760" cy="1691640"/>
          </a:xfrm>
          <a:prstGeom prst="roundRect">
            <a:avLst>
              <a:gd name="adj" fmla="val 6486"/>
            </a:avLst>
          </a:prstGeom>
          <a:solidFill>
            <a:srgbClr val="1F2F52"/>
          </a:solidFill>
          <a:ln/>
        </p:spPr>
      </p:sp>
      <p:sp>
        <p:nvSpPr>
          <p:cNvPr id="7" name="Text 5"/>
          <p:cNvSpPr txBox="1"/>
          <p:nvPr/>
        </p:nvSpPr>
        <p:spPr>
          <a:xfrm>
            <a:off x="3593592" y="1481328"/>
            <a:ext cx="2286000" cy="868680"/>
          </a:xfrm>
          <a:prstGeom prst="rect">
            <a:avLst/>
          </a:prstGeom>
          <a:noFill/>
          <a:ln/>
        </p:spPr>
        <p:txBody>
          <a:bodyPr wrap="square" lIns="0" tIns="0" rIns="0" bIns="0" rtlCol="0" anchor="t"/>
          <a:lstStyle/>
          <a:p>
            <a:pPr indent="0" marL="0">
              <a:buNone/>
            </a:pPr>
            <a:r>
              <a:rPr lang="en-US" sz="4400" b="1" dirty="0">
                <a:solidFill>
                  <a:srgbClr val="8FBCF0"/>
                </a:solidFill>
                <a:latin typeface="Cambria" pitchFamily="34" charset="0"/>
                <a:ea typeface="Cambria" pitchFamily="34" charset="-122"/>
                <a:cs typeface="Cambria" pitchFamily="34" charset="-120"/>
              </a:rPr>
              <a:t>27 / 27</a:t>
            </a:r>
            <a:endParaRPr lang="en-US" sz="4400" dirty="0"/>
          </a:p>
        </p:txBody>
      </p:sp>
      <p:sp>
        <p:nvSpPr>
          <p:cNvPr id="8" name="Text 6"/>
          <p:cNvSpPr txBox="1"/>
          <p:nvPr/>
        </p:nvSpPr>
        <p:spPr>
          <a:xfrm>
            <a:off x="3593592" y="2377440"/>
            <a:ext cx="2286000" cy="5943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scenarios pass</a:t>
            </a:r>
            <a:endParaRPr lang="en-US" sz="1400" dirty="0"/>
          </a:p>
        </p:txBody>
      </p:sp>
      <p:sp>
        <p:nvSpPr>
          <p:cNvPr id="9" name="Shape 7"/>
          <p:cNvSpPr/>
          <p:nvPr/>
        </p:nvSpPr>
        <p:spPr>
          <a:xfrm>
            <a:off x="6181344" y="1371600"/>
            <a:ext cx="2651760" cy="1691640"/>
          </a:xfrm>
          <a:prstGeom prst="roundRect">
            <a:avLst>
              <a:gd name="adj" fmla="val 6486"/>
            </a:avLst>
          </a:prstGeom>
          <a:solidFill>
            <a:srgbClr val="1F2F52"/>
          </a:solidFill>
          <a:ln/>
        </p:spPr>
      </p:sp>
      <p:sp>
        <p:nvSpPr>
          <p:cNvPr id="10" name="Text 8"/>
          <p:cNvSpPr txBox="1"/>
          <p:nvPr/>
        </p:nvSpPr>
        <p:spPr>
          <a:xfrm>
            <a:off x="6409944" y="1481328"/>
            <a:ext cx="2286000" cy="868680"/>
          </a:xfrm>
          <a:prstGeom prst="rect">
            <a:avLst/>
          </a:prstGeom>
          <a:noFill/>
          <a:ln/>
        </p:spPr>
        <p:txBody>
          <a:bodyPr wrap="square" lIns="0" tIns="0" rIns="0" bIns="0" rtlCol="0" anchor="t"/>
          <a:lstStyle/>
          <a:p>
            <a:pPr indent="0" marL="0">
              <a:buNone/>
            </a:pPr>
            <a:r>
              <a:rPr lang="en-US" sz="4400" b="1" dirty="0">
                <a:solidFill>
                  <a:srgbClr val="F2C38B"/>
                </a:solidFill>
                <a:latin typeface="Cambria" pitchFamily="34" charset="0"/>
                <a:ea typeface="Cambria" pitchFamily="34" charset="-122"/>
                <a:cs typeface="Cambria" pitchFamily="34" charset="-120"/>
              </a:rPr>
              <a:t>16 / 16</a:t>
            </a:r>
            <a:endParaRPr lang="en-US" sz="4400" dirty="0"/>
          </a:p>
        </p:txBody>
      </p:sp>
      <p:sp>
        <p:nvSpPr>
          <p:cNvPr id="11" name="Text 9"/>
          <p:cNvSpPr txBox="1"/>
          <p:nvPr/>
        </p:nvSpPr>
        <p:spPr>
          <a:xfrm>
            <a:off x="6409944" y="2377440"/>
            <a:ext cx="2286000" cy="5943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attacks stopped in the attack lab</a:t>
            </a:r>
            <a:endParaRPr lang="en-US" sz="1400" dirty="0"/>
          </a:p>
        </p:txBody>
      </p:sp>
      <p:sp>
        <p:nvSpPr>
          <p:cNvPr id="12" name="Shape 10"/>
          <p:cNvSpPr/>
          <p:nvPr/>
        </p:nvSpPr>
        <p:spPr>
          <a:xfrm>
            <a:off x="8997696" y="1371600"/>
            <a:ext cx="2651760" cy="1691640"/>
          </a:xfrm>
          <a:prstGeom prst="roundRect">
            <a:avLst>
              <a:gd name="adj" fmla="val 6486"/>
            </a:avLst>
          </a:prstGeom>
          <a:solidFill>
            <a:srgbClr val="1F2F52"/>
          </a:solidFill>
          <a:ln/>
        </p:spPr>
      </p:sp>
      <p:sp>
        <p:nvSpPr>
          <p:cNvPr id="13" name="Text 11"/>
          <p:cNvSpPr txBox="1"/>
          <p:nvPr/>
        </p:nvSpPr>
        <p:spPr>
          <a:xfrm>
            <a:off x="9226296" y="1481328"/>
            <a:ext cx="2286000" cy="868680"/>
          </a:xfrm>
          <a:prstGeom prst="rect">
            <a:avLst/>
          </a:prstGeom>
          <a:noFill/>
          <a:ln/>
        </p:spPr>
        <p:txBody>
          <a:bodyPr wrap="square" lIns="0" tIns="0" rIns="0" bIns="0" rtlCol="0" anchor="t"/>
          <a:lstStyle/>
          <a:p>
            <a:pPr indent="0" marL="0">
              <a:buNone/>
            </a:pPr>
            <a:r>
              <a:rPr lang="en-US" sz="4400" b="1" dirty="0">
                <a:solidFill>
                  <a:srgbClr val="8FBCF0"/>
                </a:solidFill>
                <a:latin typeface="Cambria" pitchFamily="34" charset="0"/>
                <a:ea typeface="Cambria" pitchFamily="34" charset="-122"/>
                <a:cs typeface="Cambria" pitchFamily="34" charset="-120"/>
              </a:rPr>
              <a:t>153</a:t>
            </a:r>
            <a:endParaRPr lang="en-US" sz="4400" dirty="0"/>
          </a:p>
        </p:txBody>
      </p:sp>
      <p:sp>
        <p:nvSpPr>
          <p:cNvPr id="14" name="Text 12"/>
          <p:cNvSpPr txBox="1"/>
          <p:nvPr/>
        </p:nvSpPr>
        <p:spPr>
          <a:xfrm>
            <a:off x="9226296" y="2377440"/>
            <a:ext cx="2286000" cy="5943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audit entries; the hash chain verifies</a:t>
            </a:r>
            <a:endParaRPr lang="en-US" sz="1400" dirty="0"/>
          </a:p>
        </p:txBody>
      </p:sp>
      <p:sp>
        <p:nvSpPr>
          <p:cNvPr id="15" name="Text 13"/>
          <p:cNvSpPr txBox="1"/>
          <p:nvPr/>
        </p:nvSpPr>
        <p:spPr>
          <a:xfrm>
            <a:off x="548640" y="3337560"/>
            <a:ext cx="530352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Scenarios by group</a:t>
            </a:r>
            <a:endParaRPr lang="en-US" sz="1600" dirty="0"/>
          </a:p>
        </p:txBody>
      </p:sp>
      <p:sp>
        <p:nvSpPr>
          <p:cNvPr id="16" name="Text 14"/>
          <p:cNvSpPr txBox="1"/>
          <p:nvPr/>
        </p:nvSpPr>
        <p:spPr>
          <a:xfrm>
            <a:off x="548640" y="3794760"/>
            <a:ext cx="4389120" cy="3657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  Task completion</a:t>
            </a:r>
            <a:endParaRPr lang="en-US" sz="1400" dirty="0"/>
          </a:p>
        </p:txBody>
      </p:sp>
      <p:sp>
        <p:nvSpPr>
          <p:cNvPr id="17" name="Text 15"/>
          <p:cNvSpPr txBox="1"/>
          <p:nvPr/>
        </p:nvSpPr>
        <p:spPr>
          <a:xfrm>
            <a:off x="4572000" y="3794760"/>
            <a:ext cx="1280160" cy="365760"/>
          </a:xfrm>
          <a:prstGeom prst="rect">
            <a:avLst/>
          </a:prstGeom>
          <a:noFill/>
          <a:ln/>
        </p:spPr>
        <p:txBody>
          <a:bodyPr wrap="square" lIns="0" tIns="0" rIns="0" bIns="0" rtlCol="0" anchor="t"/>
          <a:lstStyle/>
          <a:p>
            <a:pPr algn="r" indent="0" marL="0">
              <a:buNone/>
            </a:pPr>
            <a:r>
              <a:rPr lang="en-US" sz="1400" b="1" dirty="0">
                <a:solidFill>
                  <a:srgbClr val="8FBCF0"/>
                </a:solidFill>
                <a:latin typeface="Calibri" pitchFamily="34" charset="0"/>
                <a:ea typeface="Calibri" pitchFamily="34" charset="-122"/>
                <a:cs typeface="Calibri" pitchFamily="34" charset="-120"/>
              </a:rPr>
              <a:t>10 / 10 pass</a:t>
            </a:r>
            <a:endParaRPr lang="en-US" sz="1400" dirty="0"/>
          </a:p>
        </p:txBody>
      </p:sp>
      <p:sp>
        <p:nvSpPr>
          <p:cNvPr id="18" name="Shape 16"/>
          <p:cNvSpPr/>
          <p:nvPr/>
        </p:nvSpPr>
        <p:spPr>
          <a:xfrm>
            <a:off x="548640" y="4197096"/>
            <a:ext cx="5303520" cy="0"/>
          </a:xfrm>
          <a:prstGeom prst="line">
            <a:avLst/>
          </a:prstGeom>
          <a:noFill/>
          <a:ln w="9525">
            <a:solidFill>
              <a:srgbClr val="3A4A6E"/>
            </a:solidFill>
            <a:prstDash val="solid"/>
          </a:ln>
        </p:spPr>
      </p:sp>
      <p:sp>
        <p:nvSpPr>
          <p:cNvPr id="19" name="Text 17"/>
          <p:cNvSpPr txBox="1"/>
          <p:nvPr/>
        </p:nvSpPr>
        <p:spPr>
          <a:xfrm>
            <a:off x="548640" y="4251960"/>
            <a:ext cx="4389120" cy="3657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B  Safe execution</a:t>
            </a:r>
            <a:endParaRPr lang="en-US" sz="1400" dirty="0"/>
          </a:p>
        </p:txBody>
      </p:sp>
      <p:sp>
        <p:nvSpPr>
          <p:cNvPr id="20" name="Text 18"/>
          <p:cNvSpPr txBox="1"/>
          <p:nvPr/>
        </p:nvSpPr>
        <p:spPr>
          <a:xfrm>
            <a:off x="4572000" y="4251960"/>
            <a:ext cx="1280160" cy="365760"/>
          </a:xfrm>
          <a:prstGeom prst="rect">
            <a:avLst/>
          </a:prstGeom>
          <a:noFill/>
          <a:ln/>
        </p:spPr>
        <p:txBody>
          <a:bodyPr wrap="square" lIns="0" tIns="0" rIns="0" bIns="0" rtlCol="0" anchor="t"/>
          <a:lstStyle/>
          <a:p>
            <a:pPr algn="r" indent="0" marL="0">
              <a:buNone/>
            </a:pPr>
            <a:r>
              <a:rPr lang="en-US" sz="1400" b="1" dirty="0">
                <a:solidFill>
                  <a:srgbClr val="8FBCF0"/>
                </a:solidFill>
                <a:latin typeface="Calibri" pitchFamily="34" charset="0"/>
                <a:ea typeface="Calibri" pitchFamily="34" charset="-122"/>
                <a:cs typeface="Calibri" pitchFamily="34" charset="-120"/>
              </a:rPr>
              <a:t>6 / 6 pass</a:t>
            </a:r>
            <a:endParaRPr lang="en-US" sz="1400" dirty="0"/>
          </a:p>
        </p:txBody>
      </p:sp>
      <p:sp>
        <p:nvSpPr>
          <p:cNvPr id="21" name="Shape 19"/>
          <p:cNvSpPr/>
          <p:nvPr/>
        </p:nvSpPr>
        <p:spPr>
          <a:xfrm>
            <a:off x="548640" y="4654296"/>
            <a:ext cx="5303520" cy="0"/>
          </a:xfrm>
          <a:prstGeom prst="line">
            <a:avLst/>
          </a:prstGeom>
          <a:noFill/>
          <a:ln w="9525">
            <a:solidFill>
              <a:srgbClr val="3A4A6E"/>
            </a:solidFill>
            <a:prstDash val="solid"/>
          </a:ln>
        </p:spPr>
      </p:sp>
      <p:sp>
        <p:nvSpPr>
          <p:cNvPr id="22" name="Text 20"/>
          <p:cNvSpPr txBox="1"/>
          <p:nvPr/>
        </p:nvSpPr>
        <p:spPr>
          <a:xfrm>
            <a:off x="548640" y="4709160"/>
            <a:ext cx="4389120" cy="3657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C  Attacks, incl. forged approval and revoked key</a:t>
            </a:r>
            <a:endParaRPr lang="en-US" sz="1400" dirty="0"/>
          </a:p>
        </p:txBody>
      </p:sp>
      <p:sp>
        <p:nvSpPr>
          <p:cNvPr id="23" name="Text 21"/>
          <p:cNvSpPr txBox="1"/>
          <p:nvPr/>
        </p:nvSpPr>
        <p:spPr>
          <a:xfrm>
            <a:off x="4572000" y="4709160"/>
            <a:ext cx="1280160" cy="365760"/>
          </a:xfrm>
          <a:prstGeom prst="rect">
            <a:avLst/>
          </a:prstGeom>
          <a:noFill/>
          <a:ln/>
        </p:spPr>
        <p:txBody>
          <a:bodyPr wrap="square" lIns="0" tIns="0" rIns="0" bIns="0" rtlCol="0" anchor="t"/>
          <a:lstStyle/>
          <a:p>
            <a:pPr algn="r" indent="0" marL="0">
              <a:buNone/>
            </a:pPr>
            <a:r>
              <a:rPr lang="en-US" sz="1400" b="1" dirty="0">
                <a:solidFill>
                  <a:srgbClr val="8FBCF0"/>
                </a:solidFill>
                <a:latin typeface="Calibri" pitchFamily="34" charset="0"/>
                <a:ea typeface="Calibri" pitchFamily="34" charset="-122"/>
                <a:cs typeface="Calibri" pitchFamily="34" charset="-120"/>
              </a:rPr>
              <a:t>9 / 9 pass</a:t>
            </a:r>
            <a:endParaRPr lang="en-US" sz="1400" dirty="0"/>
          </a:p>
        </p:txBody>
      </p:sp>
      <p:sp>
        <p:nvSpPr>
          <p:cNvPr id="24" name="Shape 22"/>
          <p:cNvSpPr/>
          <p:nvPr/>
        </p:nvSpPr>
        <p:spPr>
          <a:xfrm>
            <a:off x="548640" y="5111496"/>
            <a:ext cx="5303520" cy="0"/>
          </a:xfrm>
          <a:prstGeom prst="line">
            <a:avLst/>
          </a:prstGeom>
          <a:noFill/>
          <a:ln w="9525">
            <a:solidFill>
              <a:srgbClr val="3A4A6E"/>
            </a:solidFill>
            <a:prstDash val="solid"/>
          </a:ln>
        </p:spPr>
      </p:sp>
      <p:sp>
        <p:nvSpPr>
          <p:cNvPr id="25" name="Text 23"/>
          <p:cNvSpPr txBox="1"/>
          <p:nvPr/>
        </p:nvSpPr>
        <p:spPr>
          <a:xfrm>
            <a:off x="548640" y="5166360"/>
            <a:ext cx="4389120" cy="36576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D  Privacy</a:t>
            </a:r>
            <a:endParaRPr lang="en-US" sz="1400" dirty="0"/>
          </a:p>
        </p:txBody>
      </p:sp>
      <p:sp>
        <p:nvSpPr>
          <p:cNvPr id="26" name="Text 24"/>
          <p:cNvSpPr txBox="1"/>
          <p:nvPr/>
        </p:nvSpPr>
        <p:spPr>
          <a:xfrm>
            <a:off x="4572000" y="5166360"/>
            <a:ext cx="1280160" cy="365760"/>
          </a:xfrm>
          <a:prstGeom prst="rect">
            <a:avLst/>
          </a:prstGeom>
          <a:noFill/>
          <a:ln/>
        </p:spPr>
        <p:txBody>
          <a:bodyPr wrap="square" lIns="0" tIns="0" rIns="0" bIns="0" rtlCol="0" anchor="t"/>
          <a:lstStyle/>
          <a:p>
            <a:pPr algn="r" indent="0" marL="0">
              <a:buNone/>
            </a:pPr>
            <a:r>
              <a:rPr lang="en-US" sz="1400" b="1" dirty="0">
                <a:solidFill>
                  <a:srgbClr val="8FBCF0"/>
                </a:solidFill>
                <a:latin typeface="Calibri" pitchFamily="34" charset="0"/>
                <a:ea typeface="Calibri" pitchFamily="34" charset="-122"/>
                <a:cs typeface="Calibri" pitchFamily="34" charset="-120"/>
              </a:rPr>
              <a:t>2 / 2 pass</a:t>
            </a:r>
            <a:endParaRPr lang="en-US" sz="1400" dirty="0"/>
          </a:p>
        </p:txBody>
      </p:sp>
      <p:sp>
        <p:nvSpPr>
          <p:cNvPr id="27" name="Shape 25"/>
          <p:cNvSpPr/>
          <p:nvPr/>
        </p:nvSpPr>
        <p:spPr>
          <a:xfrm>
            <a:off x="548640" y="5568696"/>
            <a:ext cx="5303520" cy="0"/>
          </a:xfrm>
          <a:prstGeom prst="line">
            <a:avLst/>
          </a:prstGeom>
          <a:noFill/>
          <a:ln w="9525">
            <a:solidFill>
              <a:srgbClr val="3A4A6E"/>
            </a:solidFill>
            <a:prstDash val="solid"/>
          </a:ln>
        </p:spPr>
      </p:sp>
      <p:sp>
        <p:nvSpPr>
          <p:cNvPr id="28" name="Shape 26"/>
          <p:cNvSpPr/>
          <p:nvPr/>
        </p:nvSpPr>
        <p:spPr>
          <a:xfrm>
            <a:off x="6263640" y="3337560"/>
            <a:ext cx="5349240" cy="2331720"/>
          </a:xfrm>
          <a:prstGeom prst="roundRect">
            <a:avLst>
              <a:gd name="adj" fmla="val 4706"/>
            </a:avLst>
          </a:prstGeom>
          <a:solidFill>
            <a:srgbClr val="1F2F52"/>
          </a:solidFill>
          <a:ln/>
        </p:spPr>
      </p:sp>
      <p:sp>
        <p:nvSpPr>
          <p:cNvPr id="29" name="Text 27"/>
          <p:cNvSpPr txBox="1"/>
          <p:nvPr/>
        </p:nvSpPr>
        <p:spPr>
          <a:xfrm>
            <a:off x="6492240" y="3474720"/>
            <a:ext cx="49377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Finance audit: 400 random cases</a:t>
            </a:r>
            <a:endParaRPr lang="en-US" sz="1600" dirty="0"/>
          </a:p>
        </p:txBody>
      </p:sp>
      <p:sp>
        <p:nvSpPr>
          <p:cNvPr id="30" name="Text 28"/>
          <p:cNvSpPr txBox="1"/>
          <p:nvPr/>
        </p:nvSpPr>
        <p:spPr>
          <a:xfrm>
            <a:off x="6492240" y="3886200"/>
            <a:ext cx="4937760" cy="1737360"/>
          </a:xfrm>
          <a:prstGeom prst="rect">
            <a:avLst/>
          </a:prstGeom>
          <a:noFill/>
          <a:ln/>
        </p:spPr>
        <p:txBody>
          <a:bodyPr wrap="square" lIns="0" tIns="0" rIns="0" bIns="0" rtlCol="0" anchor="t"/>
          <a:lstStyle/>
          <a:p>
            <a:pPr indent="0" marL="0">
              <a:spcAft>
                <a:spcPts val="300"/>
              </a:spcAft>
              <a:buNone/>
            </a:pPr>
            <a:r>
              <a:rPr lang="en-US" sz="1400" dirty="0">
                <a:solidFill>
                  <a:srgbClr val="C9D3E6"/>
                </a:solidFill>
                <a:latin typeface="Calibri" pitchFamily="34" charset="0"/>
                <a:ea typeface="Calibri" pitchFamily="34" charset="-122"/>
                <a:cs typeface="Calibri" pitchFamily="34" charset="-120"/>
              </a:rPr>
              <a:t>The engine matched an independent formula in every case. The audit found 3 agent bugs, all fixed with tests:</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an earlier in-app payment was not counted</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inconsistent USD answers were accepted</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no PAN + loan applied 0% silently (now a warning)</a:t>
            </a:r>
            <a:endParaRPr lang="en-US" sz="1400" dirty="0"/>
          </a:p>
        </p:txBody>
      </p:sp>
      <p:sp>
        <p:nvSpPr>
          <p:cNvPr id="31" name="Text 29"/>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100" dirty="0">
                <a:solidFill>
                  <a:srgbClr val="A9B6CF"/>
                </a:solidFill>
                <a:latin typeface="Courier New" pitchFamily="34" charset="0"/>
                <a:ea typeface="Courier New" pitchFamily="34" charset="-122"/>
                <a:cs typeface="Courier New" pitchFamily="34" charset="-120"/>
              </a:rPr>
              <a:t>python -m unittest discover -s tests -t .   ·   python -m scenarios.runner   ·   python -m app.demo_run</a:t>
            </a:r>
            <a:endParaRPr lang="en-US" sz="1100" dirty="0"/>
          </a:p>
        </p:txBody>
      </p:sp>
      <p:sp>
        <p:nvSpPr>
          <p:cNvPr id="32" name="Text 30"/>
          <p:cNvSpPr txBox="1"/>
          <p:nvPr/>
        </p:nvSpPr>
        <p:spPr>
          <a:xfrm>
            <a:off x="548640" y="6355080"/>
            <a:ext cx="9144000" cy="274320"/>
          </a:xfrm>
          <a:prstGeom prst="rect">
            <a:avLst/>
          </a:prstGeom>
          <a:noFill/>
          <a:ln/>
        </p:spPr>
        <p:txBody>
          <a:bodyPr wrap="square" lIns="0" tIns="0" rIns="0" bIns="0" rtlCol="0" anchor="t"/>
          <a:lstStyle/>
          <a:p>
            <a:pPr indent="0" marL="0">
              <a:buNone/>
            </a:pPr>
            <a:r>
              <a:rPr lang="en-US" sz="1000" dirty="0">
                <a:solidFill>
                  <a:srgbClr val="A9B6CF"/>
                </a:solidFill>
                <a:latin typeface="Calibri" pitchFamily="34" charset="0"/>
                <a:ea typeface="Calibri" pitchFamily="34" charset="-122"/>
                <a:cs typeface="Calibri" pitchFamily="34" charset="-120"/>
              </a:rPr>
              <a:t>TuitionPilot · 2026 Shenzhen FinTechathon · Synthetic data · Not tax advice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rgbClr val="14213D"/>
                </a:solidFill>
                <a:latin typeface="Cambria" pitchFamily="34" charset="0"/>
                <a:ea typeface="Cambria" pitchFamily="34" charset="-122"/>
                <a:cs typeface="Cambria" pitchFamily="34" charset="-120"/>
              </a:rPr>
              <a:t>Honest limits, and what comes next</a:t>
            </a:r>
            <a:endParaRPr lang="en-US" sz="3000" dirty="0"/>
          </a:p>
        </p:txBody>
      </p:sp>
      <p:sp>
        <p:nvSpPr>
          <p:cNvPr id="3" name="Shape 1"/>
          <p:cNvSpPr/>
          <p:nvPr/>
        </p:nvSpPr>
        <p:spPr>
          <a:xfrm>
            <a:off x="548640" y="1371600"/>
            <a:ext cx="3566160" cy="3749040"/>
          </a:xfrm>
          <a:prstGeom prst="roundRect">
            <a:avLst>
              <a:gd name="adj" fmla="val 3077"/>
            </a:avLst>
          </a:prstGeom>
          <a:solidFill>
            <a:srgbClr val="FBEFE3"/>
          </a:solidFill>
          <a:ln w="15875">
            <a:solidFill>
              <a:srgbClr val="B4561F"/>
            </a:solidFill>
            <a:prstDash val="solid"/>
          </a:ln>
        </p:spPr>
      </p:sp>
      <p:sp>
        <p:nvSpPr>
          <p:cNvPr id="4" name="Text 2"/>
          <p:cNvSpPr txBox="1"/>
          <p:nvPr/>
        </p:nvSpPr>
        <p:spPr>
          <a:xfrm>
            <a:off x="777240" y="1554480"/>
            <a:ext cx="3108960" cy="365760"/>
          </a:xfrm>
          <a:prstGeom prst="rect">
            <a:avLst/>
          </a:prstGeom>
          <a:noFill/>
          <a:ln/>
        </p:spPr>
        <p:txBody>
          <a:bodyPr wrap="square" lIns="0" tIns="0" rIns="0" bIns="0" rtlCol="0" anchor="t"/>
          <a:lstStyle/>
          <a:p>
            <a:pPr indent="0" marL="0">
              <a:buNone/>
            </a:pPr>
            <a:r>
              <a:rPr lang="en-US" sz="1700" b="1" dirty="0">
                <a:solidFill>
                  <a:srgbClr val="B4561F"/>
                </a:solidFill>
                <a:latin typeface="Calibri" pitchFamily="34" charset="0"/>
                <a:ea typeface="Calibri" pitchFamily="34" charset="-122"/>
                <a:cs typeface="Calibri" pitchFamily="34" charset="-120"/>
              </a:rPr>
              <a:t>Tax rules not yet verified</a:t>
            </a:r>
            <a:endParaRPr lang="en-US" sz="1700" dirty="0"/>
          </a:p>
        </p:txBody>
      </p:sp>
      <p:sp>
        <p:nvSpPr>
          <p:cNvPr id="5" name="Text 3"/>
          <p:cNvSpPr txBox="1"/>
          <p:nvPr/>
        </p:nvSpPr>
        <p:spPr>
          <a:xfrm>
            <a:off x="77724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Unverified: LRS cap USD 250,000; no-PAN rate 5%; earlier payments counting toward Rs 10 lakh; TCS on the amount sent, not fees</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Secondary sources: the Rs 10 lakh threshold, 2% and 0% education rates</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Not modelled: GST on the currency conversion itself</a:t>
            </a:r>
            <a:endParaRPr lang="en-US" sz="1400" dirty="0"/>
          </a:p>
        </p:txBody>
      </p:sp>
      <p:sp>
        <p:nvSpPr>
          <p:cNvPr id="6" name="Shape 4"/>
          <p:cNvSpPr/>
          <p:nvPr/>
        </p:nvSpPr>
        <p:spPr>
          <a:xfrm>
            <a:off x="4297680" y="1371600"/>
            <a:ext cx="3566160" cy="3749040"/>
          </a:xfrm>
          <a:prstGeom prst="roundRect">
            <a:avLst>
              <a:gd name="adj" fmla="val 3077"/>
            </a:avLst>
          </a:prstGeom>
          <a:solidFill>
            <a:srgbClr val="F3F5F9"/>
          </a:solidFill>
          <a:ln/>
        </p:spPr>
      </p:sp>
      <p:sp>
        <p:nvSpPr>
          <p:cNvPr id="7" name="Text 5"/>
          <p:cNvSpPr txBox="1"/>
          <p:nvPr/>
        </p:nvSpPr>
        <p:spPr>
          <a:xfrm>
            <a:off x="4526280" y="1554480"/>
            <a:ext cx="3108960" cy="36576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Prototype limits</a:t>
            </a:r>
            <a:endParaRPr lang="en-US" sz="1700" dirty="0"/>
          </a:p>
        </p:txBody>
      </p:sp>
      <p:sp>
        <p:nvSpPr>
          <p:cNvPr id="8" name="Text 6"/>
          <p:cNvSpPr txBox="1"/>
          <p:nvPr/>
        </p:nvSpPr>
        <p:spPr>
          <a:xfrm>
            <a:off x="452628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AI step is an offline, deterministic stand-in</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Ed25519 code is not hardened (not constant-time, not audited)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Demo keys are synthetic; one trust root</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Local server: no Origin check yet; demo PIN is fixed</a:t>
            </a:r>
            <a:endParaRPr lang="en-US" sz="1400" dirty="0"/>
          </a:p>
        </p:txBody>
      </p:sp>
      <p:sp>
        <p:nvSpPr>
          <p:cNvPr id="9" name="Shape 7"/>
          <p:cNvSpPr/>
          <p:nvPr/>
        </p:nvSpPr>
        <p:spPr>
          <a:xfrm>
            <a:off x="8046720" y="1371600"/>
            <a:ext cx="3566160" cy="3749040"/>
          </a:xfrm>
          <a:prstGeom prst="roundRect">
            <a:avLst>
              <a:gd name="adj" fmla="val 3077"/>
            </a:avLst>
          </a:prstGeom>
          <a:solidFill>
            <a:srgbClr val="F3F5F9"/>
          </a:solidFill>
          <a:ln/>
        </p:spPr>
      </p:sp>
      <p:sp>
        <p:nvSpPr>
          <p:cNvPr id="10" name="Text 8"/>
          <p:cNvSpPr txBox="1"/>
          <p:nvPr/>
        </p:nvSpPr>
        <p:spPr>
          <a:xfrm>
            <a:off x="8275320" y="1554480"/>
            <a:ext cx="3108960" cy="365760"/>
          </a:xfrm>
          <a:prstGeom prst="rect">
            <a:avLst/>
          </a:prstGeom>
          <a:noFill/>
          <a:ln/>
        </p:spPr>
        <p:txBody>
          <a:bodyPr wrap="square" lIns="0" tIns="0" rIns="0" bIns="0" rtlCol="0" anchor="t"/>
          <a:lstStyle/>
          <a:p>
            <a:pPr indent="0" marL="0">
              <a:buNone/>
            </a:pPr>
            <a:r>
              <a:rPr lang="en-US" sz="1700" b="1" dirty="0">
                <a:solidFill>
                  <a:srgbClr val="1F5FA8"/>
                </a:solidFill>
                <a:latin typeface="Calibri" pitchFamily="34" charset="0"/>
                <a:ea typeface="Calibri" pitchFamily="34" charset="-122"/>
                <a:cs typeface="Calibri" pitchFamily="34" charset="-120"/>
              </a:rPr>
              <a:t>Next steps</a:t>
            </a:r>
            <a:endParaRPr lang="en-US" sz="1700" dirty="0"/>
          </a:p>
        </p:txBody>
      </p:sp>
      <p:sp>
        <p:nvSpPr>
          <p:cNvPr id="11" name="Text 9"/>
          <p:cNvSpPr txBox="1"/>
          <p:nvPr/>
        </p:nvSpPr>
        <p:spPr>
          <a:xfrm>
            <a:off x="827532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Check every rule against the RBI Master Direction and the Income-tax Act 2025 s.394</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Connect a hosted AI model behind masking, grounding and the policy gate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Vetted crypto library or hardware keys; offline parent recovery key</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Same-origin checks and cookie sessions on the server</a:t>
            </a:r>
            <a:endParaRPr lang="en-US" sz="1400" dirty="0"/>
          </a:p>
        </p:txBody>
      </p:sp>
      <p:sp>
        <p:nvSpPr>
          <p:cNvPr id="12" name="Shape 10"/>
          <p:cNvSpPr/>
          <p:nvPr/>
        </p:nvSpPr>
        <p:spPr>
          <a:xfrm>
            <a:off x="548640" y="5394960"/>
            <a:ext cx="11064240" cy="548640"/>
          </a:xfrm>
          <a:prstGeom prst="roundRect">
            <a:avLst>
              <a:gd name="adj" fmla="val 20000"/>
            </a:avLst>
          </a:prstGeom>
          <a:solidFill>
            <a:srgbClr val="14213D"/>
          </a:solidFill>
          <a:ln/>
        </p:spPr>
      </p:sp>
      <p:sp>
        <p:nvSpPr>
          <p:cNvPr id="13" name="Text 11"/>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Synthetic data only · Sandbox bank, no real money · Drafts, not official RBI or bank forms · Not tax advice</a:t>
            </a:r>
            <a:endParaRPr lang="en-US" sz="14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TuitionPilot</dc:title>
  <dc:subject>PptxGenJS Presentation</dc:subject>
  <dc:creator>Chandan and Nishanth</dc:creator>
  <cp:lastModifiedBy>Chandan and Nishanth</cp:lastModifiedBy>
  <cp:revision>1</cp:revision>
  <dcterms:created xsi:type="dcterms:W3CDTF">2026-10-18T05:26:24Z</dcterms:created>
  <dcterms:modified xsi:type="dcterms:W3CDTF">2026-10-18T05:26:24Z</dcterms:modified>
</cp:coreProperties>
</file>